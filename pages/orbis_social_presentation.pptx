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we're walking through Orbis Social — not just another social media app, but a platform where online communities literally own real-world territory. This is our full KT document for new team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apps fail to bridge the gap between 'people I follow online' and 'places I visit offline'. Instagram has no map. Google Maps has no community. Orbis fixes this gap by making every community geographically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of a Tribe as a subreddit or Facebook Group, but one that has visible borders on a real map. The 'Tribe' is the core entity. Everything in Orbis radiates outward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magic. When you join 'Gamers in Bhopal', you don't just get a chat room. You see exactly which gaming cafes and stores are your team's territory on the map. Tribes compete to expand their territory by claiming real 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feature ties back to these five entities. If you understand their relationships, you understand the database schema. The Claim entity is the hidden glue — it's what makes territory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is just pinning a location. Claiming is a power move — it says 'this place belongs to our Tribe's territory.' The Claim entity is a separate DB record with a status field: Pending, Active, Released. Concurrency bugs here are your #1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experience is critical. We don't show a global feed; we immediately show 'Here are 3 tribes within 500 meters of you.' Location permission is mandatory — this is a hard gate. Without location, the app cannot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the user presses 'Join', everything changes. They move from being a tourist to a member of a digital neighborhood. This transition should feel dramatic — animations, map lighting up, feed populating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cannot create a lone place. Every place must be sponsored by a Tribe. This prevents spam, ensures data quality, and drives community growth. It's a product constraint that becomes a growth mechanic.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gamification. Claiming a popular park or café for your Tribe is a win. It expands your territory on the map for everyone to see. This mechanic drives engagement — tribes compete over popular hotspots.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Investors love this. As users compete to claim places, the map becomes a living strategy game. The Tribe with the most claimed places wins visibility across the map. This drives daily active usage — you check the app to see if a rival tribe claimed your favourite café.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post from 'Central Park Indore', that post appears in the Nearby feed for anyone physically near the park, the Tribe feed for your group, and potentially in the global trending feed if it gets enough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social features — but with a tribal identity twist. The chat header shows your Tribe's current territory size and ranking. This builds identity and pride. Tribes with active chats tend to claim more places, creating a positive feedback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Memorize this chain. Every user story starts with a Tribe and ends with territory growth. The chain is also a growth flywheel — each step feeds back into the first. This is why the territory mechanic is central to retention.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technical architecture. The round trip: user creates a Tribe or Place (Step 1), it's stored in the DB (Step 2), the territory algorithm processes the new claim (Step 3), the API serves the data (Step 4), the map renders it (Step 5), and the user interacts again (Step 6). The cycle then repeats.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Testers: Focus on concurrency and geo-edge cases. The Territory Logic row is your highest risk — if a Tribe's claimed places don't form a connected region, the polygon drawing algorithm may produce incorrect or visually broken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areas will be 80% of your bug reports. Automate testing for duplicate geo-coordinates — write a test that creates 5 places within a 5-meter radius and verifies the merge logic fires. Claim conflicts need load testing with concurrent requests.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killer use case. College students, digital nomads, military families — anyone who moves frequently will pay for this. The emotional hook is 'instant local community' rather than being lonely in a new city for months. This is also our top acquisition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other app combines 'likes' with 'land ownership' on a map. Instagram has no map. Google Maps has no community. Reddit has no location. Orbis is the intersection of all three — that's our competitive moat.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remember one paragraph, remember this pitch. Practice it until you can say it without notes in 20 seconds. Use it with stakeholders, with new engineers, with your friends and family. It is the product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away with these four points. Tribe = Territory. Places = Power. Content = Engagement. Test = Map + Claims + Feeds. Everything else is implementation detail that you'll pick up as you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Let's open the floor for discussion. The three most important engineering discussions we need to resolve are the territory polygon algorithm, database geo-indexing strategy, and the concurrency model for claim conflicts.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A0B2E"/>
          </a:solidFill>
          <a:ln/>
        </p:spPr>
      </p:sp>
      <p:sp>
        <p:nvSpPr>
          <p:cNvPr id="3" name="Shape 1"/>
          <p:cNvSpPr/>
          <p:nvPr/>
        </p:nvSpPr>
        <p:spPr>
          <a:xfrm>
            <a:off x="-914400" y="-914400"/>
            <a:ext cx="4572000" cy="4572000"/>
          </a:xfrm>
          <a:prstGeom prst="ellipse">
            <a:avLst/>
          </a:prstGeom>
          <a:solidFill>
            <a:srgbClr val="7B2FBE">
              <a:alpha val="20000"/>
            </a:srgbClr>
          </a:solidFill>
          <a:ln/>
        </p:spPr>
      </p:sp>
      <p:sp>
        <p:nvSpPr>
          <p:cNvPr id="4" name="Shape 2"/>
          <p:cNvSpPr/>
          <p:nvPr/>
        </p:nvSpPr>
        <p:spPr>
          <a:xfrm>
            <a:off x="5943600" y="2286000"/>
            <a:ext cx="3657600" cy="3657600"/>
          </a:xfrm>
          <a:prstGeom prst="ellipse">
            <a:avLst/>
          </a:prstGeom>
          <a:solidFill>
            <a:srgbClr val="06B6D4">
              <a:alpha val="15000"/>
            </a:srgbClr>
          </a:solidFill>
          <a:ln/>
        </p:spPr>
      </p:sp>
      <p:sp>
        <p:nvSpPr>
          <p:cNvPr id="5" name="Shape 3"/>
          <p:cNvSpPr/>
          <p:nvPr/>
        </p:nvSpPr>
        <p:spPr>
          <a:xfrm>
            <a:off x="3749040" y="457200"/>
            <a:ext cx="1645920" cy="1645920"/>
          </a:xfrm>
          <a:prstGeom prst="ellipse">
            <a:avLst/>
          </a:prstGeom>
          <a:solidFill>
            <a:srgbClr val="7B2FBE"/>
          </a:solidFill>
          <a:ln/>
        </p:spPr>
      </p:sp>
      <p:pic>
        <p:nvPicPr>
          <p:cNvPr id="6" name="Image 0" descr="preencoded.png">    </p:cNvPr>
          <p:cNvPicPr>
            <a:picLocks noChangeAspect="1"/>
          </p:cNvPicPr>
          <p:nvPr/>
        </p:nvPicPr>
        <p:blipFill>
          <a:blip r:embed="rId1"/>
          <a:stretch>
            <a:fillRect/>
          </a:stretch>
        </p:blipFill>
        <p:spPr>
          <a:xfrm>
            <a:off x="4160520" y="658368"/>
            <a:ext cx="457200" cy="594360"/>
          </a:xfrm>
          <a:prstGeom prst="rect">
            <a:avLst/>
          </a:prstGeom>
        </p:spPr>
      </p:pic>
      <p:pic>
        <p:nvPicPr>
          <p:cNvPr id="7" name="Image 1" descr="preencoded.png">    </p:cNvPr>
          <p:cNvPicPr>
            <a:picLocks noChangeAspect="1"/>
          </p:cNvPicPr>
          <p:nvPr/>
        </p:nvPicPr>
        <p:blipFill>
          <a:blip r:embed="rId2"/>
          <a:stretch>
            <a:fillRect/>
          </a:stretch>
        </p:blipFill>
        <p:spPr>
          <a:xfrm>
            <a:off x="4480560" y="868680"/>
            <a:ext cx="457200" cy="457200"/>
          </a:xfrm>
          <a:prstGeom prst="rect">
            <a:avLst/>
          </a:prstGeom>
        </p:spPr>
      </p:pic>
      <p:sp>
        <p:nvSpPr>
          <p:cNvPr id="8" name="Text 4"/>
          <p:cNvSpPr/>
          <p:nvPr/>
        </p:nvSpPr>
        <p:spPr>
          <a:xfrm>
            <a:off x="457200" y="2194560"/>
            <a:ext cx="8229600" cy="1005840"/>
          </a:xfrm>
          <a:prstGeom prst="rect">
            <a:avLst/>
          </a:prstGeom>
          <a:noFill/>
          <a:ln/>
        </p:spPr>
        <p:txBody>
          <a:bodyPr wrap="square" rtlCol="0" anchor="ctr"/>
          <a:lstStyle/>
          <a:p>
            <a:pPr algn="ctr" indent="0" marL="0">
              <a:buNone/>
            </a:pPr>
            <a:r>
              <a:rPr lang="en-US" sz="7200" b="1" spc="1000" kern="0" dirty="0">
                <a:solidFill>
                  <a:srgbClr val="FFFFFF"/>
                </a:solidFill>
                <a:latin typeface="Calibri" pitchFamily="34" charset="0"/>
                <a:ea typeface="Calibri" pitchFamily="34" charset="-122"/>
                <a:cs typeface="Calibri" pitchFamily="34" charset="-120"/>
              </a:rPr>
              <a:t>ORBIS</a:t>
            </a:r>
            <a:endParaRPr lang="en-US" sz="7200" dirty="0"/>
          </a:p>
        </p:txBody>
      </p:sp>
      <p:sp>
        <p:nvSpPr>
          <p:cNvPr id="9" name="Text 5"/>
          <p:cNvSpPr/>
          <p:nvPr/>
        </p:nvSpPr>
        <p:spPr>
          <a:xfrm>
            <a:off x="457200" y="3154680"/>
            <a:ext cx="8229600" cy="502920"/>
          </a:xfrm>
          <a:prstGeom prst="rect">
            <a:avLst/>
          </a:prstGeom>
          <a:noFill/>
          <a:ln/>
        </p:spPr>
        <p:txBody>
          <a:bodyPr wrap="square" rtlCol="0" anchor="ctr"/>
          <a:lstStyle/>
          <a:p>
            <a:pPr algn="ctr" indent="0" marL="0">
              <a:buNone/>
            </a:pPr>
            <a:r>
              <a:rPr lang="en-US" sz="2800" spc="400" kern="0" dirty="0">
                <a:solidFill>
                  <a:srgbClr val="C77DFF"/>
                </a:solidFill>
                <a:latin typeface="Calibri" pitchFamily="34" charset="0"/>
                <a:ea typeface="Calibri" pitchFamily="34" charset="-122"/>
                <a:cs typeface="Calibri" pitchFamily="34" charset="-120"/>
              </a:rPr>
              <a:t>Social App</a:t>
            </a:r>
            <a:endParaRPr lang="en-US" sz="2800" dirty="0"/>
          </a:p>
        </p:txBody>
      </p:sp>
      <p:sp>
        <p:nvSpPr>
          <p:cNvPr id="10" name="Text 6"/>
          <p:cNvSpPr/>
          <p:nvPr/>
        </p:nvSpPr>
        <p:spPr>
          <a:xfrm>
            <a:off x="457200" y="3794760"/>
            <a:ext cx="8229600" cy="365760"/>
          </a:xfrm>
          <a:prstGeom prst="rect">
            <a:avLst/>
          </a:prstGeom>
          <a:noFill/>
          <a:ln/>
        </p:spPr>
        <p:txBody>
          <a:bodyPr wrap="square" rtlCol="0" anchor="ctr"/>
          <a:lstStyle/>
          <a:p>
            <a:pPr algn="ctr" indent="0" marL="0">
              <a:buNone/>
            </a:pPr>
            <a:r>
              <a:rPr lang="en-US" sz="1200" dirty="0">
                <a:solidFill>
                  <a:srgbClr val="94A3B8"/>
                </a:solidFill>
                <a:latin typeface="Calibri" pitchFamily="34" charset="0"/>
                <a:ea typeface="Calibri" pitchFamily="34" charset="-122"/>
                <a:cs typeface="Calibri" pitchFamily="34" charset="-120"/>
              </a:rPr>
              <a:t>A Location-Driven Social Ecosystem  ·  Product, Flow &amp; Architecture KT</a:t>
            </a:r>
            <a:endParaRPr lang="en-US" sz="1200" dirty="0"/>
          </a:p>
        </p:txBody>
      </p:sp>
      <p:sp>
        <p:nvSpPr>
          <p:cNvPr id="11" name="Shape 7"/>
          <p:cNvSpPr/>
          <p:nvPr/>
        </p:nvSpPr>
        <p:spPr>
          <a:xfrm>
            <a:off x="3200400" y="4663440"/>
            <a:ext cx="2743200" cy="54864"/>
          </a:xfrm>
          <a:prstGeom prst="rect">
            <a:avLst/>
          </a:prstGeom>
          <a:solidFill>
            <a:srgbClr val="C77DFF"/>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1: FOUNDATION &amp; VISION</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Problem We Solve</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Why existing apps fall short</a:t>
            </a:r>
            <a:endParaRPr lang="en-US" sz="1400" dirty="0"/>
          </a:p>
        </p:txBody>
      </p:sp>
      <p:sp>
        <p:nvSpPr>
          <p:cNvPr id="6" name="Shape 4"/>
          <p:cNvSpPr/>
          <p:nvPr/>
        </p:nvSpPr>
        <p:spPr>
          <a:xfrm>
            <a:off x="365760" y="1463040"/>
            <a:ext cx="3840480" cy="3200400"/>
          </a:xfrm>
          <a:prstGeom prst="rect">
            <a:avLst/>
          </a:prstGeom>
          <a:solidFill>
            <a:srgbClr val="2A1547"/>
          </a:solidFill>
          <a:ln w="12700">
            <a:solidFill>
              <a:srgbClr val="5B21B6"/>
            </a:solidFill>
            <a:prstDash val="solid"/>
          </a:ln>
        </p:spPr>
      </p:sp>
      <p:sp>
        <p:nvSpPr>
          <p:cNvPr id="7" name="Text 5"/>
          <p:cNvSpPr/>
          <p:nvPr/>
        </p:nvSpPr>
        <p:spPr>
          <a:xfrm>
            <a:off x="548640" y="1600200"/>
            <a:ext cx="3474720" cy="365760"/>
          </a:xfrm>
          <a:prstGeom prst="rect">
            <a:avLst/>
          </a:prstGeom>
          <a:noFill/>
          <a:ln/>
        </p:spPr>
        <p:txBody>
          <a:bodyPr wrap="square" rtlCol="0" anchor="ctr"/>
          <a:lstStyle/>
          <a:p>
            <a:pPr indent="0" marL="0">
              <a:buNone/>
            </a:pPr>
            <a:r>
              <a:rPr lang="en-US" sz="1400" b="1" dirty="0">
                <a:solidFill>
                  <a:srgbClr val="C77DFF"/>
                </a:solidFill>
              </a:rPr>
              <a:t>Current Apps</a:t>
            </a:r>
            <a:endParaRPr lang="en-US" sz="1400" dirty="0"/>
          </a:p>
        </p:txBody>
      </p:sp>
      <p:sp>
        <p:nvSpPr>
          <p:cNvPr id="8" name="Text 6"/>
          <p:cNvSpPr/>
          <p:nvPr/>
        </p:nvSpPr>
        <p:spPr>
          <a:xfrm>
            <a:off x="548640" y="2011680"/>
            <a:ext cx="3474720" cy="2468880"/>
          </a:xfrm>
          <a:prstGeom prst="rect">
            <a:avLst/>
          </a:prstGeom>
          <a:noFill/>
          <a:ln/>
        </p:spPr>
        <p:txBody>
          <a:bodyPr wrap="square" rtlCol="0" anchor="ctr"/>
          <a:lstStyle/>
          <a:p>
            <a:pPr marL="342900" indent="-342900">
              <a:spcAft>
                <a:spcPts val="800"/>
              </a:spcAft>
              <a:buSzPct val="100000"/>
              <a:buChar char="•"/>
            </a:pPr>
            <a:r>
              <a:rPr lang="en-US" sz="1200" dirty="0">
                <a:solidFill>
                  <a:srgbClr val="F0E6FF"/>
                </a:solidFill>
              </a:rPr>
              <a:t>Generic feeds show irrelevant global content</a:t>
            </a:r>
            <a:endParaRPr lang="en-US" sz="1200" dirty="0"/>
          </a:p>
          <a:p>
            <a:pPr marL="342900" indent="-342900">
              <a:spcAft>
                <a:spcPts val="800"/>
              </a:spcAft>
              <a:buSzPct val="100000"/>
              <a:buChar char="•"/>
            </a:pPr>
            <a:r>
              <a:rPr lang="en-US" sz="1200" dirty="0">
                <a:solidFill>
                  <a:srgbClr val="F0E6FF"/>
                </a:solidFill>
              </a:rPr>
              <a:t>You can't find who hangs out at a specific café</a:t>
            </a:r>
            <a:endParaRPr lang="en-US" sz="1200" dirty="0"/>
          </a:p>
          <a:p>
            <a:pPr marL="342900" indent="-342900">
              <a:spcAft>
                <a:spcPts val="800"/>
              </a:spcAft>
              <a:buSzPct val="100000"/>
              <a:buChar char="•"/>
            </a:pPr>
            <a:r>
              <a:rPr lang="en-US" sz="1200" dirty="0">
                <a:solidFill>
                  <a:srgbClr val="F0E6FF"/>
                </a:solidFill>
              </a:rPr>
              <a:t>Communities are virtual, not real-world anchored</a:t>
            </a:r>
            <a:endParaRPr lang="en-US" sz="1200" dirty="0"/>
          </a:p>
          <a:p>
            <a:pPr marL="342900" indent="-342900">
              <a:spcAft>
                <a:spcPts val="800"/>
              </a:spcAft>
              <a:buSzPct val="100000"/>
              <a:buChar char="•"/>
            </a:pPr>
            <a:r>
              <a:rPr lang="en-US" sz="1200" dirty="0">
                <a:solidFill>
                  <a:srgbClr val="F0E6FF"/>
                </a:solidFill>
              </a:rPr>
              <a:t>No map context for social discovery</a:t>
            </a:r>
            <a:endParaRPr lang="en-US" sz="1200" dirty="0"/>
          </a:p>
        </p:txBody>
      </p:sp>
      <p:sp>
        <p:nvSpPr>
          <p:cNvPr id="9" name="Shape 7"/>
          <p:cNvSpPr/>
          <p:nvPr/>
        </p:nvSpPr>
        <p:spPr>
          <a:xfrm>
            <a:off x="4846320" y="1463040"/>
            <a:ext cx="3840480" cy="3200400"/>
          </a:xfrm>
          <a:prstGeom prst="rect">
            <a:avLst/>
          </a:prstGeom>
          <a:solidFill>
            <a:srgbClr val="2A1547"/>
          </a:solidFill>
          <a:ln w="12700">
            <a:solidFill>
              <a:srgbClr val="06B6D4"/>
            </a:solidFill>
            <a:prstDash val="solid"/>
          </a:ln>
        </p:spPr>
      </p:sp>
      <p:sp>
        <p:nvSpPr>
          <p:cNvPr id="10" name="Text 8"/>
          <p:cNvSpPr/>
          <p:nvPr/>
        </p:nvSpPr>
        <p:spPr>
          <a:xfrm>
            <a:off x="5029200" y="1600200"/>
            <a:ext cx="3474720" cy="365760"/>
          </a:xfrm>
          <a:prstGeom prst="rect">
            <a:avLst/>
          </a:prstGeom>
          <a:noFill/>
          <a:ln/>
        </p:spPr>
        <p:txBody>
          <a:bodyPr wrap="square" rtlCol="0" anchor="ctr"/>
          <a:lstStyle/>
          <a:p>
            <a:pPr indent="0" marL="0">
              <a:buNone/>
            </a:pPr>
            <a:r>
              <a:rPr lang="en-US" sz="1400" b="1" dirty="0">
                <a:solidFill>
                  <a:srgbClr val="06B6D4"/>
                </a:solidFill>
              </a:rPr>
              <a:t>Orbis Vision</a:t>
            </a:r>
            <a:endParaRPr lang="en-US" sz="1400" dirty="0"/>
          </a:p>
        </p:txBody>
      </p:sp>
      <p:sp>
        <p:nvSpPr>
          <p:cNvPr id="11" name="Text 9"/>
          <p:cNvSpPr/>
          <p:nvPr/>
        </p:nvSpPr>
        <p:spPr>
          <a:xfrm>
            <a:off x="5029200" y="2011680"/>
            <a:ext cx="3474720" cy="2468880"/>
          </a:xfrm>
          <a:prstGeom prst="rect">
            <a:avLst/>
          </a:prstGeom>
          <a:noFill/>
          <a:ln/>
        </p:spPr>
        <p:txBody>
          <a:bodyPr wrap="square" rtlCol="0" anchor="ctr"/>
          <a:lstStyle/>
          <a:p>
            <a:pPr marL="342900" indent="-342900">
              <a:spcAft>
                <a:spcPts val="800"/>
              </a:spcAft>
              <a:buSzPct val="100000"/>
              <a:buChar char="•"/>
            </a:pPr>
            <a:r>
              <a:rPr lang="en-US" sz="1200" dirty="0">
                <a:solidFill>
                  <a:srgbClr val="F0E6FF"/>
                </a:solidFill>
              </a:rPr>
              <a:t>Hyper-local feeds tied to real places</a:t>
            </a:r>
            <a:endParaRPr lang="en-US" sz="1200" dirty="0"/>
          </a:p>
          <a:p>
            <a:pPr marL="342900" indent="-342900">
              <a:spcAft>
                <a:spcPts val="800"/>
              </a:spcAft>
              <a:buSzPct val="100000"/>
              <a:buChar char="•"/>
            </a:pPr>
            <a:r>
              <a:rPr lang="en-US" sz="1200" dirty="0">
                <a:solidFill>
                  <a:srgbClr val="F0E6FF"/>
                </a:solidFill>
              </a:rPr>
              <a:t>See exactly who's active at your favourite spots</a:t>
            </a:r>
            <a:endParaRPr lang="en-US" sz="1200" dirty="0"/>
          </a:p>
          <a:p>
            <a:pPr marL="342900" indent="-342900">
              <a:spcAft>
                <a:spcPts val="800"/>
              </a:spcAft>
              <a:buSzPct val="100000"/>
              <a:buChar char="•"/>
            </a:pPr>
            <a:r>
              <a:rPr lang="en-US" sz="1200" dirty="0">
                <a:solidFill>
                  <a:srgbClr val="F0E6FF"/>
                </a:solidFill>
              </a:rPr>
              <a:t>Communities have GPS borders on a live map</a:t>
            </a:r>
            <a:endParaRPr lang="en-US" sz="1200" dirty="0"/>
          </a:p>
          <a:p>
            <a:pPr marL="342900" indent="-342900">
              <a:spcAft>
                <a:spcPts val="800"/>
              </a:spcAft>
              <a:buSzPct val="100000"/>
              <a:buChar char="•"/>
            </a:pPr>
            <a:r>
              <a:rPr lang="en-US" sz="1200" dirty="0">
                <a:solidFill>
                  <a:srgbClr val="F0E6FF"/>
                </a:solidFill>
              </a:rPr>
              <a:t>Every post is anchored to a physical location</a:t>
            </a:r>
            <a:endParaRPr lang="en-US" sz="1200" dirty="0"/>
          </a:p>
        </p:txBody>
      </p:sp>
      <p:sp>
        <p:nvSpPr>
          <p:cNvPr id="12" name="Shape 10"/>
          <p:cNvSpPr/>
          <p:nvPr/>
        </p:nvSpPr>
        <p:spPr>
          <a:xfrm>
            <a:off x="4297680" y="2834640"/>
            <a:ext cx="457200" cy="54864"/>
          </a:xfrm>
          <a:prstGeom prst="rect">
            <a:avLst/>
          </a:prstGeom>
          <a:solidFill>
            <a:srgbClr val="F59E0B"/>
          </a:solidFill>
          <a:ln/>
        </p:spPr>
      </p:sp>
      <p:sp>
        <p:nvSpPr>
          <p:cNvPr id="13" name="Text 11"/>
          <p:cNvSpPr/>
          <p:nvPr/>
        </p:nvSpPr>
        <p:spPr>
          <a:xfrm>
            <a:off x="4279392" y="2651760"/>
            <a:ext cx="548640" cy="365760"/>
          </a:xfrm>
          <a:prstGeom prst="rect">
            <a:avLst/>
          </a:prstGeom>
          <a:noFill/>
          <a:ln/>
        </p:spPr>
        <p:txBody>
          <a:bodyPr wrap="square" rtlCol="0" anchor="ctr"/>
          <a:lstStyle/>
          <a:p>
            <a:pPr algn="ctr" indent="0" marL="0">
              <a:buNone/>
            </a:pPr>
            <a:r>
              <a:rPr lang="en-US" sz="2000" dirty="0">
                <a:solidFill>
                  <a:srgbClr val="F59E0B"/>
                </a:solidFill>
              </a:rPr>
              <a: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1: FOUNDATION &amp; VISION</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Product Overview</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What is Orbis Social?</a:t>
            </a:r>
            <a:endParaRPr lang="en-US" sz="1400" dirty="0"/>
          </a:p>
        </p:txBody>
      </p:sp>
      <p:sp>
        <p:nvSpPr>
          <p:cNvPr id="6" name="Shape 4"/>
          <p:cNvSpPr/>
          <p:nvPr/>
        </p:nvSpPr>
        <p:spPr>
          <a:xfrm>
            <a:off x="365760" y="1508760"/>
            <a:ext cx="2651760" cy="3017520"/>
          </a:xfrm>
          <a:prstGeom prst="rect">
            <a:avLst/>
          </a:prstGeom>
          <a:solidFill>
            <a:srgbClr val="7B2FBE"/>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1371600" y="1691640"/>
            <a:ext cx="640080" cy="640080"/>
          </a:xfrm>
          <a:prstGeom prst="rect">
            <a:avLst/>
          </a:prstGeom>
        </p:spPr>
      </p:pic>
      <p:sp>
        <p:nvSpPr>
          <p:cNvPr id="8" name="Text 5"/>
          <p:cNvSpPr/>
          <p:nvPr/>
        </p:nvSpPr>
        <p:spPr>
          <a:xfrm>
            <a:off x="457200" y="2423160"/>
            <a:ext cx="2468880" cy="411480"/>
          </a:xfrm>
          <a:prstGeom prst="rect">
            <a:avLst/>
          </a:prstGeom>
          <a:noFill/>
          <a:ln/>
        </p:spPr>
        <p:txBody>
          <a:bodyPr wrap="square" rtlCol="0" anchor="ctr"/>
          <a:lstStyle/>
          <a:p>
            <a:pPr algn="ctr" indent="0" marL="0">
              <a:buNone/>
            </a:pPr>
            <a:r>
              <a:rPr lang="en-US" sz="1300" b="1" dirty="0">
                <a:solidFill>
                  <a:srgbClr val="FFFFFF"/>
                </a:solidFill>
              </a:rPr>
              <a:t>Location (GPS)</a:t>
            </a:r>
            <a:endParaRPr lang="en-US" sz="1300" dirty="0"/>
          </a:p>
        </p:txBody>
      </p:sp>
      <p:sp>
        <p:nvSpPr>
          <p:cNvPr id="9" name="Text 6"/>
          <p:cNvSpPr/>
          <p:nvPr/>
        </p:nvSpPr>
        <p:spPr>
          <a:xfrm>
            <a:off x="502920" y="2834640"/>
            <a:ext cx="2377440" cy="1371600"/>
          </a:xfrm>
          <a:prstGeom prst="rect">
            <a:avLst/>
          </a:prstGeom>
          <a:noFill/>
          <a:ln/>
        </p:spPr>
        <p:txBody>
          <a:bodyPr wrap="square" rtlCol="0" anchor="t"/>
          <a:lstStyle/>
          <a:p>
            <a:pPr algn="ctr" indent="0" marL="0">
              <a:buNone/>
            </a:pPr>
            <a:r>
              <a:rPr lang="en-US" sz="1100" dirty="0">
                <a:solidFill>
                  <a:srgbClr val="F0E6FF"/>
                </a:solidFill>
              </a:rPr>
              <a:t>Real-world coordinates power every feature</a:t>
            </a:r>
            <a:endParaRPr lang="en-US" sz="1100" dirty="0"/>
          </a:p>
        </p:txBody>
      </p:sp>
      <p:sp>
        <p:nvSpPr>
          <p:cNvPr id="10" name="Shape 7"/>
          <p:cNvSpPr/>
          <p:nvPr/>
        </p:nvSpPr>
        <p:spPr>
          <a:xfrm>
            <a:off x="3200400" y="1508760"/>
            <a:ext cx="2651760" cy="3017520"/>
          </a:xfrm>
          <a:prstGeom prst="rect">
            <a:avLst/>
          </a:prstGeom>
          <a:solidFill>
            <a:srgbClr val="0E7490"/>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4206240" y="1691640"/>
            <a:ext cx="640080" cy="640080"/>
          </a:xfrm>
          <a:prstGeom prst="rect">
            <a:avLst/>
          </a:prstGeom>
        </p:spPr>
      </p:pic>
      <p:sp>
        <p:nvSpPr>
          <p:cNvPr id="12" name="Text 8"/>
          <p:cNvSpPr/>
          <p:nvPr/>
        </p:nvSpPr>
        <p:spPr>
          <a:xfrm>
            <a:off x="3291840" y="2423160"/>
            <a:ext cx="2468880" cy="411480"/>
          </a:xfrm>
          <a:prstGeom prst="rect">
            <a:avLst/>
          </a:prstGeom>
          <a:noFill/>
          <a:ln/>
        </p:spPr>
        <p:txBody>
          <a:bodyPr wrap="square" rtlCol="0" anchor="ctr"/>
          <a:lstStyle/>
          <a:p>
            <a:pPr algn="ctr" indent="0" marL="0">
              <a:buNone/>
            </a:pPr>
            <a:r>
              <a:rPr lang="en-US" sz="1300" b="1" dirty="0">
                <a:solidFill>
                  <a:srgbClr val="FFFFFF"/>
                </a:solidFill>
              </a:rPr>
              <a:t>Tribe (Community)</a:t>
            </a:r>
            <a:endParaRPr lang="en-US" sz="1300" dirty="0"/>
          </a:p>
        </p:txBody>
      </p:sp>
      <p:sp>
        <p:nvSpPr>
          <p:cNvPr id="13" name="Text 9"/>
          <p:cNvSpPr/>
          <p:nvPr/>
        </p:nvSpPr>
        <p:spPr>
          <a:xfrm>
            <a:off x="3337560" y="2834640"/>
            <a:ext cx="2377440" cy="1371600"/>
          </a:xfrm>
          <a:prstGeom prst="rect">
            <a:avLst/>
          </a:prstGeom>
          <a:noFill/>
          <a:ln/>
        </p:spPr>
        <p:txBody>
          <a:bodyPr wrap="square" rtlCol="0" anchor="t"/>
          <a:lstStyle/>
          <a:p>
            <a:pPr algn="ctr" indent="0" marL="0">
              <a:buNone/>
            </a:pPr>
            <a:r>
              <a:rPr lang="en-US" sz="1100" dirty="0">
                <a:solidFill>
                  <a:srgbClr val="F0E6FF"/>
                </a:solidFill>
              </a:rPr>
              <a:t>Groups of people sharing interests &amp; geography</a:t>
            </a:r>
            <a:endParaRPr lang="en-US" sz="1100" dirty="0"/>
          </a:p>
        </p:txBody>
      </p:sp>
      <p:sp>
        <p:nvSpPr>
          <p:cNvPr id="14" name="Shape 10"/>
          <p:cNvSpPr/>
          <p:nvPr/>
        </p:nvSpPr>
        <p:spPr>
          <a:xfrm>
            <a:off x="6035040" y="1508760"/>
            <a:ext cx="2651760" cy="3017520"/>
          </a:xfrm>
          <a:prstGeom prst="rect">
            <a:avLst/>
          </a:prstGeom>
          <a:solidFill>
            <a:srgbClr val="5C4A00"/>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7040880" y="1691640"/>
            <a:ext cx="640080" cy="640080"/>
          </a:xfrm>
          <a:prstGeom prst="rect">
            <a:avLst/>
          </a:prstGeom>
        </p:spPr>
      </p:pic>
      <p:sp>
        <p:nvSpPr>
          <p:cNvPr id="16" name="Text 11"/>
          <p:cNvSpPr/>
          <p:nvPr/>
        </p:nvSpPr>
        <p:spPr>
          <a:xfrm>
            <a:off x="6126480" y="2423160"/>
            <a:ext cx="2468880" cy="411480"/>
          </a:xfrm>
          <a:prstGeom prst="rect">
            <a:avLst/>
          </a:prstGeom>
          <a:noFill/>
          <a:ln/>
        </p:spPr>
        <p:txBody>
          <a:bodyPr wrap="square" rtlCol="0" anchor="ctr"/>
          <a:lstStyle/>
          <a:p>
            <a:pPr algn="ctr" indent="0" marL="0">
              <a:buNone/>
            </a:pPr>
            <a:r>
              <a:rPr lang="en-US" sz="1300" b="1" dirty="0">
                <a:solidFill>
                  <a:srgbClr val="FFFFFF"/>
                </a:solidFill>
              </a:rPr>
              <a:t>Place (POI)</a:t>
            </a:r>
            <a:endParaRPr lang="en-US" sz="1300" dirty="0"/>
          </a:p>
        </p:txBody>
      </p:sp>
      <p:sp>
        <p:nvSpPr>
          <p:cNvPr id="17" name="Text 12"/>
          <p:cNvSpPr/>
          <p:nvPr/>
        </p:nvSpPr>
        <p:spPr>
          <a:xfrm>
            <a:off x="6172200" y="2834640"/>
            <a:ext cx="2377440" cy="1371600"/>
          </a:xfrm>
          <a:prstGeom prst="rect">
            <a:avLst/>
          </a:prstGeom>
          <a:noFill/>
          <a:ln/>
        </p:spPr>
        <p:txBody>
          <a:bodyPr wrap="square" rtlCol="0" anchor="t"/>
          <a:lstStyle/>
          <a:p>
            <a:pPr algn="ctr" indent="0" marL="0">
              <a:buNone/>
            </a:pPr>
            <a:r>
              <a:rPr lang="en-US" sz="1100" dirty="0">
                <a:solidFill>
                  <a:srgbClr val="F0E6FF"/>
                </a:solidFill>
              </a:rPr>
              <a:t>Real-world Points of Interest on a live map</a:t>
            </a:r>
            <a:endParaRPr lang="en-US" sz="1100" dirty="0"/>
          </a:p>
        </p:txBody>
      </p:sp>
      <p:sp>
        <p:nvSpPr>
          <p:cNvPr id="18" name="Shape 13"/>
          <p:cNvSpPr/>
          <p:nvPr/>
        </p:nvSpPr>
        <p:spPr>
          <a:xfrm>
            <a:off x="1371600" y="4572000"/>
            <a:ext cx="6400800" cy="411480"/>
          </a:xfrm>
          <a:prstGeom prst="rect">
            <a:avLst/>
          </a:prstGeom>
          <a:solidFill>
            <a:srgbClr val="9D4EDD"/>
          </a:solidFill>
          <a:ln/>
        </p:spPr>
      </p:sp>
      <p:sp>
        <p:nvSpPr>
          <p:cNvPr id="19" name="Text 14"/>
          <p:cNvSpPr/>
          <p:nvPr/>
        </p:nvSpPr>
        <p:spPr>
          <a:xfrm>
            <a:off x="1371600" y="4572000"/>
            <a:ext cx="6400800" cy="411480"/>
          </a:xfrm>
          <a:prstGeom prst="rect">
            <a:avLst/>
          </a:prstGeom>
          <a:noFill/>
          <a:ln/>
        </p:spPr>
        <p:txBody>
          <a:bodyPr wrap="square" rtlCol="0" anchor="ctr"/>
          <a:lstStyle/>
          <a:p>
            <a:pPr algn="ctr" indent="0" marL="0">
              <a:buNone/>
            </a:pPr>
            <a:r>
              <a:rPr lang="en-US" sz="1200" b="1" dirty="0">
                <a:solidFill>
                  <a:srgbClr val="FFFFFF"/>
                </a:solidFill>
              </a:rPr>
              <a:t>GPS  +  Community  +  Real Places  =  Orbis Tribe (the Core Unit)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1: FOUNDATION &amp; VISION — KEY CONCEPT</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Core Concept: Tribe as Territory</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magic that makes Orbis unique</a:t>
            </a:r>
            <a:endParaRPr lang="en-US" sz="1400" dirty="0"/>
          </a:p>
        </p:txBody>
      </p:sp>
      <p:sp>
        <p:nvSpPr>
          <p:cNvPr id="6" name="Shape 4"/>
          <p:cNvSpPr/>
          <p:nvPr/>
        </p:nvSpPr>
        <p:spPr>
          <a:xfrm>
            <a:off x="365760" y="1371600"/>
            <a:ext cx="4114800" cy="3383280"/>
          </a:xfrm>
          <a:prstGeom prst="rect">
            <a:avLst/>
          </a:prstGeom>
          <a:solidFill>
            <a:srgbClr val="162032"/>
          </a:solidFill>
          <a:ln w="25400">
            <a:solidFill>
              <a:srgbClr val="5B21B6"/>
            </a:solidFill>
            <a:prstDash val="solid"/>
          </a:ln>
        </p:spPr>
      </p:sp>
      <p:sp>
        <p:nvSpPr>
          <p:cNvPr id="7" name="Text 5"/>
          <p:cNvSpPr/>
          <p:nvPr/>
        </p:nvSpPr>
        <p:spPr>
          <a:xfrm>
            <a:off x="457200" y="1417320"/>
            <a:ext cx="3931920" cy="320040"/>
          </a:xfrm>
          <a:prstGeom prst="rect">
            <a:avLst/>
          </a:prstGeom>
          <a:noFill/>
          <a:ln/>
        </p:spPr>
        <p:txBody>
          <a:bodyPr wrap="square" rtlCol="0" anchor="ctr"/>
          <a:lstStyle/>
          <a:p>
            <a:pPr indent="0" marL="0">
              <a:buNone/>
            </a:pPr>
            <a:r>
              <a:rPr lang="en-US" sz="1000" b="1" dirty="0">
                <a:solidFill>
                  <a:srgbClr val="94A3B8"/>
                </a:solidFill>
              </a:rPr>
              <a:t>🗺 Live Map View</a:t>
            </a:r>
            <a:endParaRPr lang="en-US" sz="1000" dirty="0"/>
          </a:p>
        </p:txBody>
      </p:sp>
      <p:sp>
        <p:nvSpPr>
          <p:cNvPr id="8" name="Shape 6"/>
          <p:cNvSpPr/>
          <p:nvPr/>
        </p:nvSpPr>
        <p:spPr>
          <a:xfrm>
            <a:off x="640080" y="1828800"/>
            <a:ext cx="3474720" cy="2560320"/>
          </a:xfrm>
          <a:prstGeom prst="rect">
            <a:avLst/>
          </a:prstGeom>
          <a:solidFill>
            <a:srgbClr val="7B2FBE">
              <a:alpha val="25000"/>
            </a:srgbClr>
          </a:solidFill>
          <a:ln w="25400">
            <a:solidFill>
              <a:srgbClr val="C77DFF"/>
            </a:solidFill>
            <a:prstDash val="solid"/>
          </a:ln>
        </p:spPr>
      </p:sp>
      <p:sp>
        <p:nvSpPr>
          <p:cNvPr id="9" name="Text 7"/>
          <p:cNvSpPr/>
          <p:nvPr/>
        </p:nvSpPr>
        <p:spPr>
          <a:xfrm>
            <a:off x="731520" y="1901952"/>
            <a:ext cx="3200400" cy="365760"/>
          </a:xfrm>
          <a:prstGeom prst="rect">
            <a:avLst/>
          </a:prstGeom>
          <a:noFill/>
          <a:ln/>
        </p:spPr>
        <p:txBody>
          <a:bodyPr wrap="square" rtlCol="0" anchor="ctr"/>
          <a:lstStyle/>
          <a:p>
            <a:pPr indent="0" marL="0">
              <a:buNone/>
            </a:pPr>
            <a:r>
              <a:rPr lang="en-US" sz="1100" b="1" dirty="0">
                <a:solidFill>
                  <a:srgbClr val="C77DFF"/>
                </a:solidFill>
              </a:rPr>
              <a:t>Gamers of Bhopal</a:t>
            </a:r>
            <a:endParaRPr lang="en-US" sz="1100" dirty="0"/>
          </a:p>
        </p:txBody>
      </p:sp>
      <p:pic>
        <p:nvPicPr>
          <p:cNvPr id="10" name="Image 0" descr="preencoded.png">    </p:cNvPr>
          <p:cNvPicPr>
            <a:picLocks noChangeAspect="1"/>
          </p:cNvPicPr>
          <p:nvPr/>
        </p:nvPicPr>
        <p:blipFill>
          <a:blip r:embed="rId1"/>
          <a:stretch>
            <a:fillRect/>
          </a:stretch>
        </p:blipFill>
        <p:spPr>
          <a:xfrm>
            <a:off x="1005840" y="2377440"/>
            <a:ext cx="274320" cy="347472"/>
          </a:xfrm>
          <a:prstGeom prst="rect">
            <a:avLst/>
          </a:prstGeom>
        </p:spPr>
      </p:pic>
      <p:sp>
        <p:nvSpPr>
          <p:cNvPr id="11" name="Text 8"/>
          <p:cNvSpPr/>
          <p:nvPr/>
        </p:nvSpPr>
        <p:spPr>
          <a:xfrm>
            <a:off x="1298448" y="2414016"/>
            <a:ext cx="1645920" cy="274320"/>
          </a:xfrm>
          <a:prstGeom prst="rect">
            <a:avLst/>
          </a:prstGeom>
          <a:noFill/>
          <a:ln/>
        </p:spPr>
        <p:txBody>
          <a:bodyPr wrap="square" rtlCol="0" anchor="ctr"/>
          <a:lstStyle/>
          <a:p>
            <a:pPr indent="0" marL="0">
              <a:buNone/>
            </a:pPr>
            <a:r>
              <a:rPr lang="en-US" sz="900" dirty="0">
                <a:solidFill>
                  <a:srgbClr val="F59E0B"/>
                </a:solidFill>
              </a:rPr>
              <a:t>Gaming Café ★</a:t>
            </a:r>
            <a:endParaRPr lang="en-US" sz="900" dirty="0"/>
          </a:p>
        </p:txBody>
      </p:sp>
      <p:pic>
        <p:nvPicPr>
          <p:cNvPr id="12" name="Image 1" descr="preencoded.png">    </p:cNvPr>
          <p:cNvPicPr>
            <a:picLocks noChangeAspect="1"/>
          </p:cNvPicPr>
          <p:nvPr/>
        </p:nvPicPr>
        <p:blipFill>
          <a:blip r:embed="rId2"/>
          <a:stretch>
            <a:fillRect/>
          </a:stretch>
        </p:blipFill>
        <p:spPr>
          <a:xfrm>
            <a:off x="2194560" y="2926080"/>
            <a:ext cx="274320" cy="347472"/>
          </a:xfrm>
          <a:prstGeom prst="rect">
            <a:avLst/>
          </a:prstGeom>
        </p:spPr>
      </p:pic>
      <p:sp>
        <p:nvSpPr>
          <p:cNvPr id="13" name="Text 9"/>
          <p:cNvSpPr/>
          <p:nvPr/>
        </p:nvSpPr>
        <p:spPr>
          <a:xfrm>
            <a:off x="2487168" y="2962656"/>
            <a:ext cx="1645920" cy="274320"/>
          </a:xfrm>
          <a:prstGeom prst="rect">
            <a:avLst/>
          </a:prstGeom>
          <a:noFill/>
          <a:ln/>
        </p:spPr>
        <p:txBody>
          <a:bodyPr wrap="square" rtlCol="0" anchor="ctr"/>
          <a:lstStyle/>
          <a:p>
            <a:pPr indent="0" marL="0">
              <a:buNone/>
            </a:pPr>
            <a:r>
              <a:rPr lang="en-US" sz="900" dirty="0">
                <a:solidFill>
                  <a:srgbClr val="F59E0B"/>
                </a:solidFill>
              </a:rPr>
              <a:t>Electronics Hub</a:t>
            </a:r>
            <a:endParaRPr lang="en-US" sz="900" dirty="0"/>
          </a:p>
        </p:txBody>
      </p:sp>
      <p:pic>
        <p:nvPicPr>
          <p:cNvPr id="14" name="Image 2" descr="preencoded.png">    </p:cNvPr>
          <p:cNvPicPr>
            <a:picLocks noChangeAspect="1"/>
          </p:cNvPicPr>
          <p:nvPr/>
        </p:nvPicPr>
        <p:blipFill>
          <a:blip r:embed="rId3"/>
          <a:stretch>
            <a:fillRect/>
          </a:stretch>
        </p:blipFill>
        <p:spPr>
          <a:xfrm>
            <a:off x="1554480" y="3566160"/>
            <a:ext cx="274320" cy="347472"/>
          </a:xfrm>
          <a:prstGeom prst="rect">
            <a:avLst/>
          </a:prstGeom>
        </p:spPr>
      </p:pic>
      <p:sp>
        <p:nvSpPr>
          <p:cNvPr id="15" name="Text 10"/>
          <p:cNvSpPr/>
          <p:nvPr/>
        </p:nvSpPr>
        <p:spPr>
          <a:xfrm>
            <a:off x="1847088" y="3602736"/>
            <a:ext cx="1645920" cy="274320"/>
          </a:xfrm>
          <a:prstGeom prst="rect">
            <a:avLst/>
          </a:prstGeom>
          <a:noFill/>
          <a:ln/>
        </p:spPr>
        <p:txBody>
          <a:bodyPr wrap="square" rtlCol="0" anchor="ctr"/>
          <a:lstStyle/>
          <a:p>
            <a:pPr indent="0" marL="0">
              <a:buNone/>
            </a:pPr>
            <a:r>
              <a:rPr lang="en-US" sz="900" dirty="0">
                <a:solidFill>
                  <a:srgbClr val="F59E0B"/>
                </a:solidFill>
              </a:rPr>
              <a:t>LAN Arena</a:t>
            </a:r>
            <a:endParaRPr lang="en-US" sz="900" dirty="0"/>
          </a:p>
        </p:txBody>
      </p:sp>
      <p:sp>
        <p:nvSpPr>
          <p:cNvPr id="16" name="Shape 11"/>
          <p:cNvSpPr/>
          <p:nvPr/>
        </p:nvSpPr>
        <p:spPr>
          <a:xfrm>
            <a:off x="4754880" y="1463040"/>
            <a:ext cx="4023360" cy="914400"/>
          </a:xfrm>
          <a:prstGeom prst="rect">
            <a:avLst/>
          </a:prstGeom>
          <a:solidFill>
            <a:srgbClr val="2A1547"/>
          </a:solidFill>
          <a:ln w="12700">
            <a:solidFill>
              <a:srgbClr val="5B21B6"/>
            </a:solidFill>
            <a:prstDash val="solid"/>
          </a:ln>
        </p:spPr>
      </p:sp>
      <p:pic>
        <p:nvPicPr>
          <p:cNvPr id="17" name="Image 3" descr="preencoded.png">    </p:cNvPr>
          <p:cNvPicPr>
            <a:picLocks noChangeAspect="1"/>
          </p:cNvPicPr>
          <p:nvPr/>
        </p:nvPicPr>
        <p:blipFill>
          <a:blip r:embed="rId4"/>
          <a:stretch>
            <a:fillRect/>
          </a:stretch>
        </p:blipFill>
        <p:spPr>
          <a:xfrm>
            <a:off x="4892040" y="1691640"/>
            <a:ext cx="365760" cy="365760"/>
          </a:xfrm>
          <a:prstGeom prst="rect">
            <a:avLst/>
          </a:prstGeom>
        </p:spPr>
      </p:pic>
      <p:sp>
        <p:nvSpPr>
          <p:cNvPr id="18" name="Text 12"/>
          <p:cNvSpPr/>
          <p:nvPr/>
        </p:nvSpPr>
        <p:spPr>
          <a:xfrm>
            <a:off x="5349240" y="1536192"/>
            <a:ext cx="3337560" cy="320040"/>
          </a:xfrm>
          <a:prstGeom prst="rect">
            <a:avLst/>
          </a:prstGeom>
          <a:noFill/>
          <a:ln/>
        </p:spPr>
        <p:txBody>
          <a:bodyPr wrap="square" rtlCol="0" anchor="ctr"/>
          <a:lstStyle/>
          <a:p>
            <a:pPr indent="0" marL="0">
              <a:buNone/>
            </a:pPr>
            <a:r>
              <a:rPr lang="en-US" sz="1300" b="1" dirty="0">
                <a:solidFill>
                  <a:srgbClr val="C77DFF"/>
                </a:solidFill>
              </a:rPr>
              <a:t>Tribe = Community + Territory</a:t>
            </a:r>
            <a:endParaRPr lang="en-US" sz="1300" dirty="0"/>
          </a:p>
        </p:txBody>
      </p:sp>
      <p:sp>
        <p:nvSpPr>
          <p:cNvPr id="19" name="Text 13"/>
          <p:cNvSpPr/>
          <p:nvPr/>
        </p:nvSpPr>
        <p:spPr>
          <a:xfrm>
            <a:off x="5349240" y="1874520"/>
            <a:ext cx="3337560" cy="411480"/>
          </a:xfrm>
          <a:prstGeom prst="rect">
            <a:avLst/>
          </a:prstGeom>
          <a:noFill/>
          <a:ln/>
        </p:spPr>
        <p:txBody>
          <a:bodyPr wrap="square" rtlCol="0" anchor="ctr"/>
          <a:lstStyle/>
          <a:p>
            <a:pPr indent="0" marL="0">
              <a:buNone/>
            </a:pPr>
            <a:r>
              <a:rPr lang="en-US" sz="1100" dirty="0">
                <a:solidFill>
                  <a:srgbClr val="F0E6FF"/>
                </a:solidFill>
              </a:rPr>
              <a:t>A tribe isn't just a chat room — it has GPS borders.</a:t>
            </a:r>
            <a:endParaRPr lang="en-US" sz="1100" dirty="0"/>
          </a:p>
        </p:txBody>
      </p:sp>
      <p:sp>
        <p:nvSpPr>
          <p:cNvPr id="20" name="Shape 14"/>
          <p:cNvSpPr/>
          <p:nvPr/>
        </p:nvSpPr>
        <p:spPr>
          <a:xfrm>
            <a:off x="4754880" y="2487168"/>
            <a:ext cx="4023360" cy="914400"/>
          </a:xfrm>
          <a:prstGeom prst="rect">
            <a:avLst/>
          </a:prstGeom>
          <a:solidFill>
            <a:srgbClr val="2A1547"/>
          </a:solidFill>
          <a:ln w="12700">
            <a:solidFill>
              <a:srgbClr val="5B21B6"/>
            </a:solidFill>
            <a:prstDash val="solid"/>
          </a:ln>
        </p:spPr>
      </p:sp>
      <p:pic>
        <p:nvPicPr>
          <p:cNvPr id="21" name="Image 4" descr="preencoded.png">    </p:cNvPr>
          <p:cNvPicPr>
            <a:picLocks noChangeAspect="1"/>
          </p:cNvPicPr>
          <p:nvPr/>
        </p:nvPicPr>
        <p:blipFill>
          <a:blip r:embed="rId5"/>
          <a:stretch>
            <a:fillRect/>
          </a:stretch>
        </p:blipFill>
        <p:spPr>
          <a:xfrm>
            <a:off x="4892040" y="2715768"/>
            <a:ext cx="365760" cy="365760"/>
          </a:xfrm>
          <a:prstGeom prst="rect">
            <a:avLst/>
          </a:prstGeom>
        </p:spPr>
      </p:pic>
      <p:sp>
        <p:nvSpPr>
          <p:cNvPr id="22" name="Text 15"/>
          <p:cNvSpPr/>
          <p:nvPr/>
        </p:nvSpPr>
        <p:spPr>
          <a:xfrm>
            <a:off x="5349240" y="2560320"/>
            <a:ext cx="3337560" cy="320040"/>
          </a:xfrm>
          <a:prstGeom prst="rect">
            <a:avLst/>
          </a:prstGeom>
          <a:noFill/>
          <a:ln/>
        </p:spPr>
        <p:txBody>
          <a:bodyPr wrap="square" rtlCol="0" anchor="ctr"/>
          <a:lstStyle/>
          <a:p>
            <a:pPr indent="0" marL="0">
              <a:buNone/>
            </a:pPr>
            <a:r>
              <a:rPr lang="en-US" sz="1300" b="1" dirty="0">
                <a:solidFill>
                  <a:srgbClr val="C77DFF"/>
                </a:solidFill>
              </a:rPr>
              <a:t>Places = Power</a:t>
            </a:r>
            <a:endParaRPr lang="en-US" sz="1300" dirty="0"/>
          </a:p>
        </p:txBody>
      </p:sp>
      <p:sp>
        <p:nvSpPr>
          <p:cNvPr id="23" name="Text 16"/>
          <p:cNvSpPr/>
          <p:nvPr/>
        </p:nvSpPr>
        <p:spPr>
          <a:xfrm>
            <a:off x="5349240" y="2898648"/>
            <a:ext cx="3337560" cy="411480"/>
          </a:xfrm>
          <a:prstGeom prst="rect">
            <a:avLst/>
          </a:prstGeom>
          <a:noFill/>
          <a:ln/>
        </p:spPr>
        <p:txBody>
          <a:bodyPr wrap="square" rtlCol="0" anchor="ctr"/>
          <a:lstStyle/>
          <a:p>
            <a:pPr indent="0" marL="0">
              <a:buNone/>
            </a:pPr>
            <a:r>
              <a:rPr lang="en-US" sz="1100" dirty="0">
                <a:solidFill>
                  <a:srgbClr val="F0E6FF"/>
                </a:solidFill>
              </a:rPr>
              <a:t>Claiming a real place expands your tribe's visible territory on the map.</a:t>
            </a:r>
            <a:endParaRPr lang="en-US" sz="1100" dirty="0"/>
          </a:p>
        </p:txBody>
      </p:sp>
      <p:sp>
        <p:nvSpPr>
          <p:cNvPr id="24" name="Shape 17"/>
          <p:cNvSpPr/>
          <p:nvPr/>
        </p:nvSpPr>
        <p:spPr>
          <a:xfrm>
            <a:off x="4754880" y="3511296"/>
            <a:ext cx="4023360" cy="914400"/>
          </a:xfrm>
          <a:prstGeom prst="rect">
            <a:avLst/>
          </a:prstGeom>
          <a:solidFill>
            <a:srgbClr val="2A1547"/>
          </a:solidFill>
          <a:ln w="12700">
            <a:solidFill>
              <a:srgbClr val="5B21B6"/>
            </a:solidFill>
            <a:prstDash val="solid"/>
          </a:ln>
        </p:spPr>
      </p:sp>
      <p:pic>
        <p:nvPicPr>
          <p:cNvPr id="25" name="Image 5" descr="preencoded.png">    </p:cNvPr>
          <p:cNvPicPr>
            <a:picLocks noChangeAspect="1"/>
          </p:cNvPicPr>
          <p:nvPr/>
        </p:nvPicPr>
        <p:blipFill>
          <a:blip r:embed="rId6"/>
          <a:stretch>
            <a:fillRect/>
          </a:stretch>
        </p:blipFill>
        <p:spPr>
          <a:xfrm>
            <a:off x="4892040" y="3739896"/>
            <a:ext cx="365760" cy="365760"/>
          </a:xfrm>
          <a:prstGeom prst="rect">
            <a:avLst/>
          </a:prstGeom>
        </p:spPr>
      </p:pic>
      <p:sp>
        <p:nvSpPr>
          <p:cNvPr id="26" name="Text 18"/>
          <p:cNvSpPr/>
          <p:nvPr/>
        </p:nvSpPr>
        <p:spPr>
          <a:xfrm>
            <a:off x="5349240" y="3584448"/>
            <a:ext cx="3337560" cy="320040"/>
          </a:xfrm>
          <a:prstGeom prst="rect">
            <a:avLst/>
          </a:prstGeom>
          <a:noFill/>
          <a:ln/>
        </p:spPr>
        <p:txBody>
          <a:bodyPr wrap="square" rtlCol="0" anchor="ctr"/>
          <a:lstStyle/>
          <a:p>
            <a:pPr indent="0" marL="0">
              <a:buNone/>
            </a:pPr>
            <a:r>
              <a:rPr lang="en-US" sz="1300" b="1" dirty="0">
                <a:solidFill>
                  <a:srgbClr val="C77DFF"/>
                </a:solidFill>
              </a:rPr>
              <a:t>Territory = Visibility</a:t>
            </a:r>
            <a:endParaRPr lang="en-US" sz="1300" dirty="0"/>
          </a:p>
        </p:txBody>
      </p:sp>
      <p:sp>
        <p:nvSpPr>
          <p:cNvPr id="27" name="Text 19"/>
          <p:cNvSpPr/>
          <p:nvPr/>
        </p:nvSpPr>
        <p:spPr>
          <a:xfrm>
            <a:off x="5349240" y="3922776"/>
            <a:ext cx="3337560" cy="411480"/>
          </a:xfrm>
          <a:prstGeom prst="rect">
            <a:avLst/>
          </a:prstGeom>
          <a:noFill/>
          <a:ln/>
        </p:spPr>
        <p:txBody>
          <a:bodyPr wrap="square" rtlCol="0" anchor="ctr"/>
          <a:lstStyle/>
          <a:p>
            <a:pPr indent="0" marL="0">
              <a:buNone/>
            </a:pPr>
            <a:r>
              <a:rPr lang="en-US" sz="1100" dirty="0">
                <a:solidFill>
                  <a:srgbClr val="F0E6FF"/>
                </a:solidFill>
              </a:rPr>
              <a:t>The more places you claim, the bigger your tribe appears to everyone browsing.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2: KEY ENTITIES &amp; DATA MODEL</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5 Core Entities</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building blocks of Orbis — know these, know the app</a:t>
            </a:r>
            <a:endParaRPr lang="en-US" sz="1400" dirty="0"/>
          </a:p>
        </p:txBody>
      </p:sp>
      <p:sp>
        <p:nvSpPr>
          <p:cNvPr id="6" name="Shape 4"/>
          <p:cNvSpPr/>
          <p:nvPr/>
        </p:nvSpPr>
        <p:spPr>
          <a:xfrm>
            <a:off x="365760" y="1417320"/>
            <a:ext cx="1645920" cy="1463040"/>
          </a:xfrm>
          <a:prstGeom prst="rect">
            <a:avLst/>
          </a:prstGeom>
          <a:solidFill>
            <a:srgbClr val="7B2FBE"/>
          </a:solidFill>
          <a:ln w="12700">
            <a:solidFill>
              <a:srgbClr val="FFFFFF"/>
            </a:solidFill>
            <a:prstDash val="solid"/>
          </a:ln>
        </p:spPr>
      </p:sp>
      <p:pic>
        <p:nvPicPr>
          <p:cNvPr id="7" name="Image 0" descr="preencoded.png">    </p:cNvPr>
          <p:cNvPicPr>
            <a:picLocks noChangeAspect="1"/>
          </p:cNvPicPr>
          <p:nvPr/>
        </p:nvPicPr>
        <p:blipFill>
          <a:blip r:embed="rId1"/>
          <a:stretch>
            <a:fillRect/>
          </a:stretch>
        </p:blipFill>
        <p:spPr>
          <a:xfrm>
            <a:off x="960120" y="1508760"/>
            <a:ext cx="457200" cy="457200"/>
          </a:xfrm>
          <a:prstGeom prst="rect">
            <a:avLst/>
          </a:prstGeom>
        </p:spPr>
      </p:pic>
      <p:sp>
        <p:nvSpPr>
          <p:cNvPr id="8" name="Text 5"/>
          <p:cNvSpPr/>
          <p:nvPr/>
        </p:nvSpPr>
        <p:spPr>
          <a:xfrm>
            <a:off x="365760" y="2039112"/>
            <a:ext cx="1645920" cy="320040"/>
          </a:xfrm>
          <a:prstGeom prst="rect">
            <a:avLst/>
          </a:prstGeom>
          <a:noFill/>
          <a:ln/>
        </p:spPr>
        <p:txBody>
          <a:bodyPr wrap="square" rtlCol="0" anchor="ctr"/>
          <a:lstStyle/>
          <a:p>
            <a:pPr algn="ctr" indent="0" marL="0">
              <a:buNone/>
            </a:pPr>
            <a:r>
              <a:rPr lang="en-US" sz="1300" b="1" dirty="0">
                <a:solidFill>
                  <a:srgbClr val="FFFFFF"/>
                </a:solidFill>
              </a:rPr>
              <a:t>Tribe</a:t>
            </a:r>
            <a:endParaRPr lang="en-US" sz="1300" dirty="0"/>
          </a:p>
        </p:txBody>
      </p:sp>
      <p:sp>
        <p:nvSpPr>
          <p:cNvPr id="9" name="Text 6"/>
          <p:cNvSpPr/>
          <p:nvPr/>
        </p:nvSpPr>
        <p:spPr>
          <a:xfrm>
            <a:off x="411480" y="2331720"/>
            <a:ext cx="1554480" cy="502920"/>
          </a:xfrm>
          <a:prstGeom prst="rect">
            <a:avLst/>
          </a:prstGeom>
          <a:noFill/>
          <a:ln/>
        </p:spPr>
        <p:txBody>
          <a:bodyPr wrap="square" rtlCol="0" anchor="ctr"/>
          <a:lstStyle/>
          <a:p>
            <a:pPr algn="ctr" indent="0" marL="0">
              <a:buNone/>
            </a:pPr>
            <a:r>
              <a:rPr lang="en-US" sz="900" dirty="0">
                <a:solidFill>
                  <a:srgbClr val="F0E6FF"/>
                </a:solidFill>
              </a:rPr>
              <a:t>A community group with a defined map region. The most important entity.</a:t>
            </a:r>
            <a:endParaRPr lang="en-US" sz="900" dirty="0"/>
          </a:p>
        </p:txBody>
      </p:sp>
      <p:sp>
        <p:nvSpPr>
          <p:cNvPr id="10" name="Shape 7"/>
          <p:cNvSpPr/>
          <p:nvPr/>
        </p:nvSpPr>
        <p:spPr>
          <a:xfrm>
            <a:off x="2148840" y="1417320"/>
            <a:ext cx="1645920" cy="1463040"/>
          </a:xfrm>
          <a:prstGeom prst="rect">
            <a:avLst/>
          </a:prstGeom>
          <a:solidFill>
            <a:srgbClr val="0E7490"/>
          </a:solidFill>
          <a:ln w="12700">
            <a:solidFill>
              <a:srgbClr val="FFFFFF"/>
            </a:solidFill>
            <a:prstDash val="solid"/>
          </a:ln>
        </p:spPr>
      </p:sp>
      <p:pic>
        <p:nvPicPr>
          <p:cNvPr id="11" name="Image 1" descr="preencoded.png">    </p:cNvPr>
          <p:cNvPicPr>
            <a:picLocks noChangeAspect="1"/>
          </p:cNvPicPr>
          <p:nvPr/>
        </p:nvPicPr>
        <p:blipFill>
          <a:blip r:embed="rId2"/>
          <a:stretch>
            <a:fillRect/>
          </a:stretch>
        </p:blipFill>
        <p:spPr>
          <a:xfrm>
            <a:off x="2743200" y="1508760"/>
            <a:ext cx="457200" cy="457200"/>
          </a:xfrm>
          <a:prstGeom prst="rect">
            <a:avLst/>
          </a:prstGeom>
        </p:spPr>
      </p:pic>
      <p:sp>
        <p:nvSpPr>
          <p:cNvPr id="12" name="Text 8"/>
          <p:cNvSpPr/>
          <p:nvPr/>
        </p:nvSpPr>
        <p:spPr>
          <a:xfrm>
            <a:off x="2148840" y="2039112"/>
            <a:ext cx="1645920" cy="320040"/>
          </a:xfrm>
          <a:prstGeom prst="rect">
            <a:avLst/>
          </a:prstGeom>
          <a:noFill/>
          <a:ln/>
        </p:spPr>
        <p:txBody>
          <a:bodyPr wrap="square" rtlCol="0" anchor="ctr"/>
          <a:lstStyle/>
          <a:p>
            <a:pPr algn="ctr" indent="0" marL="0">
              <a:buNone/>
            </a:pPr>
            <a:r>
              <a:rPr lang="en-US" sz="1300" b="1" dirty="0">
                <a:solidFill>
                  <a:srgbClr val="FFFFFF"/>
                </a:solidFill>
              </a:rPr>
              <a:t>Place</a:t>
            </a:r>
            <a:endParaRPr lang="en-US" sz="1300" dirty="0"/>
          </a:p>
        </p:txBody>
      </p:sp>
      <p:sp>
        <p:nvSpPr>
          <p:cNvPr id="13" name="Text 9"/>
          <p:cNvSpPr/>
          <p:nvPr/>
        </p:nvSpPr>
        <p:spPr>
          <a:xfrm>
            <a:off x="2194560" y="2331720"/>
            <a:ext cx="1554480" cy="502920"/>
          </a:xfrm>
          <a:prstGeom prst="rect">
            <a:avLst/>
          </a:prstGeom>
          <a:noFill/>
          <a:ln/>
        </p:spPr>
        <p:txBody>
          <a:bodyPr wrap="square" rtlCol="0" anchor="ctr"/>
          <a:lstStyle/>
          <a:p>
            <a:pPr algn="ctr" indent="0" marL="0">
              <a:buNone/>
            </a:pPr>
            <a:r>
              <a:rPr lang="en-US" sz="900" dirty="0">
                <a:solidFill>
                  <a:srgbClr val="F0E6FF"/>
                </a:solidFill>
              </a:rPr>
              <a:t>A real-world Point of Interest (POI) pinned on the map by a user.</a:t>
            </a:r>
            <a:endParaRPr lang="en-US" sz="900" dirty="0"/>
          </a:p>
        </p:txBody>
      </p:sp>
      <p:sp>
        <p:nvSpPr>
          <p:cNvPr id="14" name="Shape 10"/>
          <p:cNvSpPr/>
          <p:nvPr/>
        </p:nvSpPr>
        <p:spPr>
          <a:xfrm>
            <a:off x="3931920" y="1417320"/>
            <a:ext cx="1645920" cy="1463040"/>
          </a:xfrm>
          <a:prstGeom prst="rect">
            <a:avLst/>
          </a:prstGeom>
          <a:solidFill>
            <a:srgbClr val="5C4A00"/>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4526280" y="1508760"/>
            <a:ext cx="457200" cy="457200"/>
          </a:xfrm>
          <a:prstGeom prst="rect">
            <a:avLst/>
          </a:prstGeom>
        </p:spPr>
      </p:pic>
      <p:sp>
        <p:nvSpPr>
          <p:cNvPr id="16" name="Text 11"/>
          <p:cNvSpPr/>
          <p:nvPr/>
        </p:nvSpPr>
        <p:spPr>
          <a:xfrm>
            <a:off x="3931920" y="2039112"/>
            <a:ext cx="1645920" cy="320040"/>
          </a:xfrm>
          <a:prstGeom prst="rect">
            <a:avLst/>
          </a:prstGeom>
          <a:noFill/>
          <a:ln/>
        </p:spPr>
        <p:txBody>
          <a:bodyPr wrap="square" rtlCol="0" anchor="ctr"/>
          <a:lstStyle/>
          <a:p>
            <a:pPr algn="ctr" indent="0" marL="0">
              <a:buNone/>
            </a:pPr>
            <a:r>
              <a:rPr lang="en-US" sz="1300" b="1" dirty="0">
                <a:solidFill>
                  <a:srgbClr val="FFFFFF"/>
                </a:solidFill>
              </a:rPr>
              <a:t>Claim</a:t>
            </a:r>
            <a:endParaRPr lang="en-US" sz="1300" dirty="0"/>
          </a:p>
        </p:txBody>
      </p:sp>
      <p:sp>
        <p:nvSpPr>
          <p:cNvPr id="17" name="Text 12"/>
          <p:cNvSpPr/>
          <p:nvPr/>
        </p:nvSpPr>
        <p:spPr>
          <a:xfrm>
            <a:off x="3977640" y="2331720"/>
            <a:ext cx="1554480" cy="502920"/>
          </a:xfrm>
          <a:prstGeom prst="rect">
            <a:avLst/>
          </a:prstGeom>
          <a:noFill/>
          <a:ln/>
        </p:spPr>
        <p:txBody>
          <a:bodyPr wrap="square" rtlCol="0" anchor="ctr"/>
          <a:lstStyle/>
          <a:p>
            <a:pPr algn="ctr" indent="0" marL="0">
              <a:buNone/>
            </a:pPr>
            <a:r>
              <a:rPr lang="en-US" sz="900" dirty="0">
                <a:solidFill>
                  <a:srgbClr val="F0E6FF"/>
                </a:solidFill>
              </a:rPr>
              <a:t>The ownership link binding a User or Tribe to a Place.</a:t>
            </a:r>
            <a:endParaRPr lang="en-US" sz="900" dirty="0"/>
          </a:p>
        </p:txBody>
      </p:sp>
      <p:sp>
        <p:nvSpPr>
          <p:cNvPr id="18" name="Shape 13"/>
          <p:cNvSpPr/>
          <p:nvPr/>
        </p:nvSpPr>
        <p:spPr>
          <a:xfrm>
            <a:off x="1252728" y="3063240"/>
            <a:ext cx="1645920" cy="1463040"/>
          </a:xfrm>
          <a:prstGeom prst="rect">
            <a:avLst/>
          </a:prstGeom>
          <a:solidFill>
            <a:srgbClr val="1E4D2B"/>
          </a:solidFill>
          <a:ln w="12700">
            <a:solidFill>
              <a:srgbClr val="FFFFFF"/>
            </a:solidFill>
            <a:prstDash val="solid"/>
          </a:ln>
        </p:spPr>
      </p:sp>
      <p:pic>
        <p:nvPicPr>
          <p:cNvPr id="19" name="Image 3" descr="preencoded.png">    </p:cNvPr>
          <p:cNvPicPr>
            <a:picLocks noChangeAspect="1"/>
          </p:cNvPicPr>
          <p:nvPr/>
        </p:nvPicPr>
        <p:blipFill>
          <a:blip r:embed="rId4"/>
          <a:stretch>
            <a:fillRect/>
          </a:stretch>
        </p:blipFill>
        <p:spPr>
          <a:xfrm>
            <a:off x="1847088" y="3154680"/>
            <a:ext cx="457200" cy="457200"/>
          </a:xfrm>
          <a:prstGeom prst="rect">
            <a:avLst/>
          </a:prstGeom>
        </p:spPr>
      </p:pic>
      <p:sp>
        <p:nvSpPr>
          <p:cNvPr id="20" name="Text 14"/>
          <p:cNvSpPr/>
          <p:nvPr/>
        </p:nvSpPr>
        <p:spPr>
          <a:xfrm>
            <a:off x="1252728" y="3685032"/>
            <a:ext cx="1645920" cy="320040"/>
          </a:xfrm>
          <a:prstGeom prst="rect">
            <a:avLst/>
          </a:prstGeom>
          <a:noFill/>
          <a:ln/>
        </p:spPr>
        <p:txBody>
          <a:bodyPr wrap="square" rtlCol="0" anchor="ctr"/>
          <a:lstStyle/>
          <a:p>
            <a:pPr algn="ctr" indent="0" marL="0">
              <a:buNone/>
            </a:pPr>
            <a:r>
              <a:rPr lang="en-US" sz="1300" b="1" dirty="0">
                <a:solidFill>
                  <a:srgbClr val="FFFFFF"/>
                </a:solidFill>
              </a:rPr>
              <a:t>Media</a:t>
            </a:r>
            <a:endParaRPr lang="en-US" sz="1300" dirty="0"/>
          </a:p>
        </p:txBody>
      </p:sp>
      <p:sp>
        <p:nvSpPr>
          <p:cNvPr id="21" name="Text 15"/>
          <p:cNvSpPr/>
          <p:nvPr/>
        </p:nvSpPr>
        <p:spPr>
          <a:xfrm>
            <a:off x="1298448" y="3977640"/>
            <a:ext cx="1554480" cy="502920"/>
          </a:xfrm>
          <a:prstGeom prst="rect">
            <a:avLst/>
          </a:prstGeom>
          <a:noFill/>
          <a:ln/>
        </p:spPr>
        <p:txBody>
          <a:bodyPr wrap="square" rtlCol="0" anchor="ctr"/>
          <a:lstStyle/>
          <a:p>
            <a:pPr algn="ctr" indent="0" marL="0">
              <a:buNone/>
            </a:pPr>
            <a:r>
              <a:rPr lang="en-US" sz="900" dirty="0">
                <a:solidFill>
                  <a:srgbClr val="F0E6FF"/>
                </a:solidFill>
              </a:rPr>
              <a:t>Photos/videos posted by users, always tied to a Place and Tribe.</a:t>
            </a:r>
            <a:endParaRPr lang="en-US" sz="900" dirty="0"/>
          </a:p>
        </p:txBody>
      </p:sp>
      <p:sp>
        <p:nvSpPr>
          <p:cNvPr id="22" name="Shape 16"/>
          <p:cNvSpPr/>
          <p:nvPr/>
        </p:nvSpPr>
        <p:spPr>
          <a:xfrm>
            <a:off x="3044952" y="3063240"/>
            <a:ext cx="1645920" cy="1463040"/>
          </a:xfrm>
          <a:prstGeom prst="rect">
            <a:avLst/>
          </a:prstGeom>
          <a:solidFill>
            <a:srgbClr val="3D1A78"/>
          </a:solidFill>
          <a:ln w="12700">
            <a:solidFill>
              <a:srgbClr val="FFFFFF"/>
            </a:solidFill>
            <a:prstDash val="solid"/>
          </a:ln>
        </p:spPr>
      </p:sp>
      <p:pic>
        <p:nvPicPr>
          <p:cNvPr id="23" name="Image 4" descr="preencoded.png">    </p:cNvPr>
          <p:cNvPicPr>
            <a:picLocks noChangeAspect="1"/>
          </p:cNvPicPr>
          <p:nvPr/>
        </p:nvPicPr>
        <p:blipFill>
          <a:blip r:embed="rId5"/>
          <a:stretch>
            <a:fillRect/>
          </a:stretch>
        </p:blipFill>
        <p:spPr>
          <a:xfrm>
            <a:off x="3639312" y="3154680"/>
            <a:ext cx="457200" cy="457200"/>
          </a:xfrm>
          <a:prstGeom prst="rect">
            <a:avLst/>
          </a:prstGeom>
        </p:spPr>
      </p:pic>
      <p:sp>
        <p:nvSpPr>
          <p:cNvPr id="24" name="Text 17"/>
          <p:cNvSpPr/>
          <p:nvPr/>
        </p:nvSpPr>
        <p:spPr>
          <a:xfrm>
            <a:off x="3044952" y="3685032"/>
            <a:ext cx="1645920" cy="320040"/>
          </a:xfrm>
          <a:prstGeom prst="rect">
            <a:avLst/>
          </a:prstGeom>
          <a:noFill/>
          <a:ln/>
        </p:spPr>
        <p:txBody>
          <a:bodyPr wrap="square" rtlCol="0" anchor="ctr"/>
          <a:lstStyle/>
          <a:p>
            <a:pPr algn="ctr" indent="0" marL="0">
              <a:buNone/>
            </a:pPr>
            <a:r>
              <a:rPr lang="en-US" sz="1300" b="1" dirty="0">
                <a:solidFill>
                  <a:srgbClr val="FFFFFF"/>
                </a:solidFill>
              </a:rPr>
              <a:t>User</a:t>
            </a:r>
            <a:endParaRPr lang="en-US" sz="1300" dirty="0"/>
          </a:p>
        </p:txBody>
      </p:sp>
      <p:sp>
        <p:nvSpPr>
          <p:cNvPr id="25" name="Text 18"/>
          <p:cNvSpPr/>
          <p:nvPr/>
        </p:nvSpPr>
        <p:spPr>
          <a:xfrm>
            <a:off x="3090672" y="3977640"/>
            <a:ext cx="1554480" cy="502920"/>
          </a:xfrm>
          <a:prstGeom prst="rect">
            <a:avLst/>
          </a:prstGeom>
          <a:noFill/>
          <a:ln/>
        </p:spPr>
        <p:txBody>
          <a:bodyPr wrap="square" rtlCol="0" anchor="ctr"/>
          <a:lstStyle/>
          <a:p>
            <a:pPr algn="ctr" indent="0" marL="0">
              <a:buNone/>
            </a:pPr>
            <a:r>
              <a:rPr lang="en-US" sz="900" dirty="0">
                <a:solidFill>
                  <a:srgbClr val="F0E6FF"/>
                </a:solidFill>
              </a:rPr>
              <a:t>The actor who joins Tribes, creates Places, and posts content.</a:t>
            </a:r>
            <a:endParaRPr lang="en-US" sz="900" dirty="0"/>
          </a:p>
        </p:txBody>
      </p:sp>
      <p:sp>
        <p:nvSpPr>
          <p:cNvPr id="26" name="Shape 19"/>
          <p:cNvSpPr/>
          <p:nvPr/>
        </p:nvSpPr>
        <p:spPr>
          <a:xfrm>
            <a:off x="5120640" y="1417320"/>
            <a:ext cx="3657600" cy="3291840"/>
          </a:xfrm>
          <a:prstGeom prst="rect">
            <a:avLst/>
          </a:prstGeom>
          <a:solidFill>
            <a:srgbClr val="2A1547"/>
          </a:solidFill>
          <a:ln w="12700">
            <a:solidFill>
              <a:srgbClr val="5B21B6"/>
            </a:solidFill>
            <a:prstDash val="solid"/>
          </a:ln>
        </p:spPr>
      </p:sp>
      <p:sp>
        <p:nvSpPr>
          <p:cNvPr id="27" name="Text 20"/>
          <p:cNvSpPr/>
          <p:nvPr/>
        </p:nvSpPr>
        <p:spPr>
          <a:xfrm>
            <a:off x="5257800" y="1508760"/>
            <a:ext cx="3383280" cy="365760"/>
          </a:xfrm>
          <a:prstGeom prst="rect">
            <a:avLst/>
          </a:prstGeom>
          <a:noFill/>
          <a:ln/>
        </p:spPr>
        <p:txBody>
          <a:bodyPr wrap="square" rtlCol="0" anchor="ctr"/>
          <a:lstStyle/>
          <a:p>
            <a:pPr indent="0" marL="0">
              <a:buNone/>
            </a:pPr>
            <a:r>
              <a:rPr lang="en-US" sz="1400" b="1" dirty="0">
                <a:solidFill>
                  <a:srgbClr val="C77DFF"/>
                </a:solidFill>
              </a:rPr>
              <a:t>Entity Relationships</a:t>
            </a:r>
            <a:endParaRPr lang="en-US" sz="1400" dirty="0"/>
          </a:p>
        </p:txBody>
      </p:sp>
      <p:sp>
        <p:nvSpPr>
          <p:cNvPr id="28" name="Text 21"/>
          <p:cNvSpPr/>
          <p:nvPr/>
        </p:nvSpPr>
        <p:spPr>
          <a:xfrm>
            <a:off x="5257800" y="1920240"/>
            <a:ext cx="3383280" cy="2560320"/>
          </a:xfrm>
          <a:prstGeom prst="rect">
            <a:avLst/>
          </a:prstGeom>
          <a:noFill/>
          <a:ln/>
        </p:spPr>
        <p:txBody>
          <a:bodyPr wrap="square" rtlCol="0" anchor="ctr"/>
          <a:lstStyle/>
          <a:p>
            <a:pPr marL="342900" indent="-342900">
              <a:spcAft>
                <a:spcPts val="600"/>
              </a:spcAft>
              <a:buSzPct val="100000"/>
              <a:buChar char="•"/>
            </a:pPr>
            <a:r>
              <a:rPr lang="en-US" sz="1200" dirty="0">
                <a:solidFill>
                  <a:srgbClr val="F0E6FF"/>
                </a:solidFill>
              </a:rPr>
              <a:t>User  →  joins  →  Tribe</a:t>
            </a:r>
            <a:endParaRPr lang="en-US" sz="1200" dirty="0"/>
          </a:p>
          <a:p>
            <a:pPr marL="342900" indent="-342900">
              <a:spcAft>
                <a:spcPts val="600"/>
              </a:spcAft>
              <a:buSzPct val="100000"/>
              <a:buChar char="•"/>
            </a:pPr>
            <a:r>
              <a:rPr lang="en-US" sz="1200" dirty="0">
                <a:solidFill>
                  <a:srgbClr val="F0E6FF"/>
                </a:solidFill>
              </a:rPr>
              <a:t>User  →  creates  →  Place</a:t>
            </a:r>
            <a:endParaRPr lang="en-US" sz="1200" dirty="0"/>
          </a:p>
          <a:p>
            <a:pPr marL="342900" indent="-342900">
              <a:spcAft>
                <a:spcPts val="600"/>
              </a:spcAft>
              <a:buSzPct val="100000"/>
              <a:buChar char="•"/>
            </a:pPr>
            <a:r>
              <a:rPr lang="en-US" sz="1200" dirty="0">
                <a:solidFill>
                  <a:srgbClr val="F0E6FF"/>
                </a:solidFill>
              </a:rPr>
              <a:t>Tribe  →  claims  →  Place</a:t>
            </a:r>
            <a:endParaRPr lang="en-US" sz="1200" dirty="0"/>
          </a:p>
          <a:p>
            <a:pPr marL="342900" indent="-342900">
              <a:spcAft>
                <a:spcPts val="600"/>
              </a:spcAft>
              <a:buSzPct val="100000"/>
              <a:buChar char="•"/>
            </a:pPr>
            <a:r>
              <a:rPr lang="en-US" sz="1200" dirty="0">
                <a:solidFill>
                  <a:srgbClr val="F0E6FF"/>
                </a:solidFill>
              </a:rPr>
              <a:t>User/Tribe  →  Claim  →  Place</a:t>
            </a:r>
            <a:endParaRPr lang="en-US" sz="1200" dirty="0"/>
          </a:p>
          <a:p>
            <a:pPr marL="342900" indent="-342900">
              <a:spcAft>
                <a:spcPts val="600"/>
              </a:spcAft>
              <a:buSzPct val="100000"/>
              <a:buChar char="•"/>
            </a:pPr>
            <a:r>
              <a:rPr lang="en-US" sz="1200" dirty="0">
                <a:solidFill>
                  <a:srgbClr val="F0E6FF"/>
                </a:solidFill>
              </a:rPr>
              <a:t>User  →  posts  →  Media @ Place</a:t>
            </a:r>
            <a:endParaRPr lang="en-US" sz="1200" dirty="0"/>
          </a:p>
          <a:p>
            <a:pPr marL="342900" indent="-342900">
              <a:spcAft>
                <a:spcPts val="600"/>
              </a:spcAft>
              <a:buSzPct val="100000"/>
              <a:buChar char="•"/>
            </a:pPr>
            <a:r>
              <a:rPr lang="en-US" sz="1200" dirty="0">
                <a:solidFill>
                  <a:srgbClr val="F0E6FF"/>
                </a:solidFill>
              </a:rPr>
              <a:t>Media  →  appears in  →  Tribe Feed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2: KEY ENTITIES &amp; DATA MODEL</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Deep Dive: Place &amp; Claim</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How ownership of real-world locations works</a:t>
            </a:r>
            <a:endParaRPr lang="en-US" sz="1400" dirty="0"/>
          </a:p>
        </p:txBody>
      </p:sp>
      <p:sp>
        <p:nvSpPr>
          <p:cNvPr id="6" name="Shape 4"/>
          <p:cNvSpPr/>
          <p:nvPr/>
        </p:nvSpPr>
        <p:spPr>
          <a:xfrm>
            <a:off x="365760" y="1508760"/>
            <a:ext cx="2743200" cy="3200400"/>
          </a:xfrm>
          <a:prstGeom prst="rect">
            <a:avLst/>
          </a:prstGeom>
          <a:solidFill>
            <a:srgbClr val="2A1547"/>
          </a:solidFill>
          <a:ln w="25400">
            <a:solidFill>
              <a:srgbClr val="94A3B8"/>
            </a:solidFill>
            <a:prstDash val="solid"/>
          </a:ln>
        </p:spPr>
      </p:sp>
      <p:pic>
        <p:nvPicPr>
          <p:cNvPr id="7" name="Image 0" descr="preencoded.png">    </p:cNvPr>
          <p:cNvPicPr>
            <a:picLocks noChangeAspect="1"/>
          </p:cNvPicPr>
          <p:nvPr/>
        </p:nvPicPr>
        <p:blipFill>
          <a:blip r:embed="rId1"/>
          <a:stretch>
            <a:fillRect/>
          </a:stretch>
        </p:blipFill>
        <p:spPr>
          <a:xfrm>
            <a:off x="1508760" y="1691640"/>
            <a:ext cx="457200" cy="457200"/>
          </a:xfrm>
          <a:prstGeom prst="rect">
            <a:avLst/>
          </a:prstGeom>
        </p:spPr>
      </p:pic>
      <p:sp>
        <p:nvSpPr>
          <p:cNvPr id="8" name="Text 5"/>
          <p:cNvSpPr/>
          <p:nvPr/>
        </p:nvSpPr>
        <p:spPr>
          <a:xfrm>
            <a:off x="457200" y="2194560"/>
            <a:ext cx="2560320" cy="457200"/>
          </a:xfrm>
          <a:prstGeom prst="rect">
            <a:avLst/>
          </a:prstGeom>
          <a:noFill/>
          <a:ln/>
        </p:spPr>
        <p:txBody>
          <a:bodyPr wrap="square" rtlCol="0" anchor="ctr"/>
          <a:lstStyle/>
          <a:p>
            <a:pPr algn="ctr" indent="0" marL="0">
              <a:buNone/>
            </a:pPr>
            <a:r>
              <a:rPr lang="en-US" sz="1300" b="1" dirty="0">
                <a:solidFill>
                  <a:srgbClr val="FFFFFF"/>
                </a:solidFill>
              </a:rPr>
              <a:t>1. Unclaimed Place</a:t>
            </a:r>
            <a:endParaRPr lang="en-US" sz="1300" dirty="0"/>
          </a:p>
        </p:txBody>
      </p:sp>
      <p:sp>
        <p:nvSpPr>
          <p:cNvPr id="9" name="Text 6"/>
          <p:cNvSpPr/>
          <p:nvPr/>
        </p:nvSpPr>
        <p:spPr>
          <a:xfrm>
            <a:off x="502920" y="2697480"/>
            <a:ext cx="2468880" cy="1645920"/>
          </a:xfrm>
          <a:prstGeom prst="rect">
            <a:avLst/>
          </a:prstGeom>
          <a:noFill/>
          <a:ln/>
        </p:spPr>
        <p:txBody>
          <a:bodyPr wrap="square" rtlCol="0" anchor="ctr"/>
          <a:lstStyle/>
          <a:p>
            <a:pPr algn="ctr" indent="0" marL="0">
              <a:buNone/>
            </a:pPr>
            <a:r>
              <a:rPr lang="en-US" sz="1100" dirty="0">
                <a:solidFill>
                  <a:srgbClr val="F0E6FF"/>
                </a:solidFill>
              </a:rPr>
              <a:t>Any user adds a café/park to the map. It's grey — no tribe owns it.</a:t>
            </a:r>
            <a:endParaRPr lang="en-US" sz="1100" dirty="0"/>
          </a:p>
        </p:txBody>
      </p:sp>
      <p:sp>
        <p:nvSpPr>
          <p:cNvPr id="10" name="Shape 7"/>
          <p:cNvSpPr/>
          <p:nvPr/>
        </p:nvSpPr>
        <p:spPr>
          <a:xfrm>
            <a:off x="3291840" y="1508760"/>
            <a:ext cx="2743200" cy="3200400"/>
          </a:xfrm>
          <a:prstGeom prst="rect">
            <a:avLst/>
          </a:prstGeom>
          <a:solidFill>
            <a:srgbClr val="2A1547"/>
          </a:solidFill>
          <a:ln w="25400">
            <a:solidFill>
              <a:srgbClr val="C77DFF"/>
            </a:solidFill>
            <a:prstDash val="solid"/>
          </a:ln>
        </p:spPr>
      </p:sp>
      <p:pic>
        <p:nvPicPr>
          <p:cNvPr id="11" name="Image 1" descr="preencoded.png">    </p:cNvPr>
          <p:cNvPicPr>
            <a:picLocks noChangeAspect="1"/>
          </p:cNvPicPr>
          <p:nvPr/>
        </p:nvPicPr>
        <p:blipFill>
          <a:blip r:embed="rId2"/>
          <a:stretch>
            <a:fillRect/>
          </a:stretch>
        </p:blipFill>
        <p:spPr>
          <a:xfrm>
            <a:off x="4434840" y="1691640"/>
            <a:ext cx="457200" cy="457200"/>
          </a:xfrm>
          <a:prstGeom prst="rect">
            <a:avLst/>
          </a:prstGeom>
        </p:spPr>
      </p:pic>
      <p:sp>
        <p:nvSpPr>
          <p:cNvPr id="12" name="Text 8"/>
          <p:cNvSpPr/>
          <p:nvPr/>
        </p:nvSpPr>
        <p:spPr>
          <a:xfrm>
            <a:off x="3383280" y="2194560"/>
            <a:ext cx="2560320" cy="457200"/>
          </a:xfrm>
          <a:prstGeom prst="rect">
            <a:avLst/>
          </a:prstGeom>
          <a:noFill/>
          <a:ln/>
        </p:spPr>
        <p:txBody>
          <a:bodyPr wrap="square" rtlCol="0" anchor="ctr"/>
          <a:lstStyle/>
          <a:p>
            <a:pPr algn="ctr" indent="0" marL="0">
              <a:buNone/>
            </a:pPr>
            <a:r>
              <a:rPr lang="en-US" sz="1300" b="1" dirty="0">
                <a:solidFill>
                  <a:srgbClr val="FFFFFF"/>
                </a:solidFill>
              </a:rPr>
              <a:t>2. Claim Initiated</a:t>
            </a:r>
            <a:endParaRPr lang="en-US" sz="1300" dirty="0"/>
          </a:p>
        </p:txBody>
      </p:sp>
      <p:sp>
        <p:nvSpPr>
          <p:cNvPr id="13" name="Text 9"/>
          <p:cNvSpPr/>
          <p:nvPr/>
        </p:nvSpPr>
        <p:spPr>
          <a:xfrm>
            <a:off x="3429000" y="2697480"/>
            <a:ext cx="2468880" cy="1645920"/>
          </a:xfrm>
          <a:prstGeom prst="rect">
            <a:avLst/>
          </a:prstGeom>
          <a:noFill/>
          <a:ln/>
        </p:spPr>
        <p:txBody>
          <a:bodyPr wrap="square" rtlCol="0" anchor="ctr"/>
          <a:lstStyle/>
          <a:p>
            <a:pPr algn="ctr" indent="0" marL="0">
              <a:buNone/>
            </a:pPr>
            <a:r>
              <a:rPr lang="en-US" sz="1100" dirty="0">
                <a:solidFill>
                  <a:srgbClr val="F0E6FF"/>
                </a:solidFill>
              </a:rPr>
              <a:t>User taps 'Claim for my Tribe'. A Claim record is created in the database linking Tribe ↔ Place.</a:t>
            </a:r>
            <a:endParaRPr lang="en-US" sz="1100" dirty="0"/>
          </a:p>
        </p:txBody>
      </p:sp>
      <p:sp>
        <p:nvSpPr>
          <p:cNvPr id="14" name="Shape 10"/>
          <p:cNvSpPr/>
          <p:nvPr/>
        </p:nvSpPr>
        <p:spPr>
          <a:xfrm>
            <a:off x="6217920" y="1508760"/>
            <a:ext cx="2743200" cy="3200400"/>
          </a:xfrm>
          <a:prstGeom prst="rect">
            <a:avLst/>
          </a:prstGeom>
          <a:solidFill>
            <a:srgbClr val="2A1547"/>
          </a:solidFill>
          <a:ln w="25400">
            <a:solidFill>
              <a:srgbClr val="F59E0B"/>
            </a:solidFill>
            <a:prstDash val="solid"/>
          </a:ln>
        </p:spPr>
      </p:sp>
      <p:pic>
        <p:nvPicPr>
          <p:cNvPr id="15" name="Image 2" descr="preencoded.png">    </p:cNvPr>
          <p:cNvPicPr>
            <a:picLocks noChangeAspect="1"/>
          </p:cNvPicPr>
          <p:nvPr/>
        </p:nvPicPr>
        <p:blipFill>
          <a:blip r:embed="rId3"/>
          <a:stretch>
            <a:fillRect/>
          </a:stretch>
        </p:blipFill>
        <p:spPr>
          <a:xfrm>
            <a:off x="7360920" y="1691640"/>
            <a:ext cx="457200" cy="457200"/>
          </a:xfrm>
          <a:prstGeom prst="rect">
            <a:avLst/>
          </a:prstGeom>
        </p:spPr>
      </p:pic>
      <p:sp>
        <p:nvSpPr>
          <p:cNvPr id="16" name="Text 11"/>
          <p:cNvSpPr/>
          <p:nvPr/>
        </p:nvSpPr>
        <p:spPr>
          <a:xfrm>
            <a:off x="6309360" y="2194560"/>
            <a:ext cx="2560320" cy="457200"/>
          </a:xfrm>
          <a:prstGeom prst="rect">
            <a:avLst/>
          </a:prstGeom>
          <a:noFill/>
          <a:ln/>
        </p:spPr>
        <p:txBody>
          <a:bodyPr wrap="square" rtlCol="0" anchor="ctr"/>
          <a:lstStyle/>
          <a:p>
            <a:pPr algn="ctr" indent="0" marL="0">
              <a:buNone/>
            </a:pPr>
            <a:r>
              <a:rPr lang="en-US" sz="1300" b="1" dirty="0">
                <a:solidFill>
                  <a:srgbClr val="FFFFFF"/>
                </a:solidFill>
              </a:rPr>
              <a:t>3. Place Claimed ✓</a:t>
            </a:r>
            <a:endParaRPr lang="en-US" sz="1300" dirty="0"/>
          </a:p>
        </p:txBody>
      </p:sp>
      <p:sp>
        <p:nvSpPr>
          <p:cNvPr id="17" name="Text 12"/>
          <p:cNvSpPr/>
          <p:nvPr/>
        </p:nvSpPr>
        <p:spPr>
          <a:xfrm>
            <a:off x="6355080" y="2697480"/>
            <a:ext cx="2468880" cy="1645920"/>
          </a:xfrm>
          <a:prstGeom prst="rect">
            <a:avLst/>
          </a:prstGeom>
          <a:noFill/>
          <a:ln/>
        </p:spPr>
        <p:txBody>
          <a:bodyPr wrap="square" rtlCol="0" anchor="ctr"/>
          <a:lstStyle/>
          <a:p>
            <a:pPr algn="ctr" indent="0" marL="0">
              <a:buNone/>
            </a:pPr>
            <a:r>
              <a:rPr lang="en-US" sz="1100" dirty="0">
                <a:solidFill>
                  <a:srgbClr val="F0E6FF"/>
                </a:solidFill>
              </a:rPr>
              <a:t>Place pin turns gold with a shield icon. No other tribe can claim it unless it's released.</a:t>
            </a:r>
            <a:endParaRPr lang="en-US" sz="1100" dirty="0"/>
          </a:p>
        </p:txBody>
      </p:sp>
      <p:sp>
        <p:nvSpPr>
          <p:cNvPr id="18" name="Text 13"/>
          <p:cNvSpPr/>
          <p:nvPr/>
        </p:nvSpPr>
        <p:spPr>
          <a:xfrm>
            <a:off x="2926080" y="2743200"/>
            <a:ext cx="365760" cy="365760"/>
          </a:xfrm>
          <a:prstGeom prst="rect">
            <a:avLst/>
          </a:prstGeom>
          <a:noFill/>
          <a:ln/>
        </p:spPr>
        <p:txBody>
          <a:bodyPr wrap="square" rtlCol="0" anchor="ctr"/>
          <a:lstStyle/>
          <a:p>
            <a:pPr algn="ctr" indent="0" marL="0">
              <a:buNone/>
            </a:pPr>
            <a:r>
              <a:rPr lang="en-US" sz="2200" dirty="0">
                <a:solidFill>
                  <a:srgbClr val="F59E0B"/>
                </a:solidFill>
              </a:rPr>
              <a:t>→</a:t>
            </a:r>
            <a:endParaRPr lang="en-US" sz="2200" dirty="0"/>
          </a:p>
        </p:txBody>
      </p:sp>
      <p:sp>
        <p:nvSpPr>
          <p:cNvPr id="19" name="Text 14"/>
          <p:cNvSpPr/>
          <p:nvPr/>
        </p:nvSpPr>
        <p:spPr>
          <a:xfrm>
            <a:off x="5852160" y="2743200"/>
            <a:ext cx="365760" cy="365760"/>
          </a:xfrm>
          <a:prstGeom prst="rect">
            <a:avLst/>
          </a:prstGeom>
          <a:noFill/>
          <a:ln/>
        </p:spPr>
        <p:txBody>
          <a:bodyPr wrap="square" rtlCol="0" anchor="ctr"/>
          <a:lstStyle/>
          <a:p>
            <a:pPr algn="ctr" indent="0" marL="0">
              <a:buNone/>
            </a:pPr>
            <a:r>
              <a:rPr lang="en-US" sz="2200" dirty="0">
                <a:solidFill>
                  <a:srgbClr val="F59E0B"/>
                </a:solidFill>
              </a:rPr>
              <a:t>→</a:t>
            </a:r>
            <a:endParaRPr lang="en-US" sz="2200" dirty="0"/>
          </a:p>
        </p:txBody>
      </p:sp>
      <p:sp>
        <p:nvSpPr>
          <p:cNvPr id="20" name="Shape 15"/>
          <p:cNvSpPr/>
          <p:nvPr/>
        </p:nvSpPr>
        <p:spPr>
          <a:xfrm>
            <a:off x="365760" y="4709160"/>
            <a:ext cx="8412480" cy="292608"/>
          </a:xfrm>
          <a:prstGeom prst="rect">
            <a:avLst/>
          </a:prstGeom>
          <a:solidFill>
            <a:srgbClr val="7B2FBE"/>
          </a:solidFill>
          <a:ln/>
        </p:spPr>
      </p:sp>
      <p:sp>
        <p:nvSpPr>
          <p:cNvPr id="21" name="Text 16"/>
          <p:cNvSpPr/>
          <p:nvPr/>
        </p:nvSpPr>
        <p:spPr>
          <a:xfrm>
            <a:off x="457200" y="4709160"/>
            <a:ext cx="8229600" cy="292608"/>
          </a:xfrm>
          <a:prstGeom prst="rect">
            <a:avLst/>
          </a:prstGeom>
          <a:noFill/>
          <a:ln/>
        </p:spPr>
        <p:txBody>
          <a:bodyPr wrap="square" lIns="0" tIns="0" rIns="0" bIns="0" rtlCol="0" anchor="ctr"/>
          <a:lstStyle/>
          <a:p>
            <a:pPr indent="0" marL="0">
              <a:buNone/>
            </a:pPr>
            <a:r>
              <a:rPr lang="en-US" sz="1100" dirty="0">
                <a:solidFill>
                  <a:srgbClr val="FFFFFF"/>
                </a:solidFill>
              </a:rPr>
              <a:t>⚠  Business Rule: A claimed Place cannot be claimed again unless the current owner explicitly releases it.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JOURNEY</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1: Onboarding &amp; Discovery</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first 60 seconds that define retention</a:t>
            </a:r>
            <a:endParaRPr lang="en-US" sz="1400" dirty="0"/>
          </a:p>
        </p:txBody>
      </p:sp>
      <p:sp>
        <p:nvSpPr>
          <p:cNvPr id="6" name="Shape 4"/>
          <p:cNvSpPr/>
          <p:nvPr/>
        </p:nvSpPr>
        <p:spPr>
          <a:xfrm>
            <a:off x="365760" y="1463040"/>
            <a:ext cx="1463040" cy="2926080"/>
          </a:xfrm>
          <a:prstGeom prst="rect">
            <a:avLst>
              <a:gd name="adj" fmla="val 3125"/>
            </a:avLst>
          </a:prstGeom>
          <a:solidFill>
            <a:srgbClr val="0D0D1A"/>
          </a:solidFill>
          <a:ln w="25400">
            <a:solidFill>
              <a:srgbClr val="C77DFF"/>
            </a:solidFill>
            <a:prstDash val="solid"/>
          </a:ln>
        </p:spPr>
      </p:sp>
      <p:sp>
        <p:nvSpPr>
          <p:cNvPr id="7" name="Text 5"/>
          <p:cNvSpPr/>
          <p:nvPr/>
        </p:nvSpPr>
        <p:spPr>
          <a:xfrm>
            <a:off x="365760" y="1508760"/>
            <a:ext cx="1463040" cy="320040"/>
          </a:xfrm>
          <a:prstGeom prst="rect">
            <a:avLst/>
          </a:prstGeom>
          <a:noFill/>
          <a:ln/>
        </p:spPr>
        <p:txBody>
          <a:bodyPr wrap="square" rtlCol="0" anchor="ctr"/>
          <a:lstStyle/>
          <a:p>
            <a:pPr algn="ctr" indent="0" marL="0">
              <a:buNone/>
            </a:pPr>
            <a:r>
              <a:rPr lang="en-US" sz="800" b="1" dirty="0">
                <a:solidFill>
                  <a:srgbClr val="06B6D4"/>
                </a:solidFill>
              </a:rPr>
              <a:t>Splash Screen</a:t>
            </a:r>
            <a:endParaRPr lang="en-US" sz="800" dirty="0"/>
          </a:p>
        </p:txBody>
      </p:sp>
      <p:sp>
        <p:nvSpPr>
          <p:cNvPr id="8" name="Text 6"/>
          <p:cNvSpPr/>
          <p:nvPr/>
        </p:nvSpPr>
        <p:spPr>
          <a:xfrm>
            <a:off x="411480" y="1874520"/>
            <a:ext cx="1371600" cy="2194560"/>
          </a:xfrm>
          <a:prstGeom prst="rect">
            <a:avLst/>
          </a:prstGeom>
          <a:noFill/>
          <a:ln/>
        </p:spPr>
        <p:txBody>
          <a:bodyPr wrap="square" rtlCol="0" anchor="t"/>
          <a:lstStyle/>
          <a:p>
            <a:pPr algn="ctr" indent="0" marL="0">
              <a:buNone/>
            </a:pPr>
            <a:r>
              <a:rPr lang="en-US" sz="900" dirty="0">
                <a:solidFill>
                  <a:srgbClr val="F0E6FF"/>
                </a:solidFill>
              </a:rPr>
              <a:t>Enable Location</a:t>
            </a:r>
            <a:endParaRPr lang="en-US" sz="900" dirty="0"/>
          </a:p>
          <a:p>
            <a:pPr algn="ctr" indent="0" marL="0">
              <a:buNone/>
            </a:pPr>
            <a:r>
              <a:rPr lang="en-US" sz="900" dirty="0">
                <a:solidFill>
                  <a:srgbClr val="F0E6FF"/>
                </a:solidFill>
              </a:rPr>
              <a:t>permission prompt.</a:t>
            </a:r>
            <a:endParaRPr lang="en-US" sz="900" dirty="0"/>
          </a:p>
          <a:p>
            <a:pPr algn="ctr" indent="0" marL="0">
              <a:buNone/>
            </a:pPr>
            <a:r>
              <a:rPr lang="en-US" sz="900" dirty="0">
                <a:solidFill>
                  <a:srgbClr val="F0E6FF"/>
                </a:solidFill>
              </a:rPr>
              <a:t>Mandatory to proceed.</a:t>
            </a:r>
            <a:endParaRPr lang="en-US" sz="900" dirty="0"/>
          </a:p>
        </p:txBody>
      </p:sp>
      <p:sp>
        <p:nvSpPr>
          <p:cNvPr id="9" name="Text 7"/>
          <p:cNvSpPr/>
          <p:nvPr/>
        </p:nvSpPr>
        <p:spPr>
          <a:xfrm>
            <a:off x="1847088" y="2697480"/>
            <a:ext cx="320040" cy="365760"/>
          </a:xfrm>
          <a:prstGeom prst="rect">
            <a:avLst/>
          </a:prstGeom>
          <a:noFill/>
          <a:ln/>
        </p:spPr>
        <p:txBody>
          <a:bodyPr wrap="square" rtlCol="0" anchor="ctr"/>
          <a:lstStyle/>
          <a:p>
            <a:pPr algn="ctr" indent="0" marL="0">
              <a:buNone/>
            </a:pPr>
            <a:r>
              <a:rPr lang="en-US" sz="1800" dirty="0">
                <a:solidFill>
                  <a:srgbClr val="F59E0B"/>
                </a:solidFill>
              </a:rPr>
              <a:t>→</a:t>
            </a:r>
            <a:endParaRPr lang="en-US" sz="1800" dirty="0"/>
          </a:p>
        </p:txBody>
      </p:sp>
      <p:sp>
        <p:nvSpPr>
          <p:cNvPr id="10" name="Shape 8"/>
          <p:cNvSpPr/>
          <p:nvPr/>
        </p:nvSpPr>
        <p:spPr>
          <a:xfrm>
            <a:off x="2743200" y="1463040"/>
            <a:ext cx="1463040" cy="2926080"/>
          </a:xfrm>
          <a:prstGeom prst="rect">
            <a:avLst>
              <a:gd name="adj" fmla="val 3125"/>
            </a:avLst>
          </a:prstGeom>
          <a:solidFill>
            <a:srgbClr val="0D0D1A"/>
          </a:solidFill>
          <a:ln w="25400">
            <a:solidFill>
              <a:srgbClr val="C77DFF"/>
            </a:solidFill>
            <a:prstDash val="solid"/>
          </a:ln>
        </p:spPr>
      </p:sp>
      <p:sp>
        <p:nvSpPr>
          <p:cNvPr id="11" name="Text 9"/>
          <p:cNvSpPr/>
          <p:nvPr/>
        </p:nvSpPr>
        <p:spPr>
          <a:xfrm>
            <a:off x="2743200" y="1508760"/>
            <a:ext cx="1463040" cy="320040"/>
          </a:xfrm>
          <a:prstGeom prst="rect">
            <a:avLst/>
          </a:prstGeom>
          <a:noFill/>
          <a:ln/>
        </p:spPr>
        <p:txBody>
          <a:bodyPr wrap="square" rtlCol="0" anchor="ctr"/>
          <a:lstStyle/>
          <a:p>
            <a:pPr algn="ctr" indent="0" marL="0">
              <a:buNone/>
            </a:pPr>
            <a:r>
              <a:rPr lang="en-US" sz="800" b="1" dirty="0">
                <a:solidFill>
                  <a:srgbClr val="06B6D4"/>
                </a:solidFill>
              </a:rPr>
              <a:t>Map Welcome</a:t>
            </a:r>
            <a:endParaRPr lang="en-US" sz="800" dirty="0"/>
          </a:p>
        </p:txBody>
      </p:sp>
      <p:sp>
        <p:nvSpPr>
          <p:cNvPr id="12" name="Text 10"/>
          <p:cNvSpPr/>
          <p:nvPr/>
        </p:nvSpPr>
        <p:spPr>
          <a:xfrm>
            <a:off x="2788920" y="1874520"/>
            <a:ext cx="1371600" cy="2194560"/>
          </a:xfrm>
          <a:prstGeom prst="rect">
            <a:avLst/>
          </a:prstGeom>
          <a:noFill/>
          <a:ln/>
        </p:spPr>
        <p:txBody>
          <a:bodyPr wrap="square" rtlCol="0" anchor="t"/>
          <a:lstStyle/>
          <a:p>
            <a:pPr algn="ctr" indent="0" marL="0">
              <a:buNone/>
            </a:pPr>
            <a:r>
              <a:rPr lang="en-US" sz="900" dirty="0">
                <a:solidFill>
                  <a:srgbClr val="F0E6FF"/>
                </a:solidFill>
              </a:rPr>
              <a:t>3 Tribe cards float</a:t>
            </a:r>
            <a:endParaRPr lang="en-US" sz="900" dirty="0"/>
          </a:p>
          <a:p>
            <a:pPr algn="ctr" indent="0" marL="0">
              <a:buNone/>
            </a:pPr>
            <a:r>
              <a:rPr lang="en-US" sz="900" dirty="0">
                <a:solidFill>
                  <a:srgbClr val="F0E6FF"/>
                </a:solidFill>
              </a:rPr>
              <a:t>near user's blue dot.</a:t>
            </a:r>
            <a:endParaRPr lang="en-US" sz="900" dirty="0"/>
          </a:p>
          <a:p>
            <a:pPr algn="ctr" indent="0" marL="0">
              <a:buNone/>
            </a:pPr>
            <a:r>
              <a:rPr lang="en-US" sz="900" dirty="0">
                <a:solidFill>
                  <a:srgbClr val="F0E6FF"/>
                </a:solidFill>
              </a:rPr>
              <a:t>Auto-detected by GPS.</a:t>
            </a:r>
            <a:endParaRPr lang="en-US" sz="900" dirty="0"/>
          </a:p>
        </p:txBody>
      </p:sp>
      <p:sp>
        <p:nvSpPr>
          <p:cNvPr id="13" name="Text 11"/>
          <p:cNvSpPr/>
          <p:nvPr/>
        </p:nvSpPr>
        <p:spPr>
          <a:xfrm>
            <a:off x="4224528" y="2697480"/>
            <a:ext cx="320040" cy="365760"/>
          </a:xfrm>
          <a:prstGeom prst="rect">
            <a:avLst/>
          </a:prstGeom>
          <a:noFill/>
          <a:ln/>
        </p:spPr>
        <p:txBody>
          <a:bodyPr wrap="square" rtlCol="0" anchor="ctr"/>
          <a:lstStyle/>
          <a:p>
            <a:pPr algn="ctr" indent="0" marL="0">
              <a:buNone/>
            </a:pPr>
            <a:r>
              <a:rPr lang="en-US" sz="1800" dirty="0">
                <a:solidFill>
                  <a:srgbClr val="F59E0B"/>
                </a:solidFill>
              </a:rPr>
              <a:t>→</a:t>
            </a:r>
            <a:endParaRPr lang="en-US" sz="1800" dirty="0"/>
          </a:p>
        </p:txBody>
      </p:sp>
      <p:sp>
        <p:nvSpPr>
          <p:cNvPr id="14" name="Shape 12"/>
          <p:cNvSpPr/>
          <p:nvPr/>
        </p:nvSpPr>
        <p:spPr>
          <a:xfrm>
            <a:off x="5120640" y="1463040"/>
            <a:ext cx="1463040" cy="2926080"/>
          </a:xfrm>
          <a:prstGeom prst="rect">
            <a:avLst>
              <a:gd name="adj" fmla="val 3125"/>
            </a:avLst>
          </a:prstGeom>
          <a:solidFill>
            <a:srgbClr val="0D0D1A"/>
          </a:solidFill>
          <a:ln w="25400">
            <a:solidFill>
              <a:srgbClr val="C77DFF"/>
            </a:solidFill>
            <a:prstDash val="solid"/>
          </a:ln>
        </p:spPr>
      </p:sp>
      <p:sp>
        <p:nvSpPr>
          <p:cNvPr id="15" name="Text 13"/>
          <p:cNvSpPr/>
          <p:nvPr/>
        </p:nvSpPr>
        <p:spPr>
          <a:xfrm>
            <a:off x="5120640" y="1508760"/>
            <a:ext cx="1463040" cy="320040"/>
          </a:xfrm>
          <a:prstGeom prst="rect">
            <a:avLst/>
          </a:prstGeom>
          <a:noFill/>
          <a:ln/>
        </p:spPr>
        <p:txBody>
          <a:bodyPr wrap="square" rtlCol="0" anchor="ctr"/>
          <a:lstStyle/>
          <a:p>
            <a:pPr algn="ctr" indent="0" marL="0">
              <a:buNone/>
            </a:pPr>
            <a:r>
              <a:rPr lang="en-US" sz="800" b="1" dirty="0">
                <a:solidFill>
                  <a:srgbClr val="06B6D4"/>
                </a:solidFill>
              </a:rPr>
              <a:t>Tribe Suggestions</a:t>
            </a:r>
            <a:endParaRPr lang="en-US" sz="800" dirty="0"/>
          </a:p>
        </p:txBody>
      </p:sp>
      <p:sp>
        <p:nvSpPr>
          <p:cNvPr id="16" name="Text 14"/>
          <p:cNvSpPr/>
          <p:nvPr/>
        </p:nvSpPr>
        <p:spPr>
          <a:xfrm>
            <a:off x="5166360" y="1874520"/>
            <a:ext cx="1371600" cy="2194560"/>
          </a:xfrm>
          <a:prstGeom prst="rect">
            <a:avLst/>
          </a:prstGeom>
          <a:noFill/>
          <a:ln/>
        </p:spPr>
        <p:txBody>
          <a:bodyPr wrap="square" rtlCol="0" anchor="t"/>
          <a:lstStyle/>
          <a:p>
            <a:pPr algn="ctr" indent="0" marL="0">
              <a:buNone/>
            </a:pPr>
            <a:r>
              <a:rPr lang="en-US" sz="900" dirty="0">
                <a:solidFill>
                  <a:srgbClr val="F0E6FF"/>
                </a:solidFill>
              </a:rPr>
              <a:t>Ranked by proximity</a:t>
            </a:r>
            <a:endParaRPr lang="en-US" sz="900" dirty="0"/>
          </a:p>
          <a:p>
            <a:pPr algn="ctr" indent="0" marL="0">
              <a:buNone/>
            </a:pPr>
            <a:r>
              <a:rPr lang="en-US" sz="900" dirty="0">
                <a:solidFill>
                  <a:srgbClr val="F0E6FF"/>
                </a:solidFill>
              </a:rPr>
              <a:t>&amp; interest matching.</a:t>
            </a:r>
            <a:endParaRPr lang="en-US" sz="900" dirty="0"/>
          </a:p>
          <a:p>
            <a:pPr algn="ctr" indent="0" marL="0">
              <a:buNone/>
            </a:pPr>
            <a:r>
              <a:rPr lang="en-US" sz="900" dirty="0">
                <a:solidFill>
                  <a:srgbClr val="F0E6FF"/>
                </a:solidFill>
              </a:rPr>
              <a:t>One-tap to join.</a:t>
            </a:r>
            <a:endParaRPr lang="en-US" sz="900" dirty="0"/>
          </a:p>
        </p:txBody>
      </p:sp>
      <p:sp>
        <p:nvSpPr>
          <p:cNvPr id="17" name="Text 15"/>
          <p:cNvSpPr/>
          <p:nvPr/>
        </p:nvSpPr>
        <p:spPr>
          <a:xfrm>
            <a:off x="6601968" y="2697480"/>
            <a:ext cx="320040" cy="365760"/>
          </a:xfrm>
          <a:prstGeom prst="rect">
            <a:avLst/>
          </a:prstGeom>
          <a:noFill/>
          <a:ln/>
        </p:spPr>
        <p:txBody>
          <a:bodyPr wrap="square" rtlCol="0" anchor="ctr"/>
          <a:lstStyle/>
          <a:p>
            <a:pPr algn="ctr" indent="0" marL="0">
              <a:buNone/>
            </a:pPr>
            <a:r>
              <a:rPr lang="en-US" sz="1800" dirty="0">
                <a:solidFill>
                  <a:srgbClr val="F59E0B"/>
                </a:solidFill>
              </a:rPr>
              <a:t>→</a:t>
            </a:r>
            <a:endParaRPr lang="en-US" sz="1800" dirty="0"/>
          </a:p>
        </p:txBody>
      </p:sp>
      <p:sp>
        <p:nvSpPr>
          <p:cNvPr id="18" name="Shape 16"/>
          <p:cNvSpPr/>
          <p:nvPr/>
        </p:nvSpPr>
        <p:spPr>
          <a:xfrm>
            <a:off x="7498080" y="1463040"/>
            <a:ext cx="1463040" cy="2926080"/>
          </a:xfrm>
          <a:prstGeom prst="rect">
            <a:avLst>
              <a:gd name="adj" fmla="val 3125"/>
            </a:avLst>
          </a:prstGeom>
          <a:solidFill>
            <a:srgbClr val="0D0D1A"/>
          </a:solidFill>
          <a:ln w="25400">
            <a:solidFill>
              <a:srgbClr val="C77DFF"/>
            </a:solidFill>
            <a:prstDash val="solid"/>
          </a:ln>
        </p:spPr>
      </p:sp>
      <p:sp>
        <p:nvSpPr>
          <p:cNvPr id="19" name="Text 17"/>
          <p:cNvSpPr/>
          <p:nvPr/>
        </p:nvSpPr>
        <p:spPr>
          <a:xfrm>
            <a:off x="7498080" y="1508760"/>
            <a:ext cx="1463040" cy="320040"/>
          </a:xfrm>
          <a:prstGeom prst="rect">
            <a:avLst/>
          </a:prstGeom>
          <a:noFill/>
          <a:ln/>
        </p:spPr>
        <p:txBody>
          <a:bodyPr wrap="square" rtlCol="0" anchor="ctr"/>
          <a:lstStyle/>
          <a:p>
            <a:pPr algn="ctr" indent="0" marL="0">
              <a:buNone/>
            </a:pPr>
            <a:r>
              <a:rPr lang="en-US" sz="800" b="1" dirty="0">
                <a:solidFill>
                  <a:srgbClr val="06B6D4"/>
                </a:solidFill>
              </a:rPr>
              <a:t>You're In!</a:t>
            </a:r>
            <a:endParaRPr lang="en-US" sz="800" dirty="0"/>
          </a:p>
        </p:txBody>
      </p:sp>
      <p:sp>
        <p:nvSpPr>
          <p:cNvPr id="20" name="Text 18"/>
          <p:cNvSpPr/>
          <p:nvPr/>
        </p:nvSpPr>
        <p:spPr>
          <a:xfrm>
            <a:off x="7543800" y="1874520"/>
            <a:ext cx="1371600" cy="2194560"/>
          </a:xfrm>
          <a:prstGeom prst="rect">
            <a:avLst/>
          </a:prstGeom>
          <a:noFill/>
          <a:ln/>
        </p:spPr>
        <p:txBody>
          <a:bodyPr wrap="square" rtlCol="0" anchor="t"/>
          <a:lstStyle/>
          <a:p>
            <a:pPr algn="ctr" indent="0" marL="0">
              <a:buNone/>
            </a:pPr>
            <a:r>
              <a:rPr lang="en-US" sz="900" dirty="0">
                <a:solidFill>
                  <a:srgbClr val="F0E6FF"/>
                </a:solidFill>
              </a:rPr>
              <a:t>Feed populates.</a:t>
            </a:r>
            <a:endParaRPr lang="en-US" sz="900" dirty="0"/>
          </a:p>
          <a:p>
            <a:pPr algn="ctr" indent="0" marL="0">
              <a:buNone/>
            </a:pPr>
            <a:r>
              <a:rPr lang="en-US" sz="900" dirty="0">
                <a:solidFill>
                  <a:srgbClr val="F0E6FF"/>
                </a:solidFill>
              </a:rPr>
              <a:t>Map shows territory.</a:t>
            </a:r>
            <a:endParaRPr lang="en-US" sz="900" dirty="0"/>
          </a:p>
          <a:p>
            <a:pPr algn="ctr" indent="0" marL="0">
              <a:buNone/>
            </a:pPr>
            <a:r>
              <a:rPr lang="en-US" sz="900" dirty="0">
                <a:solidFill>
                  <a:srgbClr val="F0E6FF"/>
                </a:solidFill>
              </a:rPr>
              <a:t>Chat unlocks.</a:t>
            </a:r>
            <a:endParaRPr lang="en-US" sz="900" dirty="0"/>
          </a:p>
        </p:txBody>
      </p:sp>
      <p:sp>
        <p:nvSpPr>
          <p:cNvPr id="21" name="Shape 19"/>
          <p:cNvSpPr/>
          <p:nvPr/>
        </p:nvSpPr>
        <p:spPr>
          <a:xfrm>
            <a:off x="365760" y="4617720"/>
            <a:ext cx="8412480" cy="365760"/>
          </a:xfrm>
          <a:prstGeom prst="rect">
            <a:avLst/>
          </a:prstGeom>
          <a:solidFill>
            <a:srgbClr val="2A1547"/>
          </a:solidFill>
          <a:ln w="12700">
            <a:solidFill>
              <a:srgbClr val="06B6D4"/>
            </a:solidFill>
            <a:prstDash val="solid"/>
          </a:ln>
        </p:spPr>
      </p:sp>
      <p:sp>
        <p:nvSpPr>
          <p:cNvPr id="22" name="Text 20"/>
          <p:cNvSpPr/>
          <p:nvPr/>
        </p:nvSpPr>
        <p:spPr>
          <a:xfrm>
            <a:off x="502920" y="4636008"/>
            <a:ext cx="8229600" cy="329184"/>
          </a:xfrm>
          <a:prstGeom prst="rect">
            <a:avLst/>
          </a:prstGeom>
          <a:noFill/>
          <a:ln/>
        </p:spPr>
        <p:txBody>
          <a:bodyPr wrap="square" rtlCol="0" anchor="ctr"/>
          <a:lstStyle/>
          <a:p>
            <a:pPr indent="0" marL="0">
              <a:buNone/>
            </a:pPr>
            <a:r>
              <a:rPr lang="en-US" sz="1100" dirty="0">
                <a:solidFill>
                  <a:srgbClr val="06B6D4"/>
                </a:solidFill>
              </a:rPr>
              <a:t>💡  Day-1 Experience: We never show a global feed. Users immediately see '3 Tribes within 500m of you'.</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JOURNEY</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2: Joining a Tribe</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moment everything changes for the user</a:t>
            </a:r>
            <a:endParaRPr lang="en-US" sz="1400" dirty="0"/>
          </a:p>
        </p:txBody>
      </p:sp>
      <p:sp>
        <p:nvSpPr>
          <p:cNvPr id="6" name="Shape 4"/>
          <p:cNvSpPr/>
          <p:nvPr/>
        </p:nvSpPr>
        <p:spPr>
          <a:xfrm>
            <a:off x="365760" y="1463040"/>
            <a:ext cx="3840480" cy="3383280"/>
          </a:xfrm>
          <a:prstGeom prst="rect">
            <a:avLst/>
          </a:prstGeom>
          <a:solidFill>
            <a:srgbClr val="100820"/>
          </a:solidFill>
          <a:ln w="12700">
            <a:solidFill>
              <a:srgbClr val="94A3B8"/>
            </a:solidFill>
            <a:prstDash val="solid"/>
          </a:ln>
        </p:spPr>
      </p:sp>
      <p:sp>
        <p:nvSpPr>
          <p:cNvPr id="7" name="Text 5"/>
          <p:cNvSpPr/>
          <p:nvPr/>
        </p:nvSpPr>
        <p:spPr>
          <a:xfrm>
            <a:off x="457200" y="1508760"/>
            <a:ext cx="3657600" cy="320040"/>
          </a:xfrm>
          <a:prstGeom prst="rect">
            <a:avLst/>
          </a:prstGeom>
          <a:noFill/>
          <a:ln/>
        </p:spPr>
        <p:txBody>
          <a:bodyPr wrap="square" rtlCol="0" anchor="ctr"/>
          <a:lstStyle/>
          <a:p>
            <a:pPr indent="0" marL="0">
              <a:buNone/>
            </a:pPr>
            <a:r>
              <a:rPr lang="en-US" sz="1200" b="1" dirty="0">
                <a:solidFill>
                  <a:srgbClr val="94A3B8"/>
                </a:solidFill>
              </a:rPr>
              <a:t>BEFORE  Joining</a:t>
            </a:r>
            <a:endParaRPr lang="en-US" sz="1200" dirty="0"/>
          </a:p>
        </p:txBody>
      </p:sp>
      <p:sp>
        <p:nvSpPr>
          <p:cNvPr id="8" name="Text 6"/>
          <p:cNvSpPr/>
          <p:nvPr/>
        </p:nvSpPr>
        <p:spPr>
          <a:xfrm>
            <a:off x="502920" y="1920240"/>
            <a:ext cx="3566160" cy="2560320"/>
          </a:xfrm>
          <a:prstGeom prst="rect">
            <a:avLst/>
          </a:prstGeom>
          <a:noFill/>
          <a:ln/>
        </p:spPr>
        <p:txBody>
          <a:bodyPr wrap="square" rtlCol="0" anchor="ctr"/>
          <a:lstStyle/>
          <a:p>
            <a:pPr marL="342900" indent="-342900">
              <a:spcAft>
                <a:spcPts val="1000"/>
              </a:spcAft>
              <a:buSzPct val="100000"/>
              <a:buChar char="•"/>
            </a:pPr>
            <a:r>
              <a:rPr lang="en-US" sz="1200" dirty="0">
                <a:solidFill>
                  <a:srgbClr val="94A3B8"/>
                </a:solidFill>
              </a:rPr>
              <a:t>Empty feed — no local content</a:t>
            </a:r>
            <a:endParaRPr lang="en-US" sz="1200" dirty="0"/>
          </a:p>
          <a:p>
            <a:pPr marL="342900" indent="-342900">
              <a:spcAft>
                <a:spcPts val="1000"/>
              </a:spcAft>
              <a:buSzPct val="100000"/>
              <a:buChar char="•"/>
            </a:pPr>
            <a:r>
              <a:rPr lang="en-US" sz="1200" dirty="0">
                <a:solidFill>
                  <a:srgbClr val="94A3B8"/>
                </a:solidFill>
              </a:rPr>
              <a:t>Map shows grey pins only</a:t>
            </a:r>
            <a:endParaRPr lang="en-US" sz="1200" dirty="0"/>
          </a:p>
          <a:p>
            <a:pPr marL="342900" indent="-342900">
              <a:spcAft>
                <a:spcPts val="1000"/>
              </a:spcAft>
              <a:buSzPct val="100000"/>
              <a:buChar char="•"/>
            </a:pPr>
            <a:r>
              <a:rPr lang="en-US" sz="1200" dirty="0">
                <a:solidFill>
                  <a:srgbClr val="94A3B8"/>
                </a:solidFill>
              </a:rPr>
              <a:t>No chat access</a:t>
            </a:r>
            <a:endParaRPr lang="en-US" sz="1200" dirty="0"/>
          </a:p>
          <a:p>
            <a:pPr marL="342900" indent="-342900">
              <a:spcAft>
                <a:spcPts val="1000"/>
              </a:spcAft>
              <a:buSzPct val="100000"/>
              <a:buChar char="•"/>
            </a:pPr>
            <a:r>
              <a:rPr lang="en-US" sz="1200" dirty="0">
                <a:solidFill>
                  <a:srgbClr val="94A3B8"/>
                </a:solidFill>
              </a:rPr>
              <a:t>No territory visible</a:t>
            </a:r>
            <a:endParaRPr lang="en-US" sz="1200" dirty="0"/>
          </a:p>
        </p:txBody>
      </p:sp>
      <p:sp>
        <p:nvSpPr>
          <p:cNvPr id="9" name="Shape 7"/>
          <p:cNvSpPr/>
          <p:nvPr/>
        </p:nvSpPr>
        <p:spPr>
          <a:xfrm>
            <a:off x="3794760" y="2834640"/>
            <a:ext cx="1554480" cy="502920"/>
          </a:xfrm>
          <a:prstGeom prst="rect">
            <a:avLst/>
          </a:prstGeom>
          <a:solidFill>
            <a:srgbClr val="7B2FBE"/>
          </a:solidFill>
          <a:ln/>
        </p:spPr>
      </p:sp>
      <p:sp>
        <p:nvSpPr>
          <p:cNvPr id="10" name="Text 8"/>
          <p:cNvSpPr/>
          <p:nvPr/>
        </p:nvSpPr>
        <p:spPr>
          <a:xfrm>
            <a:off x="3794760" y="2834640"/>
            <a:ext cx="1554480" cy="502920"/>
          </a:xfrm>
          <a:prstGeom prst="rect">
            <a:avLst/>
          </a:prstGeom>
          <a:noFill/>
          <a:ln/>
        </p:spPr>
        <p:txBody>
          <a:bodyPr wrap="square" rtlCol="0" anchor="ctr"/>
          <a:lstStyle/>
          <a:p>
            <a:pPr algn="ctr" indent="0" marL="0">
              <a:buNone/>
            </a:pPr>
            <a:r>
              <a:rPr lang="en-US" sz="1200" b="1" dirty="0">
                <a:solidFill>
                  <a:srgbClr val="FFFFFF"/>
                </a:solidFill>
              </a:rPr>
              <a:t>JOIN TRIBE</a:t>
            </a:r>
            <a:endParaRPr lang="en-US" sz="1200" dirty="0"/>
          </a:p>
        </p:txBody>
      </p:sp>
      <p:sp>
        <p:nvSpPr>
          <p:cNvPr id="11" name="Text 9"/>
          <p:cNvSpPr/>
          <p:nvPr/>
        </p:nvSpPr>
        <p:spPr>
          <a:xfrm>
            <a:off x="4023360" y="3474720"/>
            <a:ext cx="1097280" cy="365760"/>
          </a:xfrm>
          <a:prstGeom prst="rect">
            <a:avLst/>
          </a:prstGeom>
          <a:noFill/>
          <a:ln/>
        </p:spPr>
        <p:txBody>
          <a:bodyPr wrap="square" rtlCol="0" anchor="ctr"/>
          <a:lstStyle/>
          <a:p>
            <a:pPr algn="ctr" indent="0" marL="0">
              <a:buNone/>
            </a:pPr>
            <a:r>
              <a:rPr lang="en-US" sz="2400" dirty="0">
                <a:solidFill>
                  <a:srgbClr val="F59E0B"/>
                </a:solidFill>
              </a:rPr>
              <a:t>→</a:t>
            </a:r>
            <a:endParaRPr lang="en-US" sz="2400" dirty="0"/>
          </a:p>
        </p:txBody>
      </p:sp>
      <p:sp>
        <p:nvSpPr>
          <p:cNvPr id="12" name="Shape 10"/>
          <p:cNvSpPr/>
          <p:nvPr/>
        </p:nvSpPr>
        <p:spPr>
          <a:xfrm>
            <a:off x="4937760" y="1463040"/>
            <a:ext cx="3840480" cy="3383280"/>
          </a:xfrm>
          <a:prstGeom prst="rect">
            <a:avLst/>
          </a:prstGeom>
          <a:solidFill>
            <a:srgbClr val="0D1F0E"/>
          </a:solidFill>
          <a:ln w="12700">
            <a:solidFill>
              <a:srgbClr val="10B981"/>
            </a:solidFill>
            <a:prstDash val="solid"/>
          </a:ln>
        </p:spPr>
      </p:sp>
      <p:sp>
        <p:nvSpPr>
          <p:cNvPr id="13" name="Text 11"/>
          <p:cNvSpPr/>
          <p:nvPr/>
        </p:nvSpPr>
        <p:spPr>
          <a:xfrm>
            <a:off x="5029200" y="1508760"/>
            <a:ext cx="3657600" cy="320040"/>
          </a:xfrm>
          <a:prstGeom prst="rect">
            <a:avLst/>
          </a:prstGeom>
          <a:noFill/>
          <a:ln/>
        </p:spPr>
        <p:txBody>
          <a:bodyPr wrap="square" rtlCol="0" anchor="ctr"/>
          <a:lstStyle/>
          <a:p>
            <a:pPr indent="0" marL="0">
              <a:buNone/>
            </a:pPr>
            <a:r>
              <a:rPr lang="en-US" sz="1200" b="1" dirty="0">
                <a:solidFill>
                  <a:srgbClr val="10B981"/>
                </a:solidFill>
              </a:rPr>
              <a:t>AFTER  Joining ✓</a:t>
            </a:r>
            <a:endParaRPr lang="en-US" sz="1200" dirty="0"/>
          </a:p>
        </p:txBody>
      </p:sp>
      <p:sp>
        <p:nvSpPr>
          <p:cNvPr id="14" name="Text 12"/>
          <p:cNvSpPr/>
          <p:nvPr/>
        </p:nvSpPr>
        <p:spPr>
          <a:xfrm>
            <a:off x="5074920" y="1920240"/>
            <a:ext cx="3566160" cy="2560320"/>
          </a:xfrm>
          <a:prstGeom prst="rect">
            <a:avLst/>
          </a:prstGeom>
          <a:noFill/>
          <a:ln/>
        </p:spPr>
        <p:txBody>
          <a:bodyPr wrap="square" rtlCol="0" anchor="ctr"/>
          <a:lstStyle/>
          <a:p>
            <a:pPr marL="342900" indent="-342900">
              <a:spcAft>
                <a:spcPts val="1000"/>
              </a:spcAft>
              <a:buSzPct val="100000"/>
              <a:buChar char="•"/>
            </a:pPr>
            <a:r>
              <a:rPr lang="en-US" sz="1200" dirty="0">
                <a:solidFill>
                  <a:srgbClr val="F0E6FF"/>
                </a:solidFill>
              </a:rPr>
              <a:t>Feed fills with hyper-local posts</a:t>
            </a:r>
            <a:endParaRPr lang="en-US" sz="1200" dirty="0"/>
          </a:p>
          <a:p>
            <a:pPr marL="342900" indent="-342900">
              <a:spcAft>
                <a:spcPts val="1000"/>
              </a:spcAft>
              <a:buSzPct val="100000"/>
              <a:buChar char="•"/>
            </a:pPr>
            <a:r>
              <a:rPr lang="en-US" sz="1200" dirty="0">
                <a:solidFill>
                  <a:srgbClr val="F0E6FF"/>
                </a:solidFill>
              </a:rPr>
              <a:t>Map renders tribe's claimed territory</a:t>
            </a:r>
            <a:endParaRPr lang="en-US" sz="1200" dirty="0"/>
          </a:p>
          <a:p>
            <a:pPr marL="342900" indent="-342900">
              <a:spcAft>
                <a:spcPts val="1000"/>
              </a:spcAft>
              <a:buSzPct val="100000"/>
              <a:buChar char="•"/>
            </a:pPr>
            <a:r>
              <a:rPr lang="en-US" sz="1200" dirty="0">
                <a:solidFill>
                  <a:srgbClr val="F0E6FF"/>
                </a:solidFill>
              </a:rPr>
              <a:t>Tribe chat room unlocked</a:t>
            </a:r>
            <a:endParaRPr lang="en-US" sz="1200" dirty="0"/>
          </a:p>
          <a:p>
            <a:pPr marL="342900" indent="-342900">
              <a:spcAft>
                <a:spcPts val="1000"/>
              </a:spcAft>
              <a:buSzPct val="100000"/>
              <a:buChar char="•"/>
            </a:pPr>
            <a:r>
              <a:rPr lang="en-US" sz="1200" dirty="0">
                <a:solidFill>
                  <a:srgbClr val="F0E6FF"/>
                </a:solidFill>
              </a:rPr>
              <a:t>Tribe-only events &amp; places visible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JOURNEY</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3: Creating a New Place</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How users add real-world locations to the map</a:t>
            </a:r>
            <a:endParaRPr lang="en-US" sz="1400" dirty="0"/>
          </a:p>
        </p:txBody>
      </p:sp>
      <p:sp>
        <p:nvSpPr>
          <p:cNvPr id="6" name="Shape 4"/>
          <p:cNvSpPr/>
          <p:nvPr/>
        </p:nvSpPr>
        <p:spPr>
          <a:xfrm>
            <a:off x="1097280" y="1417320"/>
            <a:ext cx="502920" cy="502920"/>
          </a:xfrm>
          <a:prstGeom prst="ellipse">
            <a:avLst/>
          </a:prstGeom>
          <a:solidFill>
            <a:srgbClr val="7B2FBE"/>
          </a:solidFill>
          <a:ln/>
        </p:spPr>
      </p:sp>
      <p:sp>
        <p:nvSpPr>
          <p:cNvPr id="7" name="Text 5"/>
          <p:cNvSpPr/>
          <p:nvPr/>
        </p:nvSpPr>
        <p:spPr>
          <a:xfrm>
            <a:off x="1097280" y="1417320"/>
            <a:ext cx="502920" cy="50292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8" name="Shape 6"/>
          <p:cNvSpPr/>
          <p:nvPr/>
        </p:nvSpPr>
        <p:spPr>
          <a:xfrm>
            <a:off x="320040" y="2011680"/>
            <a:ext cx="2011680" cy="2560320"/>
          </a:xfrm>
          <a:prstGeom prst="rect">
            <a:avLst/>
          </a:prstGeom>
          <a:solidFill>
            <a:srgbClr val="2A1547"/>
          </a:solidFill>
          <a:ln w="12700">
            <a:solidFill>
              <a:srgbClr val="5B21B6"/>
            </a:solidFill>
            <a:prstDash val="solid"/>
          </a:ln>
        </p:spPr>
      </p:sp>
      <p:sp>
        <p:nvSpPr>
          <p:cNvPr id="9" name="Text 7"/>
          <p:cNvSpPr/>
          <p:nvPr/>
        </p:nvSpPr>
        <p:spPr>
          <a:xfrm>
            <a:off x="365760" y="2084832"/>
            <a:ext cx="1920240" cy="411480"/>
          </a:xfrm>
          <a:prstGeom prst="rect">
            <a:avLst/>
          </a:prstGeom>
          <a:noFill/>
          <a:ln/>
        </p:spPr>
        <p:txBody>
          <a:bodyPr wrap="square" rtlCol="0" anchor="ctr"/>
          <a:lstStyle/>
          <a:p>
            <a:pPr algn="ctr" indent="0" marL="0">
              <a:buNone/>
            </a:pPr>
            <a:r>
              <a:rPr lang="en-US" sz="1200" b="1" dirty="0">
                <a:solidFill>
                  <a:srgbClr val="C77DFF"/>
                </a:solidFill>
              </a:rPr>
              <a:t>Long-press Map</a:t>
            </a:r>
            <a:endParaRPr lang="en-US" sz="1200" dirty="0"/>
          </a:p>
        </p:txBody>
      </p:sp>
      <p:sp>
        <p:nvSpPr>
          <p:cNvPr id="10" name="Text 8"/>
          <p:cNvSpPr/>
          <p:nvPr/>
        </p:nvSpPr>
        <p:spPr>
          <a:xfrm>
            <a:off x="411480" y="2542032"/>
            <a:ext cx="1828800" cy="1828800"/>
          </a:xfrm>
          <a:prstGeom prst="rect">
            <a:avLst/>
          </a:prstGeom>
          <a:noFill/>
          <a:ln/>
        </p:spPr>
        <p:txBody>
          <a:bodyPr wrap="square" rtlCol="0" anchor="ctr"/>
          <a:lstStyle/>
          <a:p>
            <a:pPr algn="ctr" indent="0" marL="0">
              <a:buNone/>
            </a:pPr>
            <a:r>
              <a:rPr lang="en-US" sz="1100" dirty="0">
                <a:solidFill>
                  <a:srgbClr val="F0E6FF"/>
                </a:solidFill>
              </a:rPr>
              <a:t>User long-presses an empty spot on the map. A context menu appears.</a:t>
            </a:r>
            <a:endParaRPr lang="en-US" sz="1100" dirty="0"/>
          </a:p>
        </p:txBody>
      </p:sp>
      <p:sp>
        <p:nvSpPr>
          <p:cNvPr id="11" name="Text 9"/>
          <p:cNvSpPr/>
          <p:nvPr/>
        </p:nvSpPr>
        <p:spPr>
          <a:xfrm>
            <a:off x="2377440" y="3154680"/>
            <a:ext cx="274320" cy="365760"/>
          </a:xfrm>
          <a:prstGeom prst="rect">
            <a:avLst/>
          </a:prstGeom>
          <a:noFill/>
          <a:ln/>
        </p:spPr>
        <p:txBody>
          <a:bodyPr wrap="square" rtlCol="0" anchor="ctr"/>
          <a:lstStyle/>
          <a:p>
            <a:pPr algn="ctr" indent="0" marL="0">
              <a:buNone/>
            </a:pPr>
            <a:r>
              <a:rPr lang="en-US" sz="1800" dirty="0">
                <a:solidFill>
                  <a:srgbClr val="F59E0B"/>
                </a:solidFill>
              </a:rPr>
              <a:t>→</a:t>
            </a:r>
            <a:endParaRPr lang="en-US" sz="1800" dirty="0"/>
          </a:p>
        </p:txBody>
      </p:sp>
      <p:sp>
        <p:nvSpPr>
          <p:cNvPr id="12" name="Shape 10"/>
          <p:cNvSpPr/>
          <p:nvPr/>
        </p:nvSpPr>
        <p:spPr>
          <a:xfrm>
            <a:off x="3273552" y="1417320"/>
            <a:ext cx="502920" cy="502920"/>
          </a:xfrm>
          <a:prstGeom prst="ellipse">
            <a:avLst/>
          </a:prstGeom>
          <a:solidFill>
            <a:srgbClr val="7B2FBE"/>
          </a:solidFill>
          <a:ln/>
        </p:spPr>
      </p:sp>
      <p:sp>
        <p:nvSpPr>
          <p:cNvPr id="13" name="Text 11"/>
          <p:cNvSpPr/>
          <p:nvPr/>
        </p:nvSpPr>
        <p:spPr>
          <a:xfrm>
            <a:off x="3273552" y="1417320"/>
            <a:ext cx="502920" cy="50292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4" name="Shape 12"/>
          <p:cNvSpPr/>
          <p:nvPr/>
        </p:nvSpPr>
        <p:spPr>
          <a:xfrm>
            <a:off x="2496312" y="2011680"/>
            <a:ext cx="2011680" cy="2560320"/>
          </a:xfrm>
          <a:prstGeom prst="rect">
            <a:avLst/>
          </a:prstGeom>
          <a:solidFill>
            <a:srgbClr val="2A1547"/>
          </a:solidFill>
          <a:ln w="12700">
            <a:solidFill>
              <a:srgbClr val="5B21B6"/>
            </a:solidFill>
            <a:prstDash val="solid"/>
          </a:ln>
        </p:spPr>
      </p:sp>
      <p:sp>
        <p:nvSpPr>
          <p:cNvPr id="15" name="Text 13"/>
          <p:cNvSpPr/>
          <p:nvPr/>
        </p:nvSpPr>
        <p:spPr>
          <a:xfrm>
            <a:off x="2542032" y="2084832"/>
            <a:ext cx="1920240" cy="411480"/>
          </a:xfrm>
          <a:prstGeom prst="rect">
            <a:avLst/>
          </a:prstGeom>
          <a:noFill/>
          <a:ln/>
        </p:spPr>
        <p:txBody>
          <a:bodyPr wrap="square" rtlCol="0" anchor="ctr"/>
          <a:lstStyle/>
          <a:p>
            <a:pPr algn="ctr" indent="0" marL="0">
              <a:buNone/>
            </a:pPr>
            <a:r>
              <a:rPr lang="en-US" sz="1200" b="1" dirty="0">
                <a:solidFill>
                  <a:srgbClr val="C77DFF"/>
                </a:solidFill>
              </a:rPr>
              <a:t>Fill Details</a:t>
            </a:r>
            <a:endParaRPr lang="en-US" sz="1200" dirty="0"/>
          </a:p>
        </p:txBody>
      </p:sp>
      <p:sp>
        <p:nvSpPr>
          <p:cNvPr id="16" name="Text 14"/>
          <p:cNvSpPr/>
          <p:nvPr/>
        </p:nvSpPr>
        <p:spPr>
          <a:xfrm>
            <a:off x="2587752" y="2542032"/>
            <a:ext cx="1828800" cy="1828800"/>
          </a:xfrm>
          <a:prstGeom prst="rect">
            <a:avLst/>
          </a:prstGeom>
          <a:noFill/>
          <a:ln/>
        </p:spPr>
        <p:txBody>
          <a:bodyPr wrap="square" rtlCol="0" anchor="ctr"/>
          <a:lstStyle/>
          <a:p>
            <a:pPr algn="ctr" indent="0" marL="0">
              <a:buNone/>
            </a:pPr>
            <a:r>
              <a:rPr lang="en-US" sz="1100" dirty="0">
                <a:solidFill>
                  <a:srgbClr val="F0E6FF"/>
                </a:solidFill>
              </a:rPr>
              <a:t>Enter: Name, Category (Café / Park / Shop), upload 1–3 photos.</a:t>
            </a:r>
            <a:endParaRPr lang="en-US" sz="1100" dirty="0"/>
          </a:p>
        </p:txBody>
      </p:sp>
      <p:sp>
        <p:nvSpPr>
          <p:cNvPr id="17" name="Text 15"/>
          <p:cNvSpPr/>
          <p:nvPr/>
        </p:nvSpPr>
        <p:spPr>
          <a:xfrm>
            <a:off x="4553712" y="3154680"/>
            <a:ext cx="274320" cy="365760"/>
          </a:xfrm>
          <a:prstGeom prst="rect">
            <a:avLst/>
          </a:prstGeom>
          <a:noFill/>
          <a:ln/>
        </p:spPr>
        <p:txBody>
          <a:bodyPr wrap="square" rtlCol="0" anchor="ctr"/>
          <a:lstStyle/>
          <a:p>
            <a:pPr algn="ctr" indent="0" marL="0">
              <a:buNone/>
            </a:pPr>
            <a:r>
              <a:rPr lang="en-US" sz="1800" dirty="0">
                <a:solidFill>
                  <a:srgbClr val="F59E0B"/>
                </a:solidFill>
              </a:rPr>
              <a:t>→</a:t>
            </a:r>
            <a:endParaRPr lang="en-US" sz="1800" dirty="0"/>
          </a:p>
        </p:txBody>
      </p:sp>
      <p:sp>
        <p:nvSpPr>
          <p:cNvPr id="18" name="Shape 16"/>
          <p:cNvSpPr/>
          <p:nvPr/>
        </p:nvSpPr>
        <p:spPr>
          <a:xfrm>
            <a:off x="5449824" y="1417320"/>
            <a:ext cx="502920" cy="502920"/>
          </a:xfrm>
          <a:prstGeom prst="ellipse">
            <a:avLst/>
          </a:prstGeom>
          <a:solidFill>
            <a:srgbClr val="7B2FBE"/>
          </a:solidFill>
          <a:ln/>
        </p:spPr>
      </p:sp>
      <p:sp>
        <p:nvSpPr>
          <p:cNvPr id="19" name="Text 17"/>
          <p:cNvSpPr/>
          <p:nvPr/>
        </p:nvSpPr>
        <p:spPr>
          <a:xfrm>
            <a:off x="5449824" y="1417320"/>
            <a:ext cx="502920" cy="50292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0" name="Shape 18"/>
          <p:cNvSpPr/>
          <p:nvPr/>
        </p:nvSpPr>
        <p:spPr>
          <a:xfrm>
            <a:off x="4672584" y="2011680"/>
            <a:ext cx="2011680" cy="2560320"/>
          </a:xfrm>
          <a:prstGeom prst="rect">
            <a:avLst/>
          </a:prstGeom>
          <a:solidFill>
            <a:srgbClr val="2A1547"/>
          </a:solidFill>
          <a:ln w="12700">
            <a:solidFill>
              <a:srgbClr val="5B21B6"/>
            </a:solidFill>
            <a:prstDash val="solid"/>
          </a:ln>
        </p:spPr>
      </p:sp>
      <p:sp>
        <p:nvSpPr>
          <p:cNvPr id="21" name="Text 19"/>
          <p:cNvSpPr/>
          <p:nvPr/>
        </p:nvSpPr>
        <p:spPr>
          <a:xfrm>
            <a:off x="4718304" y="2084832"/>
            <a:ext cx="1920240" cy="411480"/>
          </a:xfrm>
          <a:prstGeom prst="rect">
            <a:avLst/>
          </a:prstGeom>
          <a:noFill/>
          <a:ln/>
        </p:spPr>
        <p:txBody>
          <a:bodyPr wrap="square" rtlCol="0" anchor="ctr"/>
          <a:lstStyle/>
          <a:p>
            <a:pPr algn="ctr" indent="0" marL="0">
              <a:buNone/>
            </a:pPr>
            <a:r>
              <a:rPr lang="en-US" sz="1200" b="1" dirty="0">
                <a:solidFill>
                  <a:srgbClr val="C77DFF"/>
                </a:solidFill>
              </a:rPr>
              <a:t>Assign to Tribe</a:t>
            </a:r>
            <a:endParaRPr lang="en-US" sz="1200" dirty="0"/>
          </a:p>
        </p:txBody>
      </p:sp>
      <p:sp>
        <p:nvSpPr>
          <p:cNvPr id="22" name="Text 20"/>
          <p:cNvSpPr/>
          <p:nvPr/>
        </p:nvSpPr>
        <p:spPr>
          <a:xfrm>
            <a:off x="4764024" y="2542032"/>
            <a:ext cx="1828800" cy="1828800"/>
          </a:xfrm>
          <a:prstGeom prst="rect">
            <a:avLst/>
          </a:prstGeom>
          <a:noFill/>
          <a:ln/>
        </p:spPr>
        <p:txBody>
          <a:bodyPr wrap="square" rtlCol="0" anchor="ctr"/>
          <a:lstStyle/>
          <a:p>
            <a:pPr algn="ctr" indent="0" marL="0">
              <a:buNone/>
            </a:pPr>
            <a:r>
              <a:rPr lang="en-US" sz="1100" dirty="0">
                <a:solidFill>
                  <a:srgbClr val="F0E6FF"/>
                </a:solidFill>
              </a:rPr>
              <a:t>MUST select one of your joined Tribes. Prevents orphan places &amp; spam.</a:t>
            </a:r>
            <a:endParaRPr lang="en-US" sz="1100" dirty="0"/>
          </a:p>
        </p:txBody>
      </p:sp>
      <p:sp>
        <p:nvSpPr>
          <p:cNvPr id="23" name="Text 21"/>
          <p:cNvSpPr/>
          <p:nvPr/>
        </p:nvSpPr>
        <p:spPr>
          <a:xfrm>
            <a:off x="6729984" y="3154680"/>
            <a:ext cx="274320" cy="365760"/>
          </a:xfrm>
          <a:prstGeom prst="rect">
            <a:avLst/>
          </a:prstGeom>
          <a:noFill/>
          <a:ln/>
        </p:spPr>
        <p:txBody>
          <a:bodyPr wrap="square" rtlCol="0" anchor="ctr"/>
          <a:lstStyle/>
          <a:p>
            <a:pPr algn="ctr" indent="0" marL="0">
              <a:buNone/>
            </a:pPr>
            <a:r>
              <a:rPr lang="en-US" sz="1800" dirty="0">
                <a:solidFill>
                  <a:srgbClr val="F59E0B"/>
                </a:solidFill>
              </a:rPr>
              <a:t>→</a:t>
            </a:r>
            <a:endParaRPr lang="en-US" sz="1800" dirty="0"/>
          </a:p>
        </p:txBody>
      </p:sp>
      <p:sp>
        <p:nvSpPr>
          <p:cNvPr id="24" name="Shape 22"/>
          <p:cNvSpPr/>
          <p:nvPr/>
        </p:nvSpPr>
        <p:spPr>
          <a:xfrm>
            <a:off x="7626096" y="1417320"/>
            <a:ext cx="502920" cy="502920"/>
          </a:xfrm>
          <a:prstGeom prst="ellipse">
            <a:avLst/>
          </a:prstGeom>
          <a:solidFill>
            <a:srgbClr val="7B2FBE"/>
          </a:solidFill>
          <a:ln/>
        </p:spPr>
      </p:sp>
      <p:sp>
        <p:nvSpPr>
          <p:cNvPr id="25" name="Text 23"/>
          <p:cNvSpPr/>
          <p:nvPr/>
        </p:nvSpPr>
        <p:spPr>
          <a:xfrm>
            <a:off x="7626096" y="1417320"/>
            <a:ext cx="502920" cy="502920"/>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26" name="Shape 24"/>
          <p:cNvSpPr/>
          <p:nvPr/>
        </p:nvSpPr>
        <p:spPr>
          <a:xfrm>
            <a:off x="6848856" y="2011680"/>
            <a:ext cx="2011680" cy="2560320"/>
          </a:xfrm>
          <a:prstGeom prst="rect">
            <a:avLst/>
          </a:prstGeom>
          <a:solidFill>
            <a:srgbClr val="2A1547"/>
          </a:solidFill>
          <a:ln w="12700">
            <a:solidFill>
              <a:srgbClr val="5B21B6"/>
            </a:solidFill>
            <a:prstDash val="solid"/>
          </a:ln>
        </p:spPr>
      </p:sp>
      <p:sp>
        <p:nvSpPr>
          <p:cNvPr id="27" name="Text 25"/>
          <p:cNvSpPr/>
          <p:nvPr/>
        </p:nvSpPr>
        <p:spPr>
          <a:xfrm>
            <a:off x="6894576" y="2084832"/>
            <a:ext cx="1920240" cy="411480"/>
          </a:xfrm>
          <a:prstGeom prst="rect">
            <a:avLst/>
          </a:prstGeom>
          <a:noFill/>
          <a:ln/>
        </p:spPr>
        <p:txBody>
          <a:bodyPr wrap="square" rtlCol="0" anchor="ctr"/>
          <a:lstStyle/>
          <a:p>
            <a:pPr algn="ctr" indent="0" marL="0">
              <a:buNone/>
            </a:pPr>
            <a:r>
              <a:rPr lang="en-US" sz="1200" b="1" dirty="0">
                <a:solidFill>
                  <a:srgbClr val="C77DFF"/>
                </a:solidFill>
              </a:rPr>
              <a:t>Place Created!</a:t>
            </a:r>
            <a:endParaRPr lang="en-US" sz="1200" dirty="0"/>
          </a:p>
        </p:txBody>
      </p:sp>
      <p:sp>
        <p:nvSpPr>
          <p:cNvPr id="28" name="Text 26"/>
          <p:cNvSpPr/>
          <p:nvPr/>
        </p:nvSpPr>
        <p:spPr>
          <a:xfrm>
            <a:off x="6940296" y="2542032"/>
            <a:ext cx="1828800" cy="1828800"/>
          </a:xfrm>
          <a:prstGeom prst="rect">
            <a:avLst/>
          </a:prstGeom>
          <a:noFill/>
          <a:ln/>
        </p:spPr>
        <p:txBody>
          <a:bodyPr wrap="square" rtlCol="0" anchor="ctr"/>
          <a:lstStyle/>
          <a:p>
            <a:pPr algn="ctr" indent="0" marL="0">
              <a:buNone/>
            </a:pPr>
            <a:r>
              <a:rPr lang="en-US" sz="1100" dirty="0">
                <a:solidFill>
                  <a:srgbClr val="F0E6FF"/>
                </a:solidFill>
              </a:rPr>
              <a:t>Green pin drops on map. Visible to all Tribe members instantly.</a:t>
            </a:r>
            <a:endParaRPr lang="en-US" sz="1100" dirty="0"/>
          </a:p>
        </p:txBody>
      </p:sp>
      <p:sp>
        <p:nvSpPr>
          <p:cNvPr id="29" name="Shape 27"/>
          <p:cNvSpPr/>
          <p:nvPr/>
        </p:nvSpPr>
        <p:spPr>
          <a:xfrm>
            <a:off x="365760" y="4617720"/>
            <a:ext cx="8412480" cy="365760"/>
          </a:xfrm>
          <a:prstGeom prst="rect">
            <a:avLst/>
          </a:prstGeom>
          <a:solidFill>
            <a:srgbClr val="2A1547"/>
          </a:solidFill>
          <a:ln w="12700">
            <a:solidFill>
              <a:srgbClr val="F59E0B"/>
            </a:solidFill>
            <a:prstDash val="solid"/>
          </a:ln>
        </p:spPr>
      </p:sp>
      <p:sp>
        <p:nvSpPr>
          <p:cNvPr id="30" name="Text 28"/>
          <p:cNvSpPr/>
          <p:nvPr/>
        </p:nvSpPr>
        <p:spPr>
          <a:xfrm>
            <a:off x="502920" y="4636008"/>
            <a:ext cx="8229600" cy="329184"/>
          </a:xfrm>
          <a:prstGeom prst="rect">
            <a:avLst/>
          </a:prstGeom>
          <a:noFill/>
          <a:ln/>
        </p:spPr>
        <p:txBody>
          <a:bodyPr wrap="square" rtlCol="0" anchor="ctr"/>
          <a:lstStyle/>
          <a:p>
            <a:pPr indent="0" marL="0">
              <a:buNone/>
            </a:pPr>
            <a:r>
              <a:rPr lang="en-US" sz="1100" dirty="0">
                <a:solidFill>
                  <a:srgbClr val="F59E0B"/>
                </a:solidFill>
              </a:rPr>
              <a:t>⚡  Rule: You CANNOT create a place without belonging to a Tribe. Every place must be 'sponsored' by a community.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JOURNEY</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4: Claiming an Existing Place</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power move — how territory is won</a:t>
            </a:r>
            <a:endParaRPr lang="en-US" sz="1400" dirty="0"/>
          </a:p>
        </p:txBody>
      </p:sp>
      <p:sp>
        <p:nvSpPr>
          <p:cNvPr id="6" name="Shape 4"/>
          <p:cNvSpPr/>
          <p:nvPr/>
        </p:nvSpPr>
        <p:spPr>
          <a:xfrm>
            <a:off x="365760" y="1371600"/>
            <a:ext cx="4114800" cy="3383280"/>
          </a:xfrm>
          <a:prstGeom prst="rect">
            <a:avLst/>
          </a:prstGeom>
          <a:solidFill>
            <a:srgbClr val="162032"/>
          </a:solidFill>
          <a:ln w="25400">
            <a:solidFill>
              <a:srgbClr val="5B21B6"/>
            </a:solidFill>
            <a:prstDash val="solid"/>
          </a:ln>
        </p:spPr>
      </p:sp>
      <p:sp>
        <p:nvSpPr>
          <p:cNvPr id="7" name="Text 5"/>
          <p:cNvSpPr/>
          <p:nvPr/>
        </p:nvSpPr>
        <p:spPr>
          <a:xfrm>
            <a:off x="502920" y="1463040"/>
            <a:ext cx="3749040" cy="274320"/>
          </a:xfrm>
          <a:prstGeom prst="rect">
            <a:avLst/>
          </a:prstGeom>
          <a:noFill/>
          <a:ln/>
        </p:spPr>
        <p:txBody>
          <a:bodyPr wrap="square" rtlCol="0" anchor="ctr"/>
          <a:lstStyle/>
          <a:p>
            <a:pPr indent="0" marL="0">
              <a:buNone/>
            </a:pPr>
            <a:r>
              <a:rPr lang="en-US" sz="900" dirty="0">
                <a:solidFill>
                  <a:srgbClr val="94A3B8"/>
                </a:solidFill>
              </a:rPr>
              <a:t>Unclaimed place (grey pin)</a:t>
            </a:r>
            <a:endParaRPr lang="en-US" sz="900" dirty="0"/>
          </a:p>
        </p:txBody>
      </p:sp>
      <p:pic>
        <p:nvPicPr>
          <p:cNvPr id="8" name="Image 0" descr="preencoded.png">    </p:cNvPr>
          <p:cNvPicPr>
            <a:picLocks noChangeAspect="1"/>
          </p:cNvPicPr>
          <p:nvPr/>
        </p:nvPicPr>
        <p:blipFill>
          <a:blip r:embed="rId1"/>
          <a:stretch>
            <a:fillRect/>
          </a:stretch>
        </p:blipFill>
        <p:spPr>
          <a:xfrm>
            <a:off x="1645920" y="1920240"/>
            <a:ext cx="411480" cy="512064"/>
          </a:xfrm>
          <a:prstGeom prst="rect">
            <a:avLst/>
          </a:prstGeom>
        </p:spPr>
      </p:pic>
      <p:sp>
        <p:nvSpPr>
          <p:cNvPr id="9" name="Text 6"/>
          <p:cNvSpPr/>
          <p:nvPr/>
        </p:nvSpPr>
        <p:spPr>
          <a:xfrm>
            <a:off x="2084832" y="1965960"/>
            <a:ext cx="1828800" cy="457200"/>
          </a:xfrm>
          <a:prstGeom prst="rect">
            <a:avLst/>
          </a:prstGeom>
          <a:noFill/>
          <a:ln/>
        </p:spPr>
        <p:txBody>
          <a:bodyPr wrap="square" rtlCol="0" anchor="ctr"/>
          <a:lstStyle/>
          <a:p>
            <a:pPr indent="0" marL="0">
              <a:buNone/>
            </a:pPr>
            <a:r>
              <a:rPr lang="en-US" sz="900" dirty="0">
                <a:solidFill>
                  <a:srgbClr val="94A3B8"/>
                </a:solidFill>
              </a:rPr>
              <a:t>Central Café</a:t>
            </a:r>
            <a:endParaRPr lang="en-US" sz="900" dirty="0"/>
          </a:p>
          <a:p>
            <a:pPr indent="0" marL="0">
              <a:buNone/>
            </a:pPr>
            <a:r>
              <a:rPr lang="en-US" sz="900" dirty="0">
                <a:solidFill>
                  <a:srgbClr val="94A3B8"/>
                </a:solidFill>
              </a:rPr>
              <a:t>(Unclaimed)</a:t>
            </a:r>
            <a:endParaRPr lang="en-US" sz="900" dirty="0"/>
          </a:p>
        </p:txBody>
      </p:sp>
      <p:sp>
        <p:nvSpPr>
          <p:cNvPr id="10" name="Shape 7"/>
          <p:cNvSpPr/>
          <p:nvPr/>
        </p:nvSpPr>
        <p:spPr>
          <a:xfrm>
            <a:off x="640080" y="2651760"/>
            <a:ext cx="3474720" cy="1645920"/>
          </a:xfrm>
          <a:prstGeom prst="rect">
            <a:avLst/>
          </a:prstGeom>
          <a:solidFill>
            <a:srgbClr val="2A1547"/>
          </a:solidFill>
          <a:ln w="25400">
            <a:solidFill>
              <a:srgbClr val="C77DFF"/>
            </a:solidFill>
            <a:prstDash val="solid"/>
          </a:ln>
        </p:spPr>
      </p:sp>
      <p:sp>
        <p:nvSpPr>
          <p:cNvPr id="11" name="Text 8"/>
          <p:cNvSpPr/>
          <p:nvPr/>
        </p:nvSpPr>
        <p:spPr>
          <a:xfrm>
            <a:off x="777240" y="2743200"/>
            <a:ext cx="3200400" cy="320040"/>
          </a:xfrm>
          <a:prstGeom prst="rect">
            <a:avLst/>
          </a:prstGeom>
          <a:noFill/>
          <a:ln/>
        </p:spPr>
        <p:txBody>
          <a:bodyPr wrap="square" rtlCol="0" anchor="ctr"/>
          <a:lstStyle/>
          <a:p>
            <a:pPr indent="0" marL="0">
              <a:buNone/>
            </a:pPr>
            <a:r>
              <a:rPr lang="en-US" sz="1200" b="1" dirty="0">
                <a:solidFill>
                  <a:srgbClr val="FFFFFF"/>
                </a:solidFill>
              </a:rPr>
              <a:t>Central Café</a:t>
            </a:r>
            <a:endParaRPr lang="en-US" sz="1200" dirty="0"/>
          </a:p>
        </p:txBody>
      </p:sp>
      <p:sp>
        <p:nvSpPr>
          <p:cNvPr id="12" name="Text 9"/>
          <p:cNvSpPr/>
          <p:nvPr/>
        </p:nvSpPr>
        <p:spPr>
          <a:xfrm>
            <a:off x="777240" y="3063240"/>
            <a:ext cx="3200400" cy="274320"/>
          </a:xfrm>
          <a:prstGeom prst="rect">
            <a:avLst/>
          </a:prstGeom>
          <a:noFill/>
          <a:ln/>
        </p:spPr>
        <p:txBody>
          <a:bodyPr wrap="square" rtlCol="0" anchor="ctr"/>
          <a:lstStyle/>
          <a:p>
            <a:pPr indent="0" marL="0">
              <a:buNone/>
            </a:pPr>
            <a:r>
              <a:rPr lang="en-US" sz="1000" dirty="0">
                <a:solidFill>
                  <a:srgbClr val="94A3B8"/>
                </a:solidFill>
              </a:rPr>
              <a:t>📍 Unclaimed — no tribe controls this.</a:t>
            </a:r>
            <a:endParaRPr lang="en-US" sz="1000" dirty="0"/>
          </a:p>
        </p:txBody>
      </p:sp>
      <p:sp>
        <p:nvSpPr>
          <p:cNvPr id="13" name="Shape 10"/>
          <p:cNvSpPr/>
          <p:nvPr/>
        </p:nvSpPr>
        <p:spPr>
          <a:xfrm>
            <a:off x="1051560" y="3474720"/>
            <a:ext cx="2560320" cy="411480"/>
          </a:xfrm>
          <a:prstGeom prst="rect">
            <a:avLst/>
          </a:prstGeom>
          <a:solidFill>
            <a:srgbClr val="7B2FBE"/>
          </a:solidFill>
          <a:ln/>
        </p:spPr>
      </p:sp>
      <p:sp>
        <p:nvSpPr>
          <p:cNvPr id="14" name="Text 11"/>
          <p:cNvSpPr/>
          <p:nvPr/>
        </p:nvSpPr>
        <p:spPr>
          <a:xfrm>
            <a:off x="1051560" y="3474720"/>
            <a:ext cx="2560320" cy="411480"/>
          </a:xfrm>
          <a:prstGeom prst="rect">
            <a:avLst/>
          </a:prstGeom>
          <a:noFill/>
          <a:ln/>
        </p:spPr>
        <p:txBody>
          <a:bodyPr wrap="square" rtlCol="0" anchor="ctr"/>
          <a:lstStyle/>
          <a:p>
            <a:pPr algn="ctr" indent="0" marL="0">
              <a:buNone/>
            </a:pPr>
            <a:r>
              <a:rPr lang="en-US" sz="1100" b="1" dirty="0">
                <a:solidFill>
                  <a:srgbClr val="FFFFFF"/>
                </a:solidFill>
              </a:rPr>
              <a:t>🏆  CLAIM FOR MY TRIBE</a:t>
            </a:r>
            <a:endParaRPr lang="en-US" sz="1100" dirty="0"/>
          </a:p>
        </p:txBody>
      </p:sp>
      <p:sp>
        <p:nvSpPr>
          <p:cNvPr id="15" name="Text 12"/>
          <p:cNvSpPr/>
          <p:nvPr/>
        </p:nvSpPr>
        <p:spPr>
          <a:xfrm>
            <a:off x="4526280" y="2926080"/>
            <a:ext cx="365760" cy="548640"/>
          </a:xfrm>
          <a:prstGeom prst="rect">
            <a:avLst/>
          </a:prstGeom>
          <a:noFill/>
          <a:ln/>
        </p:spPr>
        <p:txBody>
          <a:bodyPr wrap="square" rtlCol="0" anchor="ctr"/>
          <a:lstStyle/>
          <a:p>
            <a:pPr algn="ctr" indent="0" marL="0">
              <a:buNone/>
            </a:pPr>
            <a:r>
              <a:rPr lang="en-US" sz="2800" dirty="0">
                <a:solidFill>
                  <a:srgbClr val="F59E0B"/>
                </a:solidFill>
              </a:rPr>
              <a:t>→</a:t>
            </a:r>
            <a:endParaRPr lang="en-US" sz="2800" dirty="0"/>
          </a:p>
        </p:txBody>
      </p:sp>
      <p:sp>
        <p:nvSpPr>
          <p:cNvPr id="16" name="Shape 13"/>
          <p:cNvSpPr/>
          <p:nvPr/>
        </p:nvSpPr>
        <p:spPr>
          <a:xfrm>
            <a:off x="4937760" y="1371600"/>
            <a:ext cx="3840480" cy="3383280"/>
          </a:xfrm>
          <a:prstGeom prst="rect">
            <a:avLst/>
          </a:prstGeom>
          <a:solidFill>
            <a:srgbClr val="2A1547"/>
          </a:solidFill>
          <a:ln w="25400">
            <a:solidFill>
              <a:srgbClr val="F59E0B"/>
            </a:solidFill>
            <a:prstDash val="solid"/>
          </a:ln>
        </p:spPr>
      </p:sp>
      <p:pic>
        <p:nvPicPr>
          <p:cNvPr id="17" name="Image 1" descr="preencoded.png">    </p:cNvPr>
          <p:cNvPicPr>
            <a:picLocks noChangeAspect="1"/>
          </p:cNvPicPr>
          <p:nvPr/>
        </p:nvPicPr>
        <p:blipFill>
          <a:blip r:embed="rId2"/>
          <a:stretch>
            <a:fillRect/>
          </a:stretch>
        </p:blipFill>
        <p:spPr>
          <a:xfrm>
            <a:off x="5943600" y="1554480"/>
            <a:ext cx="457200" cy="576072"/>
          </a:xfrm>
          <a:prstGeom prst="rect">
            <a:avLst/>
          </a:prstGeom>
        </p:spPr>
      </p:pic>
      <p:pic>
        <p:nvPicPr>
          <p:cNvPr id="18" name="Image 2" descr="preencoded.png">    </p:cNvPr>
          <p:cNvPicPr>
            <a:picLocks noChangeAspect="1"/>
          </p:cNvPicPr>
          <p:nvPr/>
        </p:nvPicPr>
        <p:blipFill>
          <a:blip r:embed="rId3"/>
          <a:stretch>
            <a:fillRect/>
          </a:stretch>
        </p:blipFill>
        <p:spPr>
          <a:xfrm>
            <a:off x="6492240" y="1600200"/>
            <a:ext cx="411480" cy="411480"/>
          </a:xfrm>
          <a:prstGeom prst="rect">
            <a:avLst/>
          </a:prstGeom>
        </p:spPr>
      </p:pic>
      <p:sp>
        <p:nvSpPr>
          <p:cNvPr id="19" name="Text 14"/>
          <p:cNvSpPr/>
          <p:nvPr/>
        </p:nvSpPr>
        <p:spPr>
          <a:xfrm>
            <a:off x="5074920" y="2194560"/>
            <a:ext cx="3474720" cy="365760"/>
          </a:xfrm>
          <a:prstGeom prst="rect">
            <a:avLst/>
          </a:prstGeom>
          <a:noFill/>
          <a:ln/>
        </p:spPr>
        <p:txBody>
          <a:bodyPr wrap="square" rtlCol="0" anchor="ctr"/>
          <a:lstStyle/>
          <a:p>
            <a:pPr indent="0" marL="0">
              <a:buNone/>
            </a:pPr>
            <a:r>
              <a:rPr lang="en-US" sz="1400" b="1" dirty="0">
                <a:solidFill>
                  <a:srgbClr val="F59E0B"/>
                </a:solidFill>
              </a:rPr>
              <a:t>Central Café  👑</a:t>
            </a:r>
            <a:endParaRPr lang="en-US" sz="1400" dirty="0"/>
          </a:p>
        </p:txBody>
      </p:sp>
      <p:sp>
        <p:nvSpPr>
          <p:cNvPr id="20" name="Text 15"/>
          <p:cNvSpPr/>
          <p:nvPr/>
        </p:nvSpPr>
        <p:spPr>
          <a:xfrm>
            <a:off x="5074920" y="2606040"/>
            <a:ext cx="3474720" cy="731520"/>
          </a:xfrm>
          <a:prstGeom prst="rect">
            <a:avLst/>
          </a:prstGeom>
          <a:noFill/>
          <a:ln/>
        </p:spPr>
        <p:txBody>
          <a:bodyPr wrap="square" rtlCol="0" anchor="ctr"/>
          <a:lstStyle/>
          <a:p>
            <a:pPr indent="0" marL="0">
              <a:buNone/>
            </a:pPr>
            <a:r>
              <a:rPr lang="en-US" sz="1100" dirty="0">
                <a:solidFill>
                  <a:srgbClr val="F0E6FF"/>
                </a:solidFill>
              </a:rPr>
              <a:t>Claimed by: Foodies of Indore</a:t>
            </a:r>
            <a:endParaRPr lang="en-US" sz="1100" dirty="0"/>
          </a:p>
          <a:p>
            <a:pPr indent="0" marL="0">
              <a:buNone/>
            </a:pPr>
            <a:r>
              <a:rPr lang="en-US" sz="1100" dirty="0">
                <a:solidFill>
                  <a:srgbClr val="F0E6FF"/>
                </a:solidFill>
              </a:rPr>
              <a:t>Claimed on: Today</a:t>
            </a:r>
            <a:endParaRPr lang="en-US" sz="1100" dirty="0"/>
          </a:p>
          <a:p>
            <a:pPr indent="0" marL="0">
              <a:buNone/>
            </a:pPr>
            <a:r>
              <a:rPr lang="en-US" sz="1100" dirty="0">
                <a:solidFill>
                  <a:srgbClr val="F0E6FF"/>
                </a:solidFill>
              </a:rPr>
              <a:t>Status: Active</a:t>
            </a:r>
            <a:endParaRPr lang="en-US" sz="1100" dirty="0"/>
          </a:p>
        </p:txBody>
      </p:sp>
      <p:sp>
        <p:nvSpPr>
          <p:cNvPr id="21" name="Shape 16"/>
          <p:cNvSpPr/>
          <p:nvPr/>
        </p:nvSpPr>
        <p:spPr>
          <a:xfrm>
            <a:off x="5074920" y="3429000"/>
            <a:ext cx="3474720" cy="822960"/>
          </a:xfrm>
          <a:prstGeom prst="rect">
            <a:avLst/>
          </a:prstGeom>
          <a:solidFill>
            <a:srgbClr val="0D2D0D"/>
          </a:solidFill>
          <a:ln w="12700">
            <a:solidFill>
              <a:srgbClr val="10B981"/>
            </a:solidFill>
            <a:prstDash val="solid"/>
          </a:ln>
        </p:spPr>
      </p:sp>
      <p:sp>
        <p:nvSpPr>
          <p:cNvPr id="22" name="Text 17"/>
          <p:cNvSpPr/>
          <p:nvPr/>
        </p:nvSpPr>
        <p:spPr>
          <a:xfrm>
            <a:off x="5166360" y="3474720"/>
            <a:ext cx="3291840" cy="731520"/>
          </a:xfrm>
          <a:prstGeom prst="rect">
            <a:avLst/>
          </a:prstGeom>
          <a:noFill/>
          <a:ln/>
        </p:spPr>
        <p:txBody>
          <a:bodyPr wrap="square" rtlCol="0" anchor="ctr"/>
          <a:lstStyle/>
          <a:p>
            <a:pPr indent="0" marL="0">
              <a:buNone/>
            </a:pPr>
            <a:r>
              <a:rPr lang="en-US" sz="1100" dirty="0">
                <a:solidFill>
                  <a:srgbClr val="10B981"/>
                </a:solidFill>
              </a:rPr>
              <a:t>✅  Territory Expanded!</a:t>
            </a:r>
            <a:endParaRPr lang="en-US" sz="1100" dirty="0"/>
          </a:p>
          <a:p>
            <a:pPr indent="0" marL="0">
              <a:buNone/>
            </a:pPr>
            <a:r>
              <a:rPr lang="en-US" sz="1100" dirty="0">
                <a:solidFill>
                  <a:srgbClr val="10B981"/>
                </a:solidFill>
              </a:rPr>
              <a:t>This place now appears on your Tribe's map boundary.</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USP ⭐</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5: Territory Expansion</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Why Orbis is unlike anything else — the living strategy map</a:t>
            </a:r>
            <a:endParaRPr lang="en-US" sz="1400" dirty="0"/>
          </a:p>
        </p:txBody>
      </p:sp>
      <p:sp>
        <p:nvSpPr>
          <p:cNvPr id="6" name="Shape 4"/>
          <p:cNvSpPr/>
          <p:nvPr/>
        </p:nvSpPr>
        <p:spPr>
          <a:xfrm>
            <a:off x="365760" y="1417320"/>
            <a:ext cx="2606040" cy="3291840"/>
          </a:xfrm>
          <a:prstGeom prst="rect">
            <a:avLst/>
          </a:prstGeom>
          <a:solidFill>
            <a:srgbClr val="2A1547"/>
          </a:solidFill>
          <a:ln w="25400">
            <a:solidFill>
              <a:srgbClr val="7B2FBE"/>
            </a:solidFill>
            <a:prstDash val="solid"/>
          </a:ln>
        </p:spPr>
      </p:sp>
      <p:sp>
        <p:nvSpPr>
          <p:cNvPr id="7" name="Text 5"/>
          <p:cNvSpPr/>
          <p:nvPr/>
        </p:nvSpPr>
        <p:spPr>
          <a:xfrm>
            <a:off x="365760" y="1463040"/>
            <a:ext cx="2606040" cy="365760"/>
          </a:xfrm>
          <a:prstGeom prst="rect">
            <a:avLst/>
          </a:prstGeom>
          <a:noFill/>
          <a:ln/>
        </p:spPr>
        <p:txBody>
          <a:bodyPr wrap="square" rtlCol="0" anchor="ctr"/>
          <a:lstStyle/>
          <a:p>
            <a:pPr algn="ctr" indent="0" marL="0">
              <a:buNone/>
            </a:pPr>
            <a:r>
              <a:rPr lang="en-US" sz="1400" b="1" dirty="0">
                <a:solidFill>
                  <a:srgbClr val="7B2FBE"/>
                </a:solidFill>
              </a:rPr>
              <a:t>Month 1</a:t>
            </a:r>
            <a:endParaRPr lang="en-US" sz="1400" dirty="0"/>
          </a:p>
        </p:txBody>
      </p:sp>
      <p:sp>
        <p:nvSpPr>
          <p:cNvPr id="8" name="Text 6"/>
          <p:cNvSpPr/>
          <p:nvPr/>
        </p:nvSpPr>
        <p:spPr>
          <a:xfrm>
            <a:off x="365760" y="1828800"/>
            <a:ext cx="2606040" cy="320040"/>
          </a:xfrm>
          <a:prstGeom prst="rect">
            <a:avLst/>
          </a:prstGeom>
          <a:noFill/>
          <a:ln/>
        </p:spPr>
        <p:txBody>
          <a:bodyPr wrap="square" rtlCol="0" anchor="ctr"/>
          <a:lstStyle/>
          <a:p>
            <a:pPr algn="ctr" indent="0" marL="0">
              <a:buNone/>
            </a:pPr>
            <a:r>
              <a:rPr lang="en-US" sz="1100" dirty="0">
                <a:solidFill>
                  <a:srgbClr val="F0E6FF"/>
                </a:solidFill>
              </a:rPr>
              <a:t>2 Places Claimed</a:t>
            </a:r>
            <a:endParaRPr lang="en-US" sz="1100" dirty="0"/>
          </a:p>
        </p:txBody>
      </p:sp>
      <p:sp>
        <p:nvSpPr>
          <p:cNvPr id="9" name="Shape 7"/>
          <p:cNvSpPr/>
          <p:nvPr/>
        </p:nvSpPr>
        <p:spPr>
          <a:xfrm>
            <a:off x="1435608" y="2331720"/>
            <a:ext cx="457200" cy="457200"/>
          </a:xfrm>
          <a:prstGeom prst="ellipse">
            <a:avLst/>
          </a:prstGeom>
          <a:solidFill>
            <a:srgbClr val="7B2FBE">
              <a:alpha val="45000"/>
            </a:srgbClr>
          </a:solidFill>
          <a:ln w="12700">
            <a:solidFill>
              <a:srgbClr val="7B2FBE"/>
            </a:solidFill>
            <a:prstDash val="solid"/>
          </a:ln>
        </p:spPr>
      </p:sp>
      <p:sp>
        <p:nvSpPr>
          <p:cNvPr id="10" name="Text 8"/>
          <p:cNvSpPr/>
          <p:nvPr/>
        </p:nvSpPr>
        <p:spPr>
          <a:xfrm>
            <a:off x="457200" y="3337560"/>
            <a:ext cx="2423160" cy="822960"/>
          </a:xfrm>
          <a:prstGeom prst="rect">
            <a:avLst/>
          </a:prstGeom>
          <a:noFill/>
          <a:ln/>
        </p:spPr>
        <p:txBody>
          <a:bodyPr wrap="square" rtlCol="0" anchor="ctr"/>
          <a:lstStyle/>
          <a:p>
            <a:pPr algn="ctr" indent="0" marL="0">
              <a:buNone/>
            </a:pPr>
            <a:r>
              <a:rPr lang="en-US" sz="1000" dirty="0">
                <a:solidFill>
                  <a:srgbClr val="94A3B8"/>
                </a:solidFill>
              </a:rPr>
              <a:t>Territory</a:t>
            </a:r>
            <a:endParaRPr lang="en-US" sz="1000" dirty="0"/>
          </a:p>
          <a:p>
            <a:pPr algn="ctr" indent="0" marL="0">
              <a:buNone/>
            </a:pPr>
            <a:r>
              <a:rPr lang="en-US" sz="1000" dirty="0">
                <a:solidFill>
                  <a:srgbClr val="94A3B8"/>
                </a:solidFill>
              </a:rPr>
              <a:t>"Small"</a:t>
            </a:r>
            <a:endParaRPr lang="en-US" sz="1000" dirty="0"/>
          </a:p>
        </p:txBody>
      </p:sp>
      <p:sp>
        <p:nvSpPr>
          <p:cNvPr id="11" name="Shape 9"/>
          <p:cNvSpPr/>
          <p:nvPr/>
        </p:nvSpPr>
        <p:spPr>
          <a:xfrm>
            <a:off x="3246120" y="1417320"/>
            <a:ext cx="2606040" cy="3291840"/>
          </a:xfrm>
          <a:prstGeom prst="rect">
            <a:avLst/>
          </a:prstGeom>
          <a:solidFill>
            <a:srgbClr val="2A1547"/>
          </a:solidFill>
          <a:ln w="25400">
            <a:solidFill>
              <a:srgbClr val="9D4EDD"/>
            </a:solidFill>
            <a:prstDash val="solid"/>
          </a:ln>
        </p:spPr>
      </p:sp>
      <p:sp>
        <p:nvSpPr>
          <p:cNvPr id="12" name="Text 10"/>
          <p:cNvSpPr/>
          <p:nvPr/>
        </p:nvSpPr>
        <p:spPr>
          <a:xfrm>
            <a:off x="3246120" y="1463040"/>
            <a:ext cx="2606040" cy="365760"/>
          </a:xfrm>
          <a:prstGeom prst="rect">
            <a:avLst/>
          </a:prstGeom>
          <a:noFill/>
          <a:ln/>
        </p:spPr>
        <p:txBody>
          <a:bodyPr wrap="square" rtlCol="0" anchor="ctr"/>
          <a:lstStyle/>
          <a:p>
            <a:pPr algn="ctr" indent="0" marL="0">
              <a:buNone/>
            </a:pPr>
            <a:r>
              <a:rPr lang="en-US" sz="1400" b="1" dirty="0">
                <a:solidFill>
                  <a:srgbClr val="9D4EDD"/>
                </a:solidFill>
              </a:rPr>
              <a:t>Month 2</a:t>
            </a:r>
            <a:endParaRPr lang="en-US" sz="1400" dirty="0"/>
          </a:p>
        </p:txBody>
      </p:sp>
      <p:sp>
        <p:nvSpPr>
          <p:cNvPr id="13" name="Text 11"/>
          <p:cNvSpPr/>
          <p:nvPr/>
        </p:nvSpPr>
        <p:spPr>
          <a:xfrm>
            <a:off x="3246120" y="1828800"/>
            <a:ext cx="2606040" cy="320040"/>
          </a:xfrm>
          <a:prstGeom prst="rect">
            <a:avLst/>
          </a:prstGeom>
          <a:noFill/>
          <a:ln/>
        </p:spPr>
        <p:txBody>
          <a:bodyPr wrap="square" rtlCol="0" anchor="ctr"/>
          <a:lstStyle/>
          <a:p>
            <a:pPr algn="ctr" indent="0" marL="0">
              <a:buNone/>
            </a:pPr>
            <a:r>
              <a:rPr lang="en-US" sz="1100" dirty="0">
                <a:solidFill>
                  <a:srgbClr val="F0E6FF"/>
                </a:solidFill>
              </a:rPr>
              <a:t>5 Places Claimed</a:t>
            </a:r>
            <a:endParaRPr lang="en-US" sz="1100" dirty="0"/>
          </a:p>
        </p:txBody>
      </p:sp>
      <p:sp>
        <p:nvSpPr>
          <p:cNvPr id="14" name="Shape 12"/>
          <p:cNvSpPr/>
          <p:nvPr/>
        </p:nvSpPr>
        <p:spPr>
          <a:xfrm>
            <a:off x="4064508" y="2331720"/>
            <a:ext cx="960120" cy="960120"/>
          </a:xfrm>
          <a:prstGeom prst="ellipse">
            <a:avLst/>
          </a:prstGeom>
          <a:solidFill>
            <a:srgbClr val="9D4EDD">
              <a:alpha val="45000"/>
            </a:srgbClr>
          </a:solidFill>
          <a:ln w="12700">
            <a:solidFill>
              <a:srgbClr val="9D4EDD"/>
            </a:solidFill>
            <a:prstDash val="solid"/>
          </a:ln>
        </p:spPr>
      </p:sp>
      <p:sp>
        <p:nvSpPr>
          <p:cNvPr id="15" name="Text 13"/>
          <p:cNvSpPr/>
          <p:nvPr/>
        </p:nvSpPr>
        <p:spPr>
          <a:xfrm>
            <a:off x="3337560" y="3337560"/>
            <a:ext cx="2423160" cy="822960"/>
          </a:xfrm>
          <a:prstGeom prst="rect">
            <a:avLst/>
          </a:prstGeom>
          <a:noFill/>
          <a:ln/>
        </p:spPr>
        <p:txBody>
          <a:bodyPr wrap="square" rtlCol="0" anchor="ctr"/>
          <a:lstStyle/>
          <a:p>
            <a:pPr algn="ctr" indent="0" marL="0">
              <a:buNone/>
            </a:pPr>
            <a:r>
              <a:rPr lang="en-US" sz="1000" dirty="0">
                <a:solidFill>
                  <a:srgbClr val="94A3B8"/>
                </a:solidFill>
              </a:rPr>
              <a:t>Territory</a:t>
            </a:r>
            <a:endParaRPr lang="en-US" sz="1000" dirty="0"/>
          </a:p>
          <a:p>
            <a:pPr algn="ctr" indent="0" marL="0">
              <a:buNone/>
            </a:pPr>
            <a:r>
              <a:rPr lang="en-US" sz="1000" dirty="0">
                <a:solidFill>
                  <a:srgbClr val="94A3B8"/>
                </a:solidFill>
              </a:rPr>
              <a:t>"Growing"</a:t>
            </a:r>
            <a:endParaRPr lang="en-US" sz="1000" dirty="0"/>
          </a:p>
        </p:txBody>
      </p:sp>
      <p:sp>
        <p:nvSpPr>
          <p:cNvPr id="16" name="Shape 14"/>
          <p:cNvSpPr/>
          <p:nvPr/>
        </p:nvSpPr>
        <p:spPr>
          <a:xfrm>
            <a:off x="6126480" y="1417320"/>
            <a:ext cx="2606040" cy="3291840"/>
          </a:xfrm>
          <a:prstGeom prst="rect">
            <a:avLst/>
          </a:prstGeom>
          <a:solidFill>
            <a:srgbClr val="2A1547"/>
          </a:solidFill>
          <a:ln w="25400">
            <a:solidFill>
              <a:srgbClr val="F59E0B"/>
            </a:solidFill>
            <a:prstDash val="solid"/>
          </a:ln>
        </p:spPr>
      </p:sp>
      <p:sp>
        <p:nvSpPr>
          <p:cNvPr id="17" name="Text 15"/>
          <p:cNvSpPr/>
          <p:nvPr/>
        </p:nvSpPr>
        <p:spPr>
          <a:xfrm>
            <a:off x="6126480" y="1463040"/>
            <a:ext cx="2606040" cy="365760"/>
          </a:xfrm>
          <a:prstGeom prst="rect">
            <a:avLst/>
          </a:prstGeom>
          <a:noFill/>
          <a:ln/>
        </p:spPr>
        <p:txBody>
          <a:bodyPr wrap="square" rtlCol="0" anchor="ctr"/>
          <a:lstStyle/>
          <a:p>
            <a:pPr algn="ctr" indent="0" marL="0">
              <a:buNone/>
            </a:pPr>
            <a:r>
              <a:rPr lang="en-US" sz="1400" b="1" dirty="0">
                <a:solidFill>
                  <a:srgbClr val="F59E0B"/>
                </a:solidFill>
              </a:rPr>
              <a:t>Month 3</a:t>
            </a:r>
            <a:endParaRPr lang="en-US" sz="1400" dirty="0"/>
          </a:p>
        </p:txBody>
      </p:sp>
      <p:sp>
        <p:nvSpPr>
          <p:cNvPr id="18" name="Text 16"/>
          <p:cNvSpPr/>
          <p:nvPr/>
        </p:nvSpPr>
        <p:spPr>
          <a:xfrm>
            <a:off x="6126480" y="1828800"/>
            <a:ext cx="2606040" cy="320040"/>
          </a:xfrm>
          <a:prstGeom prst="rect">
            <a:avLst/>
          </a:prstGeom>
          <a:noFill/>
          <a:ln/>
        </p:spPr>
        <p:txBody>
          <a:bodyPr wrap="square" rtlCol="0" anchor="ctr"/>
          <a:lstStyle/>
          <a:p>
            <a:pPr algn="ctr" indent="0" marL="0">
              <a:buNone/>
            </a:pPr>
            <a:r>
              <a:rPr lang="en-US" sz="1100" dirty="0">
                <a:solidFill>
                  <a:srgbClr val="F0E6FF"/>
                </a:solidFill>
              </a:rPr>
              <a:t>9 Places Claimed</a:t>
            </a:r>
            <a:endParaRPr lang="en-US" sz="1100" dirty="0"/>
          </a:p>
        </p:txBody>
      </p:sp>
      <p:sp>
        <p:nvSpPr>
          <p:cNvPr id="19" name="Shape 17"/>
          <p:cNvSpPr/>
          <p:nvPr/>
        </p:nvSpPr>
        <p:spPr>
          <a:xfrm>
            <a:off x="6693408" y="2331720"/>
            <a:ext cx="1463040" cy="1463040"/>
          </a:xfrm>
          <a:prstGeom prst="ellipse">
            <a:avLst/>
          </a:prstGeom>
          <a:solidFill>
            <a:srgbClr val="F59E0B">
              <a:alpha val="45000"/>
            </a:srgbClr>
          </a:solidFill>
          <a:ln w="12700">
            <a:solidFill>
              <a:srgbClr val="F59E0B"/>
            </a:solidFill>
            <a:prstDash val="solid"/>
          </a:ln>
        </p:spPr>
      </p:sp>
      <p:sp>
        <p:nvSpPr>
          <p:cNvPr id="20" name="Text 18"/>
          <p:cNvSpPr/>
          <p:nvPr/>
        </p:nvSpPr>
        <p:spPr>
          <a:xfrm>
            <a:off x="6217920" y="3337560"/>
            <a:ext cx="2423160" cy="822960"/>
          </a:xfrm>
          <a:prstGeom prst="rect">
            <a:avLst/>
          </a:prstGeom>
          <a:noFill/>
          <a:ln/>
        </p:spPr>
        <p:txBody>
          <a:bodyPr wrap="square" rtlCol="0" anchor="ctr"/>
          <a:lstStyle/>
          <a:p>
            <a:pPr algn="ctr" indent="0" marL="0">
              <a:buNone/>
            </a:pPr>
            <a:r>
              <a:rPr lang="en-US" sz="1000" dirty="0">
                <a:solidFill>
                  <a:srgbClr val="94A3B8"/>
                </a:solidFill>
              </a:rPr>
              <a:t>Territory</a:t>
            </a:r>
            <a:endParaRPr lang="en-US" sz="1000" dirty="0"/>
          </a:p>
          <a:p>
            <a:pPr algn="ctr" indent="0" marL="0">
              <a:buNone/>
            </a:pPr>
            <a:r>
              <a:rPr lang="en-US" sz="1000" dirty="0">
                <a:solidFill>
                  <a:srgbClr val="94A3B8"/>
                </a:solidFill>
              </a:rPr>
              <a:t>"Dominant"</a:t>
            </a:r>
            <a:endParaRPr lang="en-US" sz="1000" dirty="0"/>
          </a:p>
        </p:txBody>
      </p:sp>
      <p:sp>
        <p:nvSpPr>
          <p:cNvPr id="21" name="Shape 19"/>
          <p:cNvSpPr/>
          <p:nvPr/>
        </p:nvSpPr>
        <p:spPr>
          <a:xfrm>
            <a:off x="365760" y="4617720"/>
            <a:ext cx="8412480" cy="384048"/>
          </a:xfrm>
          <a:prstGeom prst="rect">
            <a:avLst/>
          </a:prstGeom>
          <a:solidFill>
            <a:srgbClr val="7B2FBE"/>
          </a:solidFill>
          <a:ln/>
        </p:spPr>
      </p:sp>
      <p:sp>
        <p:nvSpPr>
          <p:cNvPr id="22" name="Text 20"/>
          <p:cNvSpPr/>
          <p:nvPr/>
        </p:nvSpPr>
        <p:spPr>
          <a:xfrm>
            <a:off x="502920" y="4626864"/>
            <a:ext cx="8229600" cy="347472"/>
          </a:xfrm>
          <a:prstGeom prst="rect">
            <a:avLst/>
          </a:prstGeom>
          <a:noFill/>
          <a:ln/>
        </p:spPr>
        <p:txBody>
          <a:bodyPr wrap="square" rtlCol="0" anchor="ctr"/>
          <a:lstStyle/>
          <a:p>
            <a:pPr indent="0" marL="0">
              <a:buNone/>
            </a:pPr>
            <a:r>
              <a:rPr lang="en-US" sz="1200" b="1" dirty="0">
                <a:solidFill>
                  <a:srgbClr val="FFFFFF"/>
                </a:solidFill>
              </a:rPr>
              <a:t>🚀  Tribes don't just CHAT — they GROW by claiming real places. The map becomes a living strategy game.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JOURNEY</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6 &amp; 7: Posting Media &amp; Feed System</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How content is created and distributed</a:t>
            </a:r>
            <a:endParaRPr lang="en-US" sz="1400" dirty="0"/>
          </a:p>
        </p:txBody>
      </p:sp>
      <p:sp>
        <p:nvSpPr>
          <p:cNvPr id="6" name="Shape 4"/>
          <p:cNvSpPr/>
          <p:nvPr/>
        </p:nvSpPr>
        <p:spPr>
          <a:xfrm>
            <a:off x="365760" y="1463040"/>
            <a:ext cx="3840480" cy="3383280"/>
          </a:xfrm>
          <a:prstGeom prst="rect">
            <a:avLst/>
          </a:prstGeom>
          <a:solidFill>
            <a:srgbClr val="2A1547"/>
          </a:solidFill>
          <a:ln w="12700">
            <a:solidFill>
              <a:srgbClr val="5B21B6"/>
            </a:solidFill>
            <a:prstDash val="solid"/>
          </a:ln>
        </p:spPr>
      </p:sp>
      <p:sp>
        <p:nvSpPr>
          <p:cNvPr id="7" name="Text 5"/>
          <p:cNvSpPr/>
          <p:nvPr/>
        </p:nvSpPr>
        <p:spPr>
          <a:xfrm>
            <a:off x="502920" y="1554480"/>
            <a:ext cx="3566160" cy="365760"/>
          </a:xfrm>
          <a:prstGeom prst="rect">
            <a:avLst/>
          </a:prstGeom>
          <a:noFill/>
          <a:ln/>
        </p:spPr>
        <p:txBody>
          <a:bodyPr wrap="square" rtlCol="0" anchor="ctr"/>
          <a:lstStyle/>
          <a:p>
            <a:pPr indent="0" marL="0">
              <a:buNone/>
            </a:pPr>
            <a:r>
              <a:rPr lang="en-US" sz="1300" b="1" dirty="0">
                <a:solidFill>
                  <a:srgbClr val="C77DFF"/>
                </a:solidFill>
              </a:rPr>
              <a:t>📸  Posting Flow</a:t>
            </a:r>
            <a:endParaRPr lang="en-US" sz="1300" dirty="0"/>
          </a:p>
        </p:txBody>
      </p:sp>
      <p:sp>
        <p:nvSpPr>
          <p:cNvPr id="8" name="Text 6"/>
          <p:cNvSpPr/>
          <p:nvPr/>
        </p:nvSpPr>
        <p:spPr>
          <a:xfrm>
            <a:off x="502920" y="1965960"/>
            <a:ext cx="3566160" cy="2560320"/>
          </a:xfrm>
          <a:prstGeom prst="rect">
            <a:avLst/>
          </a:prstGeom>
          <a:noFill/>
          <a:ln/>
        </p:spPr>
        <p:txBody>
          <a:bodyPr wrap="square" rtlCol="0" anchor="ctr"/>
          <a:lstStyle/>
          <a:p>
            <a:pPr marL="342900" indent="-342900">
              <a:spcAft>
                <a:spcPts val="700"/>
              </a:spcAft>
              <a:buSzPct val="100000"/>
              <a:buChar char="•"/>
            </a:pPr>
            <a:r>
              <a:rPr lang="en-US" sz="1100" dirty="0">
                <a:solidFill>
                  <a:srgbClr val="F0E6FF"/>
                </a:solidFill>
              </a:rPr>
              <a:t>Must be at or near a Place (GPS check)</a:t>
            </a:r>
            <a:endParaRPr lang="en-US" sz="1100" dirty="0"/>
          </a:p>
          <a:p>
            <a:pPr marL="342900" indent="-342900">
              <a:spcAft>
                <a:spcPts val="700"/>
              </a:spcAft>
              <a:buSzPct val="100000"/>
              <a:buChar char="•"/>
            </a:pPr>
            <a:r>
              <a:rPr lang="en-US" sz="1100" dirty="0">
                <a:solidFill>
                  <a:srgbClr val="F0E6FF"/>
                </a:solidFill>
              </a:rPr>
              <a:t>Upload Image or Video</a:t>
            </a:r>
            <a:endParaRPr lang="en-US" sz="1100" dirty="0"/>
          </a:p>
          <a:p>
            <a:pPr marL="342900" indent="-342900">
              <a:spcAft>
                <a:spcPts val="700"/>
              </a:spcAft>
              <a:buSzPct val="100000"/>
              <a:buChar char="•"/>
            </a:pPr>
            <a:r>
              <a:rPr lang="en-US" sz="1100" dirty="0">
                <a:solidFill>
                  <a:srgbClr val="F0E6FF"/>
                </a:solidFill>
              </a:rPr>
              <a:t>Add caption &amp; optional tags</a:t>
            </a:r>
            <a:endParaRPr lang="en-US" sz="1100" dirty="0"/>
          </a:p>
          <a:p>
            <a:pPr marL="342900" indent="-342900">
              <a:spcAft>
                <a:spcPts val="700"/>
              </a:spcAft>
              <a:buSzPct val="100000"/>
              <a:buChar char="•"/>
            </a:pPr>
            <a:r>
              <a:rPr lang="en-US" sz="1100" dirty="0">
                <a:solidFill>
                  <a:srgbClr val="F0E6FF"/>
                </a:solidFill>
              </a:rPr>
              <a:t>Post auto-tagged with Place + Tribe</a:t>
            </a:r>
            <a:endParaRPr lang="en-US" sz="1100" dirty="0"/>
          </a:p>
          <a:p>
            <a:pPr marL="342900" indent="-342900">
              <a:spcAft>
                <a:spcPts val="700"/>
              </a:spcAft>
              <a:buSzPct val="100000"/>
              <a:buChar char="•"/>
            </a:pPr>
            <a:r>
              <a:rPr lang="en-US" sz="1100" dirty="0">
                <a:solidFill>
                  <a:srgbClr val="F0E6FF"/>
                </a:solidFill>
              </a:rPr>
              <a:t>Appears across multiple feed types</a:t>
            </a:r>
            <a:endParaRPr lang="en-US" sz="1100" dirty="0"/>
          </a:p>
        </p:txBody>
      </p:sp>
      <p:sp>
        <p:nvSpPr>
          <p:cNvPr id="9" name="Shape 7"/>
          <p:cNvSpPr/>
          <p:nvPr/>
        </p:nvSpPr>
        <p:spPr>
          <a:xfrm>
            <a:off x="4572000" y="1463040"/>
            <a:ext cx="4206240" cy="3383280"/>
          </a:xfrm>
          <a:prstGeom prst="rect">
            <a:avLst/>
          </a:prstGeom>
          <a:solidFill>
            <a:srgbClr val="2A1547"/>
          </a:solidFill>
          <a:ln w="12700">
            <a:solidFill>
              <a:srgbClr val="5B21B6"/>
            </a:solidFill>
            <a:prstDash val="solid"/>
          </a:ln>
        </p:spPr>
      </p:sp>
      <p:sp>
        <p:nvSpPr>
          <p:cNvPr id="10" name="Text 8"/>
          <p:cNvSpPr/>
          <p:nvPr/>
        </p:nvSpPr>
        <p:spPr>
          <a:xfrm>
            <a:off x="4709160" y="1554480"/>
            <a:ext cx="3931920" cy="365760"/>
          </a:xfrm>
          <a:prstGeom prst="rect">
            <a:avLst/>
          </a:prstGeom>
          <a:noFill/>
          <a:ln/>
        </p:spPr>
        <p:txBody>
          <a:bodyPr wrap="square" rtlCol="0" anchor="ctr"/>
          <a:lstStyle/>
          <a:p>
            <a:pPr indent="0" marL="0">
              <a:buNone/>
            </a:pPr>
            <a:r>
              <a:rPr lang="en-US" sz="1300" b="1" dirty="0">
                <a:solidFill>
                  <a:srgbClr val="C77DFF"/>
                </a:solidFill>
              </a:rPr>
              <a:t>📱  Feed Types</a:t>
            </a:r>
            <a:endParaRPr lang="en-US" sz="1300" dirty="0"/>
          </a:p>
        </p:txBody>
      </p:sp>
      <p:sp>
        <p:nvSpPr>
          <p:cNvPr id="11" name="Shape 9"/>
          <p:cNvSpPr/>
          <p:nvPr/>
        </p:nvSpPr>
        <p:spPr>
          <a:xfrm>
            <a:off x="4709160" y="1965960"/>
            <a:ext cx="3931920" cy="822960"/>
          </a:xfrm>
          <a:prstGeom prst="rect">
            <a:avLst/>
          </a:prstGeom>
          <a:solidFill>
            <a:srgbClr val="0E7490"/>
          </a:solidFill>
          <a:ln/>
        </p:spPr>
      </p:sp>
      <p:sp>
        <p:nvSpPr>
          <p:cNvPr id="12" name="Text 10"/>
          <p:cNvSpPr/>
          <p:nvPr/>
        </p:nvSpPr>
        <p:spPr>
          <a:xfrm>
            <a:off x="4800600" y="2011680"/>
            <a:ext cx="3749040" cy="320040"/>
          </a:xfrm>
          <a:prstGeom prst="rect">
            <a:avLst/>
          </a:prstGeom>
          <a:noFill/>
          <a:ln/>
        </p:spPr>
        <p:txBody>
          <a:bodyPr wrap="square" rtlCol="0" anchor="ctr"/>
          <a:lstStyle/>
          <a:p>
            <a:pPr indent="0" marL="0">
              <a:buNone/>
            </a:pPr>
            <a:r>
              <a:rPr lang="en-US" sz="1200" b="1" dirty="0">
                <a:solidFill>
                  <a:srgbClr val="FFFFFF"/>
                </a:solidFill>
              </a:rPr>
              <a:t>📍 Nearby</a:t>
            </a:r>
            <a:endParaRPr lang="en-US" sz="1200" dirty="0"/>
          </a:p>
        </p:txBody>
      </p:sp>
      <p:sp>
        <p:nvSpPr>
          <p:cNvPr id="13" name="Text 11"/>
          <p:cNvSpPr/>
          <p:nvPr/>
        </p:nvSpPr>
        <p:spPr>
          <a:xfrm>
            <a:off x="4800600" y="2350008"/>
            <a:ext cx="3749040" cy="365760"/>
          </a:xfrm>
          <a:prstGeom prst="rect">
            <a:avLst/>
          </a:prstGeom>
          <a:noFill/>
          <a:ln/>
        </p:spPr>
        <p:txBody>
          <a:bodyPr wrap="square" rtlCol="0" anchor="ctr"/>
          <a:lstStyle/>
          <a:p>
            <a:pPr indent="0" marL="0">
              <a:buNone/>
            </a:pPr>
            <a:r>
              <a:rPr lang="en-US" sz="1000" dirty="0">
                <a:solidFill>
                  <a:srgbClr val="F0E6FF"/>
                </a:solidFill>
              </a:rPr>
              <a:t>Posts from Places within 2km of your current GPS.</a:t>
            </a:r>
            <a:endParaRPr lang="en-US" sz="1000" dirty="0"/>
          </a:p>
        </p:txBody>
      </p:sp>
      <p:sp>
        <p:nvSpPr>
          <p:cNvPr id="14" name="Shape 12"/>
          <p:cNvSpPr/>
          <p:nvPr/>
        </p:nvSpPr>
        <p:spPr>
          <a:xfrm>
            <a:off x="4709160" y="2880360"/>
            <a:ext cx="3931920" cy="822960"/>
          </a:xfrm>
          <a:prstGeom prst="rect">
            <a:avLst/>
          </a:prstGeom>
          <a:solidFill>
            <a:srgbClr val="7B2FBE"/>
          </a:solidFill>
          <a:ln/>
        </p:spPr>
      </p:sp>
      <p:sp>
        <p:nvSpPr>
          <p:cNvPr id="15" name="Text 13"/>
          <p:cNvSpPr/>
          <p:nvPr/>
        </p:nvSpPr>
        <p:spPr>
          <a:xfrm>
            <a:off x="4800600" y="2926080"/>
            <a:ext cx="3749040" cy="320040"/>
          </a:xfrm>
          <a:prstGeom prst="rect">
            <a:avLst/>
          </a:prstGeom>
          <a:noFill/>
          <a:ln/>
        </p:spPr>
        <p:txBody>
          <a:bodyPr wrap="square" rtlCol="0" anchor="ctr"/>
          <a:lstStyle/>
          <a:p>
            <a:pPr indent="0" marL="0">
              <a:buNone/>
            </a:pPr>
            <a:r>
              <a:rPr lang="en-US" sz="1200" b="1" dirty="0">
                <a:solidFill>
                  <a:srgbClr val="FFFFFF"/>
                </a:solidFill>
              </a:rPr>
              <a:t>👥 Tribe</a:t>
            </a:r>
            <a:endParaRPr lang="en-US" sz="1200" dirty="0"/>
          </a:p>
        </p:txBody>
      </p:sp>
      <p:sp>
        <p:nvSpPr>
          <p:cNvPr id="16" name="Text 14"/>
          <p:cNvSpPr/>
          <p:nvPr/>
        </p:nvSpPr>
        <p:spPr>
          <a:xfrm>
            <a:off x="4800600" y="3264408"/>
            <a:ext cx="3749040" cy="365760"/>
          </a:xfrm>
          <a:prstGeom prst="rect">
            <a:avLst/>
          </a:prstGeom>
          <a:noFill/>
          <a:ln/>
        </p:spPr>
        <p:txBody>
          <a:bodyPr wrap="square" rtlCol="0" anchor="ctr"/>
          <a:lstStyle/>
          <a:p>
            <a:pPr indent="0" marL="0">
              <a:buNone/>
            </a:pPr>
            <a:r>
              <a:rPr lang="en-US" sz="1000" dirty="0">
                <a:solidFill>
                  <a:srgbClr val="F0E6FF"/>
                </a:solidFill>
              </a:rPr>
              <a:t>Posts from your joined tribe members at any location.</a:t>
            </a:r>
            <a:endParaRPr lang="en-US" sz="1000" dirty="0"/>
          </a:p>
        </p:txBody>
      </p:sp>
      <p:sp>
        <p:nvSpPr>
          <p:cNvPr id="17" name="Shape 15"/>
          <p:cNvSpPr/>
          <p:nvPr/>
        </p:nvSpPr>
        <p:spPr>
          <a:xfrm>
            <a:off x="4709160" y="3794760"/>
            <a:ext cx="3931920" cy="822960"/>
          </a:xfrm>
          <a:prstGeom prst="rect">
            <a:avLst/>
          </a:prstGeom>
          <a:solidFill>
            <a:srgbClr val="5C4A00"/>
          </a:solidFill>
          <a:ln/>
        </p:spPr>
      </p:sp>
      <p:sp>
        <p:nvSpPr>
          <p:cNvPr id="18" name="Text 16"/>
          <p:cNvSpPr/>
          <p:nvPr/>
        </p:nvSpPr>
        <p:spPr>
          <a:xfrm>
            <a:off x="4800600" y="3840480"/>
            <a:ext cx="3749040" cy="320040"/>
          </a:xfrm>
          <a:prstGeom prst="rect">
            <a:avLst/>
          </a:prstGeom>
          <a:noFill/>
          <a:ln/>
        </p:spPr>
        <p:txBody>
          <a:bodyPr wrap="square" rtlCol="0" anchor="ctr"/>
          <a:lstStyle/>
          <a:p>
            <a:pPr indent="0" marL="0">
              <a:buNone/>
            </a:pPr>
            <a:r>
              <a:rPr lang="en-US" sz="1200" b="1" dirty="0">
                <a:solidFill>
                  <a:srgbClr val="FFFFFF"/>
                </a:solidFill>
              </a:rPr>
              <a:t>🌐 Public</a:t>
            </a:r>
            <a:endParaRPr lang="en-US" sz="1200" dirty="0"/>
          </a:p>
        </p:txBody>
      </p:sp>
      <p:sp>
        <p:nvSpPr>
          <p:cNvPr id="19" name="Text 17"/>
          <p:cNvSpPr/>
          <p:nvPr/>
        </p:nvSpPr>
        <p:spPr>
          <a:xfrm>
            <a:off x="4800600" y="4178808"/>
            <a:ext cx="3749040" cy="365760"/>
          </a:xfrm>
          <a:prstGeom prst="rect">
            <a:avLst/>
          </a:prstGeom>
          <a:noFill/>
          <a:ln/>
        </p:spPr>
        <p:txBody>
          <a:bodyPr wrap="square" rtlCol="0" anchor="ctr"/>
          <a:lstStyle/>
          <a:p>
            <a:pPr indent="0" marL="0">
              <a:buNone/>
            </a:pPr>
            <a:r>
              <a:rPr lang="en-US" sz="1000" dirty="0">
                <a:solidFill>
                  <a:srgbClr val="F0E6FF"/>
                </a:solidFill>
              </a:rPr>
              <a:t>Top trending posts globally — highest engagement wins.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3: USER FLOWS — THE JOURNEY</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Flow 8 &amp; 9: Social Interactions &amp; Chat</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How communities communicate and engage</a:t>
            </a:r>
            <a:endParaRPr lang="en-US" sz="1400" dirty="0"/>
          </a:p>
        </p:txBody>
      </p:sp>
      <p:sp>
        <p:nvSpPr>
          <p:cNvPr id="6" name="Shape 4"/>
          <p:cNvSpPr/>
          <p:nvPr/>
        </p:nvSpPr>
        <p:spPr>
          <a:xfrm>
            <a:off x="365760" y="1417320"/>
            <a:ext cx="3840480" cy="3429000"/>
          </a:xfrm>
          <a:prstGeom prst="rect">
            <a:avLst/>
          </a:prstGeom>
          <a:solidFill>
            <a:srgbClr val="0D0D1A"/>
          </a:solidFill>
          <a:ln w="25400">
            <a:solidFill>
              <a:srgbClr val="C77DFF"/>
            </a:solidFill>
            <a:prstDash val="solid"/>
          </a:ln>
        </p:spPr>
      </p:sp>
      <p:sp>
        <p:nvSpPr>
          <p:cNvPr id="7" name="Text 5"/>
          <p:cNvSpPr/>
          <p:nvPr/>
        </p:nvSpPr>
        <p:spPr>
          <a:xfrm>
            <a:off x="502920" y="1508760"/>
            <a:ext cx="3566160" cy="365760"/>
          </a:xfrm>
          <a:prstGeom prst="rect">
            <a:avLst/>
          </a:prstGeom>
          <a:noFill/>
          <a:ln/>
        </p:spPr>
        <p:txBody>
          <a:bodyPr wrap="square" rtlCol="0" anchor="ctr"/>
          <a:lstStyle/>
          <a:p>
            <a:pPr indent="0" marL="0">
              <a:buNone/>
            </a:pPr>
            <a:r>
              <a:rPr lang="en-US" sz="1200" b="1" dirty="0">
                <a:solidFill>
                  <a:srgbClr val="C77DFF"/>
                </a:solidFill>
              </a:rPr>
              <a:t>💬  Indore Foodies 🔥</a:t>
            </a:r>
            <a:endParaRPr lang="en-US" sz="1200" dirty="0"/>
          </a:p>
        </p:txBody>
      </p:sp>
      <p:sp>
        <p:nvSpPr>
          <p:cNvPr id="8" name="Text 6"/>
          <p:cNvSpPr/>
          <p:nvPr/>
        </p:nvSpPr>
        <p:spPr>
          <a:xfrm>
            <a:off x="502920" y="1874520"/>
            <a:ext cx="3566160" cy="274320"/>
          </a:xfrm>
          <a:prstGeom prst="rect">
            <a:avLst/>
          </a:prstGeom>
          <a:noFill/>
          <a:ln/>
        </p:spPr>
        <p:txBody>
          <a:bodyPr wrap="square" rtlCol="0" anchor="ctr"/>
          <a:lstStyle/>
          <a:p>
            <a:pPr indent="0" marL="0">
              <a:buNone/>
            </a:pPr>
            <a:r>
              <a:rPr lang="en-US" sz="900" dirty="0">
                <a:solidFill>
                  <a:srgbClr val="94A3B8"/>
                </a:solidFill>
              </a:rPr>
              <a:t>48 members · 12 online now</a:t>
            </a:r>
            <a:endParaRPr lang="en-US" sz="900" dirty="0"/>
          </a:p>
        </p:txBody>
      </p:sp>
      <p:sp>
        <p:nvSpPr>
          <p:cNvPr id="9" name="Shape 7"/>
          <p:cNvSpPr/>
          <p:nvPr/>
        </p:nvSpPr>
        <p:spPr>
          <a:xfrm>
            <a:off x="502920" y="2194560"/>
            <a:ext cx="3474720" cy="777240"/>
          </a:xfrm>
          <a:prstGeom prst="rect">
            <a:avLst/>
          </a:prstGeom>
          <a:solidFill>
            <a:srgbClr val="2A1547"/>
          </a:solidFill>
          <a:ln/>
        </p:spPr>
      </p:sp>
      <p:sp>
        <p:nvSpPr>
          <p:cNvPr id="10" name="Text 8"/>
          <p:cNvSpPr/>
          <p:nvPr/>
        </p:nvSpPr>
        <p:spPr>
          <a:xfrm>
            <a:off x="594360" y="2240280"/>
            <a:ext cx="3291840" cy="685800"/>
          </a:xfrm>
          <a:prstGeom prst="rect">
            <a:avLst/>
          </a:prstGeom>
          <a:noFill/>
          <a:ln/>
        </p:spPr>
        <p:txBody>
          <a:bodyPr wrap="square" rtlCol="0" anchor="ctr"/>
          <a:lstStyle/>
          <a:p>
            <a:pPr indent="0" marL="0">
              <a:buNone/>
            </a:pPr>
            <a:r>
              <a:rPr lang="en-US" sz="1000" dirty="0">
                <a:solidFill>
                  <a:srgbClr val="F0E6FF"/>
                </a:solidFill>
              </a:rPr>
              <a:t>@rahul: Just claimed Spice Route Café for us! 🎉</a:t>
            </a:r>
            <a:endParaRPr lang="en-US" sz="1000" dirty="0"/>
          </a:p>
        </p:txBody>
      </p:sp>
      <p:sp>
        <p:nvSpPr>
          <p:cNvPr id="11" name="Shape 9"/>
          <p:cNvSpPr/>
          <p:nvPr/>
        </p:nvSpPr>
        <p:spPr>
          <a:xfrm>
            <a:off x="502920" y="3063240"/>
            <a:ext cx="3474720" cy="777240"/>
          </a:xfrm>
          <a:prstGeom prst="rect">
            <a:avLst/>
          </a:prstGeom>
          <a:solidFill>
            <a:srgbClr val="2D1B4E"/>
          </a:solidFill>
          <a:ln/>
        </p:spPr>
      </p:sp>
      <p:sp>
        <p:nvSpPr>
          <p:cNvPr id="12" name="Text 10"/>
          <p:cNvSpPr/>
          <p:nvPr/>
        </p:nvSpPr>
        <p:spPr>
          <a:xfrm>
            <a:off x="594360" y="3108960"/>
            <a:ext cx="3291840" cy="685800"/>
          </a:xfrm>
          <a:prstGeom prst="rect">
            <a:avLst/>
          </a:prstGeom>
          <a:noFill/>
          <a:ln/>
        </p:spPr>
        <p:txBody>
          <a:bodyPr wrap="square" rtlCol="0" anchor="ctr"/>
          <a:lstStyle/>
          <a:p>
            <a:pPr indent="0" marL="0">
              <a:buNone/>
            </a:pPr>
            <a:r>
              <a:rPr lang="en-US" sz="1000" dirty="0">
                <a:solidFill>
                  <a:srgbClr val="F0E6FF"/>
                </a:solidFill>
              </a:rPr>
              <a:t>@priya: Let's meet there Sunday! Who's in? 🙋</a:t>
            </a:r>
            <a:endParaRPr lang="en-US" sz="1000" dirty="0"/>
          </a:p>
        </p:txBody>
      </p:sp>
      <p:sp>
        <p:nvSpPr>
          <p:cNvPr id="13" name="Text 11"/>
          <p:cNvSpPr/>
          <p:nvPr/>
        </p:nvSpPr>
        <p:spPr>
          <a:xfrm>
            <a:off x="502920" y="3931920"/>
            <a:ext cx="3566160" cy="320040"/>
          </a:xfrm>
          <a:prstGeom prst="rect">
            <a:avLst/>
          </a:prstGeom>
          <a:noFill/>
          <a:ln/>
        </p:spPr>
        <p:txBody>
          <a:bodyPr wrap="square" rtlCol="0" anchor="ctr"/>
          <a:lstStyle/>
          <a:p>
            <a:pPr indent="0" marL="0">
              <a:buNone/>
            </a:pPr>
            <a:r>
              <a:rPr lang="en-US" sz="900" dirty="0">
                <a:solidFill>
                  <a:srgbClr val="06B6D4"/>
                </a:solidFill>
              </a:rPr>
              <a:t>Territory: 7 places claimed · Rank #3 in Indore</a:t>
            </a:r>
            <a:endParaRPr lang="en-US" sz="900" dirty="0"/>
          </a:p>
        </p:txBody>
      </p:sp>
      <p:sp>
        <p:nvSpPr>
          <p:cNvPr id="14" name="Shape 12"/>
          <p:cNvSpPr/>
          <p:nvPr/>
        </p:nvSpPr>
        <p:spPr>
          <a:xfrm>
            <a:off x="502920" y="4297680"/>
            <a:ext cx="3474720" cy="411480"/>
          </a:xfrm>
          <a:prstGeom prst="rect">
            <a:avLst/>
          </a:prstGeom>
          <a:solidFill>
            <a:srgbClr val="2A1547"/>
          </a:solidFill>
          <a:ln/>
        </p:spPr>
      </p:sp>
      <p:sp>
        <p:nvSpPr>
          <p:cNvPr id="15" name="Text 13"/>
          <p:cNvSpPr/>
          <p:nvPr/>
        </p:nvSpPr>
        <p:spPr>
          <a:xfrm>
            <a:off x="594360" y="4325112"/>
            <a:ext cx="3200400" cy="347472"/>
          </a:xfrm>
          <a:prstGeom prst="rect">
            <a:avLst/>
          </a:prstGeom>
          <a:noFill/>
          <a:ln/>
        </p:spPr>
        <p:txBody>
          <a:bodyPr wrap="square" rtlCol="0" anchor="ctr"/>
          <a:lstStyle/>
          <a:p>
            <a:pPr indent="0" marL="0">
              <a:buNone/>
            </a:pPr>
            <a:r>
              <a:rPr lang="en-US" sz="1000" dirty="0">
                <a:solidFill>
                  <a:srgbClr val="94A3B8"/>
                </a:solidFill>
              </a:rPr>
              <a:t>Type a message...</a:t>
            </a:r>
            <a:endParaRPr lang="en-US" sz="1000" dirty="0"/>
          </a:p>
        </p:txBody>
      </p:sp>
      <p:sp>
        <p:nvSpPr>
          <p:cNvPr id="16" name="Shape 14"/>
          <p:cNvSpPr/>
          <p:nvPr/>
        </p:nvSpPr>
        <p:spPr>
          <a:xfrm>
            <a:off x="4572000" y="1417320"/>
            <a:ext cx="4206240" cy="3429000"/>
          </a:xfrm>
          <a:prstGeom prst="rect">
            <a:avLst/>
          </a:prstGeom>
          <a:solidFill>
            <a:srgbClr val="2A1547"/>
          </a:solidFill>
          <a:ln w="12700">
            <a:solidFill>
              <a:srgbClr val="5B21B6"/>
            </a:solidFill>
            <a:prstDash val="solid"/>
          </a:ln>
        </p:spPr>
      </p:sp>
      <p:sp>
        <p:nvSpPr>
          <p:cNvPr id="17" name="Text 15"/>
          <p:cNvSpPr/>
          <p:nvPr/>
        </p:nvSpPr>
        <p:spPr>
          <a:xfrm>
            <a:off x="4709160" y="1508760"/>
            <a:ext cx="3931920" cy="365760"/>
          </a:xfrm>
          <a:prstGeom prst="rect">
            <a:avLst/>
          </a:prstGeom>
          <a:noFill/>
          <a:ln/>
        </p:spPr>
        <p:txBody>
          <a:bodyPr wrap="square" rtlCol="0" anchor="ctr"/>
          <a:lstStyle/>
          <a:p>
            <a:pPr indent="0" marL="0">
              <a:buNone/>
            </a:pPr>
            <a:r>
              <a:rPr lang="en-US" sz="1300" b="1" dirty="0">
                <a:solidFill>
                  <a:srgbClr val="C77DFF"/>
                </a:solidFill>
              </a:rPr>
              <a:t>❤  Social Interactions</a:t>
            </a:r>
            <a:endParaRPr lang="en-US" sz="1300" dirty="0"/>
          </a:p>
        </p:txBody>
      </p:sp>
      <p:sp>
        <p:nvSpPr>
          <p:cNvPr id="18" name="Shape 16"/>
          <p:cNvSpPr/>
          <p:nvPr/>
        </p:nvSpPr>
        <p:spPr>
          <a:xfrm>
            <a:off x="4709160" y="1965960"/>
            <a:ext cx="3931920" cy="685800"/>
          </a:xfrm>
          <a:prstGeom prst="rect">
            <a:avLst/>
          </a:prstGeom>
          <a:solidFill>
            <a:srgbClr val="EF4444"/>
          </a:solidFill>
          <a:ln/>
        </p:spPr>
      </p:sp>
      <p:pic>
        <p:nvPicPr>
          <p:cNvPr id="19" name="Image 0" descr="preencoded.png">    </p:cNvPr>
          <p:cNvPicPr>
            <a:picLocks noChangeAspect="1"/>
          </p:cNvPicPr>
          <p:nvPr/>
        </p:nvPicPr>
        <p:blipFill>
          <a:blip r:embed="rId1"/>
          <a:stretch>
            <a:fillRect/>
          </a:stretch>
        </p:blipFill>
        <p:spPr>
          <a:xfrm>
            <a:off x="4800600" y="2130552"/>
            <a:ext cx="320040" cy="347472"/>
          </a:xfrm>
          <a:prstGeom prst="rect">
            <a:avLst/>
          </a:prstGeom>
        </p:spPr>
      </p:pic>
      <p:sp>
        <p:nvSpPr>
          <p:cNvPr id="20" name="Text 17"/>
          <p:cNvSpPr/>
          <p:nvPr/>
        </p:nvSpPr>
        <p:spPr>
          <a:xfrm>
            <a:off x="5212080" y="2011680"/>
            <a:ext cx="3291840" cy="274320"/>
          </a:xfrm>
          <a:prstGeom prst="rect">
            <a:avLst/>
          </a:prstGeom>
          <a:noFill/>
          <a:ln/>
        </p:spPr>
        <p:txBody>
          <a:bodyPr wrap="square" rtlCol="0" anchor="ctr"/>
          <a:lstStyle/>
          <a:p>
            <a:pPr indent="0" marL="0">
              <a:buNone/>
            </a:pPr>
            <a:r>
              <a:rPr lang="en-US" sz="1200" b="1" dirty="0">
                <a:solidFill>
                  <a:srgbClr val="FFFFFF"/>
                </a:solidFill>
              </a:rPr>
              <a:t>Like</a:t>
            </a:r>
            <a:endParaRPr lang="en-US" sz="1200" dirty="0"/>
          </a:p>
        </p:txBody>
      </p:sp>
      <p:sp>
        <p:nvSpPr>
          <p:cNvPr id="21" name="Text 18"/>
          <p:cNvSpPr/>
          <p:nvPr/>
        </p:nvSpPr>
        <p:spPr>
          <a:xfrm>
            <a:off x="5212080" y="2304288"/>
            <a:ext cx="3291840" cy="274320"/>
          </a:xfrm>
          <a:prstGeom prst="rect">
            <a:avLst/>
          </a:prstGeom>
          <a:noFill/>
          <a:ln/>
        </p:spPr>
        <p:txBody>
          <a:bodyPr wrap="square" rtlCol="0" anchor="ctr"/>
          <a:lstStyle/>
          <a:p>
            <a:pPr indent="0" marL="0">
              <a:buNone/>
            </a:pPr>
            <a:r>
              <a:rPr lang="en-US" sz="1000" dirty="0">
                <a:solidFill>
                  <a:srgbClr val="F0E6FF"/>
                </a:solidFill>
              </a:rPr>
              <a:t>Tap to like any post. Like count is public.</a:t>
            </a:r>
            <a:endParaRPr lang="en-US" sz="1000" dirty="0"/>
          </a:p>
        </p:txBody>
      </p:sp>
      <p:sp>
        <p:nvSpPr>
          <p:cNvPr id="22" name="Shape 19"/>
          <p:cNvSpPr/>
          <p:nvPr/>
        </p:nvSpPr>
        <p:spPr>
          <a:xfrm>
            <a:off x="4709160" y="2743200"/>
            <a:ext cx="3931920" cy="685800"/>
          </a:xfrm>
          <a:prstGeom prst="rect">
            <a:avLst/>
          </a:prstGeom>
          <a:solidFill>
            <a:srgbClr val="0E7490"/>
          </a:solidFill>
          <a:ln/>
        </p:spPr>
      </p:sp>
      <p:pic>
        <p:nvPicPr>
          <p:cNvPr id="23" name="Image 1" descr="preencoded.png">    </p:cNvPr>
          <p:cNvPicPr>
            <a:picLocks noChangeAspect="1"/>
          </p:cNvPicPr>
          <p:nvPr/>
        </p:nvPicPr>
        <p:blipFill>
          <a:blip r:embed="rId2"/>
          <a:stretch>
            <a:fillRect/>
          </a:stretch>
        </p:blipFill>
        <p:spPr>
          <a:xfrm>
            <a:off x="4800600" y="2907792"/>
            <a:ext cx="320040" cy="347472"/>
          </a:xfrm>
          <a:prstGeom prst="rect">
            <a:avLst/>
          </a:prstGeom>
        </p:spPr>
      </p:pic>
      <p:sp>
        <p:nvSpPr>
          <p:cNvPr id="24" name="Text 20"/>
          <p:cNvSpPr/>
          <p:nvPr/>
        </p:nvSpPr>
        <p:spPr>
          <a:xfrm>
            <a:off x="5212080" y="2788920"/>
            <a:ext cx="3291840" cy="274320"/>
          </a:xfrm>
          <a:prstGeom prst="rect">
            <a:avLst/>
          </a:prstGeom>
          <a:noFill/>
          <a:ln/>
        </p:spPr>
        <p:txBody>
          <a:bodyPr wrap="square" rtlCol="0" anchor="ctr"/>
          <a:lstStyle/>
          <a:p>
            <a:pPr indent="0" marL="0">
              <a:buNone/>
            </a:pPr>
            <a:r>
              <a:rPr lang="en-US" sz="1200" b="1" dirty="0">
                <a:solidFill>
                  <a:srgbClr val="FFFFFF"/>
                </a:solidFill>
              </a:rPr>
              <a:t>Comment</a:t>
            </a:r>
            <a:endParaRPr lang="en-US" sz="1200" dirty="0"/>
          </a:p>
        </p:txBody>
      </p:sp>
      <p:sp>
        <p:nvSpPr>
          <p:cNvPr id="25" name="Text 21"/>
          <p:cNvSpPr/>
          <p:nvPr/>
        </p:nvSpPr>
        <p:spPr>
          <a:xfrm>
            <a:off x="5212080" y="3081528"/>
            <a:ext cx="3291840" cy="274320"/>
          </a:xfrm>
          <a:prstGeom prst="rect">
            <a:avLst/>
          </a:prstGeom>
          <a:noFill/>
          <a:ln/>
        </p:spPr>
        <p:txBody>
          <a:bodyPr wrap="square" rtlCol="0" anchor="ctr"/>
          <a:lstStyle/>
          <a:p>
            <a:pPr indent="0" marL="0">
              <a:buNone/>
            </a:pPr>
            <a:r>
              <a:rPr lang="en-US" sz="1000" dirty="0">
                <a:solidFill>
                  <a:srgbClr val="F0E6FF"/>
                </a:solidFill>
              </a:rPr>
              <a:t>Threaded comments on every post.</a:t>
            </a:r>
            <a:endParaRPr lang="en-US" sz="1000" dirty="0"/>
          </a:p>
        </p:txBody>
      </p:sp>
      <p:sp>
        <p:nvSpPr>
          <p:cNvPr id="26" name="Shape 22"/>
          <p:cNvSpPr/>
          <p:nvPr/>
        </p:nvSpPr>
        <p:spPr>
          <a:xfrm>
            <a:off x="4709160" y="3520440"/>
            <a:ext cx="3931920" cy="685800"/>
          </a:xfrm>
          <a:prstGeom prst="rect">
            <a:avLst/>
          </a:prstGeom>
          <a:solidFill>
            <a:srgbClr val="5C4A00"/>
          </a:solidFill>
          <a:ln/>
        </p:spPr>
      </p:sp>
      <p:pic>
        <p:nvPicPr>
          <p:cNvPr id="27" name="Image 2" descr="preencoded.png">    </p:cNvPr>
          <p:cNvPicPr>
            <a:picLocks noChangeAspect="1"/>
          </p:cNvPicPr>
          <p:nvPr/>
        </p:nvPicPr>
        <p:blipFill>
          <a:blip r:embed="rId3"/>
          <a:stretch>
            <a:fillRect/>
          </a:stretch>
        </p:blipFill>
        <p:spPr>
          <a:xfrm>
            <a:off x="4800600" y="3685032"/>
            <a:ext cx="320040" cy="347472"/>
          </a:xfrm>
          <a:prstGeom prst="rect">
            <a:avLst/>
          </a:prstGeom>
        </p:spPr>
      </p:pic>
      <p:sp>
        <p:nvSpPr>
          <p:cNvPr id="28" name="Text 23"/>
          <p:cNvSpPr/>
          <p:nvPr/>
        </p:nvSpPr>
        <p:spPr>
          <a:xfrm>
            <a:off x="5212080" y="3566160"/>
            <a:ext cx="3291840" cy="274320"/>
          </a:xfrm>
          <a:prstGeom prst="rect">
            <a:avLst/>
          </a:prstGeom>
          <a:noFill/>
          <a:ln/>
        </p:spPr>
        <p:txBody>
          <a:bodyPr wrap="square" rtlCol="0" anchor="ctr"/>
          <a:lstStyle/>
          <a:p>
            <a:pPr indent="0" marL="0">
              <a:buNone/>
            </a:pPr>
            <a:r>
              <a:rPr lang="en-US" sz="1200" b="1" dirty="0">
                <a:solidFill>
                  <a:srgbClr val="FFFFFF"/>
                </a:solidFill>
              </a:rPr>
              <a:t>Share</a:t>
            </a:r>
            <a:endParaRPr lang="en-US" sz="1200" dirty="0"/>
          </a:p>
        </p:txBody>
      </p:sp>
      <p:sp>
        <p:nvSpPr>
          <p:cNvPr id="29" name="Text 24"/>
          <p:cNvSpPr/>
          <p:nvPr/>
        </p:nvSpPr>
        <p:spPr>
          <a:xfrm>
            <a:off x="5212080" y="3858768"/>
            <a:ext cx="3291840" cy="274320"/>
          </a:xfrm>
          <a:prstGeom prst="rect">
            <a:avLst/>
          </a:prstGeom>
          <a:noFill/>
          <a:ln/>
        </p:spPr>
        <p:txBody>
          <a:bodyPr wrap="square" rtlCol="0" anchor="ctr"/>
          <a:lstStyle/>
          <a:p>
            <a:pPr indent="0" marL="0">
              <a:buNone/>
            </a:pPr>
            <a:r>
              <a:rPr lang="en-US" sz="1000" dirty="0">
                <a:solidFill>
                  <a:srgbClr val="F0E6FF"/>
                </a:solidFill>
              </a:rPr>
              <a:t>Share to Tribe, DM, or external link.</a:t>
            </a:r>
            <a:endParaRPr lang="en-US" sz="1000" dirty="0"/>
          </a:p>
        </p:txBody>
      </p:sp>
      <p:sp>
        <p:nvSpPr>
          <p:cNvPr id="30" name="Shape 25"/>
          <p:cNvSpPr/>
          <p:nvPr/>
        </p:nvSpPr>
        <p:spPr>
          <a:xfrm>
            <a:off x="4709160" y="4297680"/>
            <a:ext cx="3931920" cy="685800"/>
          </a:xfrm>
          <a:prstGeom prst="rect">
            <a:avLst/>
          </a:prstGeom>
          <a:solidFill>
            <a:srgbClr val="7B2FBE"/>
          </a:solidFill>
          <a:ln/>
        </p:spPr>
      </p:sp>
      <p:pic>
        <p:nvPicPr>
          <p:cNvPr id="31" name="Image 3" descr="preencoded.png">    </p:cNvPr>
          <p:cNvPicPr>
            <a:picLocks noChangeAspect="1"/>
          </p:cNvPicPr>
          <p:nvPr/>
        </p:nvPicPr>
        <p:blipFill>
          <a:blip r:embed="rId4"/>
          <a:stretch>
            <a:fillRect/>
          </a:stretch>
        </p:blipFill>
        <p:spPr>
          <a:xfrm>
            <a:off x="4800600" y="4462272"/>
            <a:ext cx="320040" cy="347472"/>
          </a:xfrm>
          <a:prstGeom prst="rect">
            <a:avLst/>
          </a:prstGeom>
        </p:spPr>
      </p:pic>
      <p:sp>
        <p:nvSpPr>
          <p:cNvPr id="32" name="Text 26"/>
          <p:cNvSpPr/>
          <p:nvPr/>
        </p:nvSpPr>
        <p:spPr>
          <a:xfrm>
            <a:off x="5212080" y="4343400"/>
            <a:ext cx="3291840" cy="274320"/>
          </a:xfrm>
          <a:prstGeom prst="rect">
            <a:avLst/>
          </a:prstGeom>
          <a:noFill/>
          <a:ln/>
        </p:spPr>
        <p:txBody>
          <a:bodyPr wrap="square" rtlCol="0" anchor="ctr"/>
          <a:lstStyle/>
          <a:p>
            <a:pPr indent="0" marL="0">
              <a:buNone/>
            </a:pPr>
            <a:r>
              <a:rPr lang="en-US" sz="1200" b="1" dirty="0">
                <a:solidFill>
                  <a:srgbClr val="FFFFFF"/>
                </a:solidFill>
              </a:rPr>
              <a:t>Direct Message</a:t>
            </a:r>
            <a:endParaRPr lang="en-US" sz="1200" dirty="0"/>
          </a:p>
        </p:txBody>
      </p:sp>
      <p:sp>
        <p:nvSpPr>
          <p:cNvPr id="33" name="Text 27"/>
          <p:cNvSpPr/>
          <p:nvPr/>
        </p:nvSpPr>
        <p:spPr>
          <a:xfrm>
            <a:off x="5212080" y="4636008"/>
            <a:ext cx="3291840" cy="274320"/>
          </a:xfrm>
          <a:prstGeom prst="rect">
            <a:avLst/>
          </a:prstGeom>
          <a:noFill/>
          <a:ln/>
        </p:spPr>
        <p:txBody>
          <a:bodyPr wrap="square" rtlCol="0" anchor="ctr"/>
          <a:lstStyle/>
          <a:p>
            <a:pPr indent="0" marL="0">
              <a:buNone/>
            </a:pPr>
            <a:r>
              <a:rPr lang="en-US" sz="1000" dirty="0">
                <a:solidFill>
                  <a:srgbClr val="F0E6FF"/>
                </a:solidFill>
              </a:rPr>
              <a:t>1-on-1 messaging between tribe members.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4: SYSTEM ARCHITECTURE &amp; DIAGRAM</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Complete System Flow</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end-to-end chain — memorize this</a:t>
            </a:r>
            <a:endParaRPr lang="en-US" sz="1400" dirty="0"/>
          </a:p>
        </p:txBody>
      </p:sp>
      <p:sp>
        <p:nvSpPr>
          <p:cNvPr id="6" name="Shape 4"/>
          <p:cNvSpPr/>
          <p:nvPr/>
        </p:nvSpPr>
        <p:spPr>
          <a:xfrm>
            <a:off x="320040" y="1508760"/>
            <a:ext cx="1234440" cy="1234440"/>
          </a:xfrm>
          <a:prstGeom prst="rect">
            <a:avLst/>
          </a:prstGeom>
          <a:solidFill>
            <a:srgbClr val="7B2FBE"/>
          </a:solidFill>
          <a:ln/>
        </p:spPr>
      </p:sp>
      <p:pic>
        <p:nvPicPr>
          <p:cNvPr id="7" name="Image 0" descr="preencoded.png">    </p:cNvPr>
          <p:cNvPicPr>
            <a:picLocks noChangeAspect="1"/>
          </p:cNvPicPr>
          <p:nvPr/>
        </p:nvPicPr>
        <p:blipFill>
          <a:blip r:embed="rId1"/>
          <a:stretch>
            <a:fillRect/>
          </a:stretch>
        </p:blipFill>
        <p:spPr>
          <a:xfrm>
            <a:off x="704088" y="1600200"/>
            <a:ext cx="457200" cy="457200"/>
          </a:xfrm>
          <a:prstGeom prst="rect">
            <a:avLst/>
          </a:prstGeom>
        </p:spPr>
      </p:pic>
      <p:sp>
        <p:nvSpPr>
          <p:cNvPr id="8" name="Text 5"/>
          <p:cNvSpPr/>
          <p:nvPr/>
        </p:nvSpPr>
        <p:spPr>
          <a:xfrm>
            <a:off x="320040" y="2816352"/>
            <a:ext cx="1234440" cy="594360"/>
          </a:xfrm>
          <a:prstGeom prst="rect">
            <a:avLst/>
          </a:prstGeom>
          <a:noFill/>
          <a:ln/>
        </p:spPr>
        <p:txBody>
          <a:bodyPr wrap="square" rtlCol="0" anchor="ctr"/>
          <a:lstStyle/>
          <a:p>
            <a:pPr algn="ctr" indent="0" marL="0">
              <a:buNone/>
            </a:pPr>
            <a:r>
              <a:rPr lang="en-US" sz="900" b="1" dirty="0">
                <a:solidFill>
                  <a:srgbClr val="FFFFFF"/>
                </a:solidFill>
              </a:rPr>
              <a:t>User</a:t>
            </a:r>
            <a:endParaRPr lang="en-US" sz="900" dirty="0"/>
          </a:p>
          <a:p>
            <a:pPr algn="ctr" indent="0" marL="0">
              <a:buNone/>
            </a:pPr>
            <a:r>
              <a:rPr lang="en-US" sz="900" b="1" dirty="0">
                <a:solidFill>
                  <a:srgbClr val="FFFFFF"/>
                </a:solidFill>
              </a:rPr>
              <a:t>Joins Tribe</a:t>
            </a:r>
            <a:endParaRPr lang="en-US" sz="900" dirty="0"/>
          </a:p>
        </p:txBody>
      </p:sp>
      <p:sp>
        <p:nvSpPr>
          <p:cNvPr id="9" name="Text 6"/>
          <p:cNvSpPr/>
          <p:nvPr/>
        </p:nvSpPr>
        <p:spPr>
          <a:xfrm>
            <a:off x="1572768" y="1920240"/>
            <a:ext cx="228600" cy="41148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10" name="Shape 7"/>
          <p:cNvSpPr/>
          <p:nvPr/>
        </p:nvSpPr>
        <p:spPr>
          <a:xfrm>
            <a:off x="1737360" y="1508760"/>
            <a:ext cx="1234440" cy="1234440"/>
          </a:xfrm>
          <a:prstGeom prst="rect">
            <a:avLst/>
          </a:prstGeom>
          <a:solidFill>
            <a:srgbClr val="0E7490"/>
          </a:solidFill>
          <a:ln/>
        </p:spPr>
      </p:sp>
      <p:pic>
        <p:nvPicPr>
          <p:cNvPr id="11" name="Image 1" descr="preencoded.png">    </p:cNvPr>
          <p:cNvPicPr>
            <a:picLocks noChangeAspect="1"/>
          </p:cNvPicPr>
          <p:nvPr/>
        </p:nvPicPr>
        <p:blipFill>
          <a:blip r:embed="rId2"/>
          <a:stretch>
            <a:fillRect/>
          </a:stretch>
        </p:blipFill>
        <p:spPr>
          <a:xfrm>
            <a:off x="2121408" y="1600200"/>
            <a:ext cx="457200" cy="457200"/>
          </a:xfrm>
          <a:prstGeom prst="rect">
            <a:avLst/>
          </a:prstGeom>
        </p:spPr>
      </p:pic>
      <p:sp>
        <p:nvSpPr>
          <p:cNvPr id="12" name="Text 8"/>
          <p:cNvSpPr/>
          <p:nvPr/>
        </p:nvSpPr>
        <p:spPr>
          <a:xfrm>
            <a:off x="1737360" y="2816352"/>
            <a:ext cx="1234440" cy="594360"/>
          </a:xfrm>
          <a:prstGeom prst="rect">
            <a:avLst/>
          </a:prstGeom>
          <a:noFill/>
          <a:ln/>
        </p:spPr>
        <p:txBody>
          <a:bodyPr wrap="square" rtlCol="0" anchor="ctr"/>
          <a:lstStyle/>
          <a:p>
            <a:pPr algn="ctr" indent="0" marL="0">
              <a:buNone/>
            </a:pPr>
            <a:r>
              <a:rPr lang="en-US" sz="900" b="1" dirty="0">
                <a:solidFill>
                  <a:srgbClr val="FFFFFF"/>
                </a:solidFill>
              </a:rPr>
              <a:t>Creates /</a:t>
            </a:r>
            <a:endParaRPr lang="en-US" sz="900" dirty="0"/>
          </a:p>
          <a:p>
            <a:pPr algn="ctr" indent="0" marL="0">
              <a:buNone/>
            </a:pPr>
            <a:r>
              <a:rPr lang="en-US" sz="900" b="1" dirty="0">
                <a:solidFill>
                  <a:srgbClr val="FFFFFF"/>
                </a:solidFill>
              </a:rPr>
              <a:t>Claims Place</a:t>
            </a:r>
            <a:endParaRPr lang="en-US" sz="900" dirty="0"/>
          </a:p>
        </p:txBody>
      </p:sp>
      <p:sp>
        <p:nvSpPr>
          <p:cNvPr id="13" name="Text 9"/>
          <p:cNvSpPr/>
          <p:nvPr/>
        </p:nvSpPr>
        <p:spPr>
          <a:xfrm>
            <a:off x="2990088" y="1920240"/>
            <a:ext cx="228600" cy="41148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14" name="Shape 10"/>
          <p:cNvSpPr/>
          <p:nvPr/>
        </p:nvSpPr>
        <p:spPr>
          <a:xfrm>
            <a:off x="3154680" y="1508760"/>
            <a:ext cx="1234440" cy="1234440"/>
          </a:xfrm>
          <a:prstGeom prst="rect">
            <a:avLst/>
          </a:prstGeom>
          <a:solidFill>
            <a:srgbClr val="5C4A00"/>
          </a:solidFill>
          <a:ln/>
        </p:spPr>
      </p:sp>
      <p:pic>
        <p:nvPicPr>
          <p:cNvPr id="15" name="Image 2" descr="preencoded.png">    </p:cNvPr>
          <p:cNvPicPr>
            <a:picLocks noChangeAspect="1"/>
          </p:cNvPicPr>
          <p:nvPr/>
        </p:nvPicPr>
        <p:blipFill>
          <a:blip r:embed="rId3"/>
          <a:stretch>
            <a:fillRect/>
          </a:stretch>
        </p:blipFill>
        <p:spPr>
          <a:xfrm>
            <a:off x="3538728" y="1600200"/>
            <a:ext cx="457200" cy="457200"/>
          </a:xfrm>
          <a:prstGeom prst="rect">
            <a:avLst/>
          </a:prstGeom>
        </p:spPr>
      </p:pic>
      <p:sp>
        <p:nvSpPr>
          <p:cNvPr id="16" name="Text 11"/>
          <p:cNvSpPr/>
          <p:nvPr/>
        </p:nvSpPr>
        <p:spPr>
          <a:xfrm>
            <a:off x="3154680" y="2816352"/>
            <a:ext cx="1234440" cy="594360"/>
          </a:xfrm>
          <a:prstGeom prst="rect">
            <a:avLst/>
          </a:prstGeom>
          <a:noFill/>
          <a:ln/>
        </p:spPr>
        <p:txBody>
          <a:bodyPr wrap="square" rtlCol="0" anchor="ctr"/>
          <a:lstStyle/>
          <a:p>
            <a:pPr algn="ctr" indent="0" marL="0">
              <a:buNone/>
            </a:pPr>
            <a:r>
              <a:rPr lang="en-US" sz="900" b="1" dirty="0">
                <a:solidFill>
                  <a:srgbClr val="FFFFFF"/>
                </a:solidFill>
              </a:rPr>
              <a:t>Posts</a:t>
            </a:r>
            <a:endParaRPr lang="en-US" sz="900" dirty="0"/>
          </a:p>
          <a:p>
            <a:pPr algn="ctr" indent="0" marL="0">
              <a:buNone/>
            </a:pPr>
            <a:r>
              <a:rPr lang="en-US" sz="900" b="1" dirty="0">
                <a:solidFill>
                  <a:srgbClr val="FFFFFF"/>
                </a:solidFill>
              </a:rPr>
              <a:t>Content</a:t>
            </a:r>
            <a:endParaRPr lang="en-US" sz="900" dirty="0"/>
          </a:p>
        </p:txBody>
      </p:sp>
      <p:sp>
        <p:nvSpPr>
          <p:cNvPr id="17" name="Text 12"/>
          <p:cNvSpPr/>
          <p:nvPr/>
        </p:nvSpPr>
        <p:spPr>
          <a:xfrm>
            <a:off x="4407408" y="1920240"/>
            <a:ext cx="228600" cy="41148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18" name="Shape 13"/>
          <p:cNvSpPr/>
          <p:nvPr/>
        </p:nvSpPr>
        <p:spPr>
          <a:xfrm>
            <a:off x="4572000" y="1508760"/>
            <a:ext cx="1234440" cy="1234440"/>
          </a:xfrm>
          <a:prstGeom prst="rect">
            <a:avLst/>
          </a:prstGeom>
          <a:solidFill>
            <a:srgbClr val="1E4D2B"/>
          </a:solidFill>
          <a:ln/>
        </p:spPr>
      </p:sp>
      <p:pic>
        <p:nvPicPr>
          <p:cNvPr id="19" name="Image 3" descr="preencoded.png">    </p:cNvPr>
          <p:cNvPicPr>
            <a:picLocks noChangeAspect="1"/>
          </p:cNvPicPr>
          <p:nvPr/>
        </p:nvPicPr>
        <p:blipFill>
          <a:blip r:embed="rId4"/>
          <a:stretch>
            <a:fillRect/>
          </a:stretch>
        </p:blipFill>
        <p:spPr>
          <a:xfrm>
            <a:off x="4956048" y="1600200"/>
            <a:ext cx="457200" cy="457200"/>
          </a:xfrm>
          <a:prstGeom prst="rect">
            <a:avLst/>
          </a:prstGeom>
        </p:spPr>
      </p:pic>
      <p:sp>
        <p:nvSpPr>
          <p:cNvPr id="20" name="Text 14"/>
          <p:cNvSpPr/>
          <p:nvPr/>
        </p:nvSpPr>
        <p:spPr>
          <a:xfrm>
            <a:off x="4572000" y="2816352"/>
            <a:ext cx="1234440" cy="594360"/>
          </a:xfrm>
          <a:prstGeom prst="rect">
            <a:avLst/>
          </a:prstGeom>
          <a:noFill/>
          <a:ln/>
        </p:spPr>
        <p:txBody>
          <a:bodyPr wrap="square" rtlCol="0" anchor="ctr"/>
          <a:lstStyle/>
          <a:p>
            <a:pPr algn="ctr" indent="0" marL="0">
              <a:buNone/>
            </a:pPr>
            <a:r>
              <a:rPr lang="en-US" sz="900" b="1" dirty="0">
                <a:solidFill>
                  <a:srgbClr val="FFFFFF"/>
                </a:solidFill>
              </a:rPr>
              <a:t>Tribe Territory</a:t>
            </a:r>
            <a:endParaRPr lang="en-US" sz="900" dirty="0"/>
          </a:p>
          <a:p>
            <a:pPr algn="ctr" indent="0" marL="0">
              <a:buNone/>
            </a:pPr>
            <a:r>
              <a:rPr lang="en-US" sz="900" b="1" dirty="0">
                <a:solidFill>
                  <a:srgbClr val="FFFFFF"/>
                </a:solidFill>
              </a:rPr>
              <a:t>Expands</a:t>
            </a:r>
            <a:endParaRPr lang="en-US" sz="900" dirty="0"/>
          </a:p>
        </p:txBody>
      </p:sp>
      <p:sp>
        <p:nvSpPr>
          <p:cNvPr id="21" name="Text 15"/>
          <p:cNvSpPr/>
          <p:nvPr/>
        </p:nvSpPr>
        <p:spPr>
          <a:xfrm>
            <a:off x="5824728" y="1920240"/>
            <a:ext cx="228600" cy="41148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22" name="Shape 16"/>
          <p:cNvSpPr/>
          <p:nvPr/>
        </p:nvSpPr>
        <p:spPr>
          <a:xfrm>
            <a:off x="5989320" y="1508760"/>
            <a:ext cx="1234440" cy="1234440"/>
          </a:xfrm>
          <a:prstGeom prst="rect">
            <a:avLst/>
          </a:prstGeom>
          <a:solidFill>
            <a:srgbClr val="3D1A78"/>
          </a:solidFill>
          <a:ln/>
        </p:spPr>
      </p:sp>
      <p:pic>
        <p:nvPicPr>
          <p:cNvPr id="23" name="Image 4" descr="preencoded.png">    </p:cNvPr>
          <p:cNvPicPr>
            <a:picLocks noChangeAspect="1"/>
          </p:cNvPicPr>
          <p:nvPr/>
        </p:nvPicPr>
        <p:blipFill>
          <a:blip r:embed="rId5"/>
          <a:stretch>
            <a:fillRect/>
          </a:stretch>
        </p:blipFill>
        <p:spPr>
          <a:xfrm>
            <a:off x="6373368" y="1600200"/>
            <a:ext cx="457200" cy="457200"/>
          </a:xfrm>
          <a:prstGeom prst="rect">
            <a:avLst/>
          </a:prstGeom>
        </p:spPr>
      </p:pic>
      <p:sp>
        <p:nvSpPr>
          <p:cNvPr id="24" name="Text 17"/>
          <p:cNvSpPr/>
          <p:nvPr/>
        </p:nvSpPr>
        <p:spPr>
          <a:xfrm>
            <a:off x="5989320" y="2816352"/>
            <a:ext cx="1234440" cy="594360"/>
          </a:xfrm>
          <a:prstGeom prst="rect">
            <a:avLst/>
          </a:prstGeom>
          <a:noFill/>
          <a:ln/>
        </p:spPr>
        <p:txBody>
          <a:bodyPr wrap="square" rtlCol="0" anchor="ctr"/>
          <a:lstStyle/>
          <a:p>
            <a:pPr algn="ctr" indent="0" marL="0">
              <a:buNone/>
            </a:pPr>
            <a:r>
              <a:rPr lang="en-US" sz="900" b="1" dirty="0">
                <a:solidFill>
                  <a:srgbClr val="FFFFFF"/>
                </a:solidFill>
              </a:rPr>
              <a:t>Content</a:t>
            </a:r>
            <a:endParaRPr lang="en-US" sz="900" dirty="0"/>
          </a:p>
          <a:p>
            <a:pPr algn="ctr" indent="0" marL="0">
              <a:buNone/>
            </a:pPr>
            <a:r>
              <a:rPr lang="en-US" sz="900" b="1" dirty="0">
                <a:solidFill>
                  <a:srgbClr val="FFFFFF"/>
                </a:solidFill>
              </a:rPr>
              <a:t>Shared</a:t>
            </a:r>
            <a:endParaRPr lang="en-US" sz="900" dirty="0"/>
          </a:p>
        </p:txBody>
      </p:sp>
      <p:sp>
        <p:nvSpPr>
          <p:cNvPr id="25" name="Text 18"/>
          <p:cNvSpPr/>
          <p:nvPr/>
        </p:nvSpPr>
        <p:spPr>
          <a:xfrm>
            <a:off x="7242048" y="1920240"/>
            <a:ext cx="228600" cy="41148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26" name="Shape 19"/>
          <p:cNvSpPr/>
          <p:nvPr/>
        </p:nvSpPr>
        <p:spPr>
          <a:xfrm>
            <a:off x="7406640" y="1508760"/>
            <a:ext cx="1234440" cy="1234440"/>
          </a:xfrm>
          <a:prstGeom prst="rect">
            <a:avLst/>
          </a:prstGeom>
          <a:solidFill>
            <a:srgbClr val="4A1942"/>
          </a:solidFill>
          <a:ln/>
        </p:spPr>
      </p:sp>
      <p:pic>
        <p:nvPicPr>
          <p:cNvPr id="27" name="Image 5" descr="preencoded.png">    </p:cNvPr>
          <p:cNvPicPr>
            <a:picLocks noChangeAspect="1"/>
          </p:cNvPicPr>
          <p:nvPr/>
        </p:nvPicPr>
        <p:blipFill>
          <a:blip r:embed="rId6"/>
          <a:stretch>
            <a:fillRect/>
          </a:stretch>
        </p:blipFill>
        <p:spPr>
          <a:xfrm>
            <a:off x="7790688" y="1600200"/>
            <a:ext cx="457200" cy="457200"/>
          </a:xfrm>
          <a:prstGeom prst="rect">
            <a:avLst/>
          </a:prstGeom>
        </p:spPr>
      </p:pic>
      <p:sp>
        <p:nvSpPr>
          <p:cNvPr id="28" name="Text 20"/>
          <p:cNvSpPr/>
          <p:nvPr/>
        </p:nvSpPr>
        <p:spPr>
          <a:xfrm>
            <a:off x="7406640" y="2816352"/>
            <a:ext cx="1234440" cy="594360"/>
          </a:xfrm>
          <a:prstGeom prst="rect">
            <a:avLst/>
          </a:prstGeom>
          <a:noFill/>
          <a:ln/>
        </p:spPr>
        <p:txBody>
          <a:bodyPr wrap="square" rtlCol="0" anchor="ctr"/>
          <a:lstStyle/>
          <a:p>
            <a:pPr algn="ctr" indent="0" marL="0">
              <a:buNone/>
            </a:pPr>
            <a:r>
              <a:rPr lang="en-US" sz="900" b="1" dirty="0">
                <a:solidFill>
                  <a:srgbClr val="FFFFFF"/>
                </a:solidFill>
              </a:rPr>
              <a:t>Social</a:t>
            </a:r>
            <a:endParaRPr lang="en-US" sz="900" dirty="0"/>
          </a:p>
          <a:p>
            <a:pPr algn="ctr" indent="0" marL="0">
              <a:buNone/>
            </a:pPr>
            <a:r>
              <a:rPr lang="en-US" sz="900" b="1" dirty="0">
                <a:solidFill>
                  <a:srgbClr val="FFFFFF"/>
                </a:solidFill>
              </a:rPr>
              <a:t>Happens</a:t>
            </a:r>
            <a:endParaRPr lang="en-US" sz="900" dirty="0"/>
          </a:p>
        </p:txBody>
      </p:sp>
      <p:sp>
        <p:nvSpPr>
          <p:cNvPr id="29" name="Shape 21"/>
          <p:cNvSpPr/>
          <p:nvPr/>
        </p:nvSpPr>
        <p:spPr>
          <a:xfrm>
            <a:off x="365760" y="3520440"/>
            <a:ext cx="8412480" cy="1371600"/>
          </a:xfrm>
          <a:prstGeom prst="rect">
            <a:avLst/>
          </a:prstGeom>
          <a:solidFill>
            <a:srgbClr val="2A1547"/>
          </a:solidFill>
          <a:ln w="12700">
            <a:solidFill>
              <a:srgbClr val="C77DFF"/>
            </a:solidFill>
            <a:prstDash val="solid"/>
          </a:ln>
        </p:spPr>
      </p:sp>
      <p:sp>
        <p:nvSpPr>
          <p:cNvPr id="30" name="Text 22"/>
          <p:cNvSpPr/>
          <p:nvPr/>
        </p:nvSpPr>
        <p:spPr>
          <a:xfrm>
            <a:off x="548640" y="3611880"/>
            <a:ext cx="3657600" cy="365760"/>
          </a:xfrm>
          <a:prstGeom prst="rect">
            <a:avLst/>
          </a:prstGeom>
          <a:noFill/>
          <a:ln/>
        </p:spPr>
        <p:txBody>
          <a:bodyPr wrap="square" rtlCol="0" anchor="ctr"/>
          <a:lstStyle/>
          <a:p>
            <a:pPr indent="0" marL="0">
              <a:buNone/>
            </a:pPr>
            <a:r>
              <a:rPr lang="en-US" sz="1300" b="1" dirty="0">
                <a:solidFill>
                  <a:srgbClr val="C77DFF"/>
                </a:solidFill>
              </a:rPr>
              <a:t>Why This Chain Matters:</a:t>
            </a:r>
            <a:endParaRPr lang="en-US" sz="1300" dirty="0"/>
          </a:p>
        </p:txBody>
      </p:sp>
      <p:sp>
        <p:nvSpPr>
          <p:cNvPr id="31" name="Text 23"/>
          <p:cNvSpPr/>
          <p:nvPr/>
        </p:nvSpPr>
        <p:spPr>
          <a:xfrm>
            <a:off x="548640" y="3977640"/>
            <a:ext cx="8046720" cy="868680"/>
          </a:xfrm>
          <a:prstGeom prst="rect">
            <a:avLst/>
          </a:prstGeom>
          <a:noFill/>
          <a:ln/>
        </p:spPr>
        <p:txBody>
          <a:bodyPr wrap="square" rtlCol="0" anchor="ctr"/>
          <a:lstStyle/>
          <a:p>
            <a:pPr marL="342900" indent="-342900">
              <a:spcAft>
                <a:spcPts val="500"/>
              </a:spcAft>
              <a:buSzPct val="100000"/>
              <a:buChar char="•"/>
            </a:pPr>
            <a:r>
              <a:rPr lang="en-US" sz="1100" dirty="0">
                <a:solidFill>
                  <a:srgbClr val="F0E6FF"/>
                </a:solidFill>
              </a:rPr>
              <a:t>Every action reinforces the map data and community growth</a:t>
            </a:r>
            <a:endParaRPr lang="en-US" sz="1100" dirty="0"/>
          </a:p>
          <a:p>
            <a:pPr marL="342900" indent="-342900">
              <a:spcAft>
                <a:spcPts val="500"/>
              </a:spcAft>
              <a:buSzPct val="100000"/>
              <a:buChar char="•"/>
            </a:pPr>
            <a:r>
              <a:rPr lang="en-US" sz="1100" dirty="0">
                <a:solidFill>
                  <a:srgbClr val="F0E6FF"/>
                </a:solidFill>
              </a:rPr>
              <a:t>More members → More places claimed → Bigger territory → More visibility → More members (flywheel)</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4: SYSTEM ARCHITECTURE &amp; DIAGRAM</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Visual Flow Breakdown</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From user action to map render — the technical round-trip</a:t>
            </a:r>
            <a:endParaRPr lang="en-US" sz="1400" dirty="0"/>
          </a:p>
        </p:txBody>
      </p:sp>
      <p:sp>
        <p:nvSpPr>
          <p:cNvPr id="6" name="Shape 4"/>
          <p:cNvSpPr/>
          <p:nvPr/>
        </p:nvSpPr>
        <p:spPr>
          <a:xfrm>
            <a:off x="365760" y="1508760"/>
            <a:ext cx="2651760" cy="1371600"/>
          </a:xfrm>
          <a:prstGeom prst="rect">
            <a:avLst/>
          </a:prstGeom>
          <a:solidFill>
            <a:srgbClr val="7B2FBE"/>
          </a:solidFill>
          <a:ln w="12700">
            <a:solidFill>
              <a:srgbClr val="FFFFFF"/>
            </a:solidFill>
            <a:prstDash val="solid"/>
          </a:ln>
        </p:spPr>
      </p:sp>
      <p:sp>
        <p:nvSpPr>
          <p:cNvPr id="7" name="Shape 5"/>
          <p:cNvSpPr/>
          <p:nvPr/>
        </p:nvSpPr>
        <p:spPr>
          <a:xfrm>
            <a:off x="457200" y="1581912"/>
            <a:ext cx="411480" cy="411480"/>
          </a:xfrm>
          <a:prstGeom prst="ellipse">
            <a:avLst/>
          </a:prstGeom>
          <a:solidFill>
            <a:srgbClr val="000000"/>
          </a:solidFill>
          <a:ln/>
        </p:spPr>
      </p:sp>
      <p:sp>
        <p:nvSpPr>
          <p:cNvPr id="8" name="Text 6"/>
          <p:cNvSpPr/>
          <p:nvPr/>
        </p:nvSpPr>
        <p:spPr>
          <a:xfrm>
            <a:off x="457200" y="1581912"/>
            <a:ext cx="411480" cy="41148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sp>
        <p:nvSpPr>
          <p:cNvPr id="9" name="Text 7"/>
          <p:cNvSpPr/>
          <p:nvPr/>
        </p:nvSpPr>
        <p:spPr>
          <a:xfrm>
            <a:off x="914400" y="1600200"/>
            <a:ext cx="2011680" cy="365760"/>
          </a:xfrm>
          <a:prstGeom prst="rect">
            <a:avLst/>
          </a:prstGeom>
          <a:noFill/>
          <a:ln/>
        </p:spPr>
        <p:txBody>
          <a:bodyPr wrap="square" rtlCol="0" anchor="ctr"/>
          <a:lstStyle/>
          <a:p>
            <a:pPr indent="0" marL="0">
              <a:buNone/>
            </a:pPr>
            <a:r>
              <a:rPr lang="en-US" sz="1300" b="1" dirty="0">
                <a:solidFill>
                  <a:srgbClr val="FFFFFF"/>
                </a:solidFill>
              </a:rPr>
              <a:t>Data Creation</a:t>
            </a:r>
            <a:endParaRPr lang="en-US" sz="1300" dirty="0"/>
          </a:p>
        </p:txBody>
      </p:sp>
      <p:sp>
        <p:nvSpPr>
          <p:cNvPr id="10" name="Text 8"/>
          <p:cNvSpPr/>
          <p:nvPr/>
        </p:nvSpPr>
        <p:spPr>
          <a:xfrm>
            <a:off x="457200" y="2075688"/>
            <a:ext cx="2468880" cy="685800"/>
          </a:xfrm>
          <a:prstGeom prst="rect">
            <a:avLst/>
          </a:prstGeom>
          <a:noFill/>
          <a:ln/>
        </p:spPr>
        <p:txBody>
          <a:bodyPr wrap="square" rtlCol="0" anchor="ctr"/>
          <a:lstStyle/>
          <a:p>
            <a:pPr indent="0" marL="0">
              <a:buNone/>
            </a:pPr>
            <a:r>
              <a:rPr lang="en-US" sz="1100" dirty="0">
                <a:solidFill>
                  <a:srgbClr val="F0E6FF"/>
                </a:solidFill>
              </a:rPr>
              <a:t>Tribe · Place · Claim</a:t>
            </a:r>
            <a:endParaRPr lang="en-US" sz="1100" dirty="0"/>
          </a:p>
        </p:txBody>
      </p:sp>
      <p:sp>
        <p:nvSpPr>
          <p:cNvPr id="11" name="Text 9"/>
          <p:cNvSpPr/>
          <p:nvPr/>
        </p:nvSpPr>
        <p:spPr>
          <a:xfrm>
            <a:off x="3044952" y="2011680"/>
            <a:ext cx="274320" cy="365760"/>
          </a:xfrm>
          <a:prstGeom prst="rect">
            <a:avLst/>
          </a:prstGeom>
          <a:noFill/>
          <a:ln/>
        </p:spPr>
        <p:txBody>
          <a:bodyPr wrap="square" rtlCol="0" anchor="ctr"/>
          <a:lstStyle/>
          <a:p>
            <a:pPr algn="ctr" indent="0" marL="0">
              <a:buNone/>
            </a:pPr>
            <a:r>
              <a:rPr lang="en-US" sz="1400" dirty="0">
                <a:solidFill>
                  <a:srgbClr val="F59E0B"/>
                </a:solidFill>
              </a:rPr>
              <a:t>→</a:t>
            </a:r>
            <a:endParaRPr lang="en-US" sz="1400" dirty="0"/>
          </a:p>
        </p:txBody>
      </p:sp>
      <p:sp>
        <p:nvSpPr>
          <p:cNvPr id="12" name="Shape 10"/>
          <p:cNvSpPr/>
          <p:nvPr/>
        </p:nvSpPr>
        <p:spPr>
          <a:xfrm>
            <a:off x="3246120" y="1508760"/>
            <a:ext cx="2651760" cy="1371600"/>
          </a:xfrm>
          <a:prstGeom prst="rect">
            <a:avLst/>
          </a:prstGeom>
          <a:solidFill>
            <a:srgbClr val="0E7490"/>
          </a:solidFill>
          <a:ln w="12700">
            <a:solidFill>
              <a:srgbClr val="FFFFFF"/>
            </a:solidFill>
            <a:prstDash val="solid"/>
          </a:ln>
        </p:spPr>
      </p:sp>
      <p:sp>
        <p:nvSpPr>
          <p:cNvPr id="13" name="Shape 11"/>
          <p:cNvSpPr/>
          <p:nvPr/>
        </p:nvSpPr>
        <p:spPr>
          <a:xfrm>
            <a:off x="3337560" y="1581912"/>
            <a:ext cx="411480" cy="411480"/>
          </a:xfrm>
          <a:prstGeom prst="ellipse">
            <a:avLst/>
          </a:prstGeom>
          <a:solidFill>
            <a:srgbClr val="000000"/>
          </a:solidFill>
          <a:ln/>
        </p:spPr>
      </p:sp>
      <p:sp>
        <p:nvSpPr>
          <p:cNvPr id="14" name="Text 12"/>
          <p:cNvSpPr/>
          <p:nvPr/>
        </p:nvSpPr>
        <p:spPr>
          <a:xfrm>
            <a:off x="3337560" y="1581912"/>
            <a:ext cx="411480" cy="41148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sp>
        <p:nvSpPr>
          <p:cNvPr id="15" name="Text 13"/>
          <p:cNvSpPr/>
          <p:nvPr/>
        </p:nvSpPr>
        <p:spPr>
          <a:xfrm>
            <a:off x="3794760" y="1600200"/>
            <a:ext cx="2011680" cy="365760"/>
          </a:xfrm>
          <a:prstGeom prst="rect">
            <a:avLst/>
          </a:prstGeom>
          <a:noFill/>
          <a:ln/>
        </p:spPr>
        <p:txBody>
          <a:bodyPr wrap="square" rtlCol="0" anchor="ctr"/>
          <a:lstStyle/>
          <a:p>
            <a:pPr indent="0" marL="0">
              <a:buNone/>
            </a:pPr>
            <a:r>
              <a:rPr lang="en-US" sz="1300" b="1" dirty="0">
                <a:solidFill>
                  <a:srgbClr val="FFFFFF"/>
                </a:solidFill>
              </a:rPr>
              <a:t>Database Store</a:t>
            </a:r>
            <a:endParaRPr lang="en-US" sz="1300" dirty="0"/>
          </a:p>
        </p:txBody>
      </p:sp>
      <p:sp>
        <p:nvSpPr>
          <p:cNvPr id="16" name="Text 14"/>
          <p:cNvSpPr/>
          <p:nvPr/>
        </p:nvSpPr>
        <p:spPr>
          <a:xfrm>
            <a:off x="3337560" y="2075688"/>
            <a:ext cx="2468880" cy="685800"/>
          </a:xfrm>
          <a:prstGeom prst="rect">
            <a:avLst/>
          </a:prstGeom>
          <a:noFill/>
          <a:ln/>
        </p:spPr>
        <p:txBody>
          <a:bodyPr wrap="square" rtlCol="0" anchor="ctr"/>
          <a:lstStyle/>
          <a:p>
            <a:pPr indent="0" marL="0">
              <a:buNone/>
            </a:pPr>
            <a:r>
              <a:rPr lang="en-US" sz="1100" dirty="0">
                <a:solidFill>
                  <a:srgbClr val="F0E6FF"/>
                </a:solidFill>
              </a:rPr>
              <a:t>PostgreSQL / MongoDB</a:t>
            </a:r>
            <a:endParaRPr lang="en-US" sz="1100" dirty="0"/>
          </a:p>
        </p:txBody>
      </p:sp>
      <p:sp>
        <p:nvSpPr>
          <p:cNvPr id="17" name="Text 15"/>
          <p:cNvSpPr/>
          <p:nvPr/>
        </p:nvSpPr>
        <p:spPr>
          <a:xfrm>
            <a:off x="5925312" y="2011680"/>
            <a:ext cx="274320" cy="365760"/>
          </a:xfrm>
          <a:prstGeom prst="rect">
            <a:avLst/>
          </a:prstGeom>
          <a:noFill/>
          <a:ln/>
        </p:spPr>
        <p:txBody>
          <a:bodyPr wrap="square" rtlCol="0" anchor="ctr"/>
          <a:lstStyle/>
          <a:p>
            <a:pPr algn="ctr" indent="0" marL="0">
              <a:buNone/>
            </a:pPr>
            <a:r>
              <a:rPr lang="en-US" sz="1400" dirty="0">
                <a:solidFill>
                  <a:srgbClr val="F59E0B"/>
                </a:solidFill>
              </a:rPr>
              <a:t>→</a:t>
            </a:r>
            <a:endParaRPr lang="en-US" sz="1400" dirty="0"/>
          </a:p>
        </p:txBody>
      </p:sp>
      <p:sp>
        <p:nvSpPr>
          <p:cNvPr id="18" name="Shape 16"/>
          <p:cNvSpPr/>
          <p:nvPr/>
        </p:nvSpPr>
        <p:spPr>
          <a:xfrm>
            <a:off x="6126480" y="1508760"/>
            <a:ext cx="2651760" cy="1371600"/>
          </a:xfrm>
          <a:prstGeom prst="rect">
            <a:avLst/>
          </a:prstGeom>
          <a:solidFill>
            <a:srgbClr val="1E4D2B"/>
          </a:solidFill>
          <a:ln w="12700">
            <a:solidFill>
              <a:srgbClr val="FFFFFF"/>
            </a:solidFill>
            <a:prstDash val="solid"/>
          </a:ln>
        </p:spPr>
      </p:sp>
      <p:sp>
        <p:nvSpPr>
          <p:cNvPr id="19" name="Shape 17"/>
          <p:cNvSpPr/>
          <p:nvPr/>
        </p:nvSpPr>
        <p:spPr>
          <a:xfrm>
            <a:off x="6217920" y="1581912"/>
            <a:ext cx="411480" cy="411480"/>
          </a:xfrm>
          <a:prstGeom prst="ellipse">
            <a:avLst/>
          </a:prstGeom>
          <a:solidFill>
            <a:srgbClr val="000000"/>
          </a:solidFill>
          <a:ln/>
        </p:spPr>
      </p:sp>
      <p:sp>
        <p:nvSpPr>
          <p:cNvPr id="20" name="Text 18"/>
          <p:cNvSpPr/>
          <p:nvPr/>
        </p:nvSpPr>
        <p:spPr>
          <a:xfrm>
            <a:off x="6217920" y="1581912"/>
            <a:ext cx="411480" cy="41148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sp>
        <p:nvSpPr>
          <p:cNvPr id="21" name="Text 19"/>
          <p:cNvSpPr/>
          <p:nvPr/>
        </p:nvSpPr>
        <p:spPr>
          <a:xfrm>
            <a:off x="6675120" y="1600200"/>
            <a:ext cx="2011680" cy="365760"/>
          </a:xfrm>
          <a:prstGeom prst="rect">
            <a:avLst/>
          </a:prstGeom>
          <a:noFill/>
          <a:ln/>
        </p:spPr>
        <p:txBody>
          <a:bodyPr wrap="square" rtlCol="0" anchor="ctr"/>
          <a:lstStyle/>
          <a:p>
            <a:pPr indent="0" marL="0">
              <a:buNone/>
            </a:pPr>
            <a:r>
              <a:rPr lang="en-US" sz="1300" b="1" dirty="0">
                <a:solidFill>
                  <a:srgbClr val="FFFFFF"/>
                </a:solidFill>
              </a:rPr>
              <a:t>Business Logic</a:t>
            </a:r>
            <a:endParaRPr lang="en-US" sz="1300" dirty="0"/>
          </a:p>
        </p:txBody>
      </p:sp>
      <p:sp>
        <p:nvSpPr>
          <p:cNvPr id="22" name="Text 20"/>
          <p:cNvSpPr/>
          <p:nvPr/>
        </p:nvSpPr>
        <p:spPr>
          <a:xfrm>
            <a:off x="6217920" y="2075688"/>
            <a:ext cx="2468880" cy="685800"/>
          </a:xfrm>
          <a:prstGeom prst="rect">
            <a:avLst/>
          </a:prstGeom>
          <a:noFill/>
          <a:ln/>
        </p:spPr>
        <p:txBody>
          <a:bodyPr wrap="square" rtlCol="0" anchor="ctr"/>
          <a:lstStyle/>
          <a:p>
            <a:pPr indent="0" marL="0">
              <a:buNone/>
            </a:pPr>
            <a:r>
              <a:rPr lang="en-US" sz="1100" dirty="0">
                <a:solidFill>
                  <a:srgbClr val="F0E6FF"/>
                </a:solidFill>
              </a:rPr>
              <a:t>Territory Algorithm · Conflict Resolution</a:t>
            </a:r>
            <a:endParaRPr lang="en-US" sz="1100" dirty="0"/>
          </a:p>
        </p:txBody>
      </p:sp>
      <p:sp>
        <p:nvSpPr>
          <p:cNvPr id="23" name="Text 21"/>
          <p:cNvSpPr/>
          <p:nvPr/>
        </p:nvSpPr>
        <p:spPr>
          <a:xfrm>
            <a:off x="7315200" y="2898648"/>
            <a:ext cx="365760" cy="201168"/>
          </a:xfrm>
          <a:prstGeom prst="rect">
            <a:avLst/>
          </a:prstGeom>
          <a:noFill/>
          <a:ln/>
        </p:spPr>
        <p:txBody>
          <a:bodyPr wrap="square" rtlCol="0" anchor="ctr"/>
          <a:lstStyle/>
          <a:p>
            <a:pPr algn="ctr" indent="0" marL="0">
              <a:buNone/>
            </a:pPr>
            <a:r>
              <a:rPr lang="en-US" sz="1400" dirty="0">
                <a:solidFill>
                  <a:srgbClr val="F59E0B"/>
                </a:solidFill>
              </a:rPr>
              <a:t>↓</a:t>
            </a:r>
            <a:endParaRPr lang="en-US" sz="1400" dirty="0"/>
          </a:p>
        </p:txBody>
      </p:sp>
      <p:sp>
        <p:nvSpPr>
          <p:cNvPr id="24" name="Shape 22"/>
          <p:cNvSpPr/>
          <p:nvPr/>
        </p:nvSpPr>
        <p:spPr>
          <a:xfrm>
            <a:off x="365760" y="3063240"/>
            <a:ext cx="2651760" cy="1371600"/>
          </a:xfrm>
          <a:prstGeom prst="rect">
            <a:avLst/>
          </a:prstGeom>
          <a:solidFill>
            <a:srgbClr val="5C4A00"/>
          </a:solidFill>
          <a:ln w="12700">
            <a:solidFill>
              <a:srgbClr val="FFFFFF"/>
            </a:solidFill>
            <a:prstDash val="solid"/>
          </a:ln>
        </p:spPr>
      </p:sp>
      <p:sp>
        <p:nvSpPr>
          <p:cNvPr id="25" name="Shape 23"/>
          <p:cNvSpPr/>
          <p:nvPr/>
        </p:nvSpPr>
        <p:spPr>
          <a:xfrm>
            <a:off x="457200" y="3136392"/>
            <a:ext cx="411480" cy="411480"/>
          </a:xfrm>
          <a:prstGeom prst="ellipse">
            <a:avLst/>
          </a:prstGeom>
          <a:solidFill>
            <a:srgbClr val="000000"/>
          </a:solidFill>
          <a:ln/>
        </p:spPr>
      </p:sp>
      <p:sp>
        <p:nvSpPr>
          <p:cNvPr id="26" name="Text 24"/>
          <p:cNvSpPr/>
          <p:nvPr/>
        </p:nvSpPr>
        <p:spPr>
          <a:xfrm>
            <a:off x="457200" y="3136392"/>
            <a:ext cx="411480" cy="41148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sp>
        <p:nvSpPr>
          <p:cNvPr id="27" name="Text 25"/>
          <p:cNvSpPr/>
          <p:nvPr/>
        </p:nvSpPr>
        <p:spPr>
          <a:xfrm>
            <a:off x="914400" y="3154680"/>
            <a:ext cx="2011680" cy="365760"/>
          </a:xfrm>
          <a:prstGeom prst="rect">
            <a:avLst/>
          </a:prstGeom>
          <a:noFill/>
          <a:ln/>
        </p:spPr>
        <p:txBody>
          <a:bodyPr wrap="square" rtlCol="0" anchor="ctr"/>
          <a:lstStyle/>
          <a:p>
            <a:pPr indent="0" marL="0">
              <a:buNone/>
            </a:pPr>
            <a:r>
              <a:rPr lang="en-US" sz="1300" b="1" dirty="0">
                <a:solidFill>
                  <a:srgbClr val="FFFFFF"/>
                </a:solidFill>
              </a:rPr>
              <a:t>API Layer</a:t>
            </a:r>
            <a:endParaRPr lang="en-US" sz="1300" dirty="0"/>
          </a:p>
        </p:txBody>
      </p:sp>
      <p:sp>
        <p:nvSpPr>
          <p:cNvPr id="28" name="Text 26"/>
          <p:cNvSpPr/>
          <p:nvPr/>
        </p:nvSpPr>
        <p:spPr>
          <a:xfrm>
            <a:off x="457200" y="3630168"/>
            <a:ext cx="2468880" cy="685800"/>
          </a:xfrm>
          <a:prstGeom prst="rect">
            <a:avLst/>
          </a:prstGeom>
          <a:noFill/>
          <a:ln/>
        </p:spPr>
        <p:txBody>
          <a:bodyPr wrap="square" rtlCol="0" anchor="ctr"/>
          <a:lstStyle/>
          <a:p>
            <a:pPr indent="0" marL="0">
              <a:buNone/>
            </a:pPr>
            <a:r>
              <a:rPr lang="en-US" sz="1100" dirty="0">
                <a:solidFill>
                  <a:srgbClr val="F0E6FF"/>
                </a:solidFill>
              </a:rPr>
              <a:t>REST / GraphQL Endpoints</a:t>
            </a:r>
            <a:endParaRPr lang="en-US" sz="1100" dirty="0"/>
          </a:p>
        </p:txBody>
      </p:sp>
      <p:sp>
        <p:nvSpPr>
          <p:cNvPr id="29" name="Text 27"/>
          <p:cNvSpPr/>
          <p:nvPr/>
        </p:nvSpPr>
        <p:spPr>
          <a:xfrm>
            <a:off x="3044952" y="3566160"/>
            <a:ext cx="274320" cy="365760"/>
          </a:xfrm>
          <a:prstGeom prst="rect">
            <a:avLst/>
          </a:prstGeom>
          <a:noFill/>
          <a:ln/>
        </p:spPr>
        <p:txBody>
          <a:bodyPr wrap="square" rtlCol="0" anchor="ctr"/>
          <a:lstStyle/>
          <a:p>
            <a:pPr algn="ctr" indent="0" marL="0">
              <a:buNone/>
            </a:pPr>
            <a:r>
              <a:rPr lang="en-US" sz="1400" dirty="0">
                <a:solidFill>
                  <a:srgbClr val="F59E0B"/>
                </a:solidFill>
              </a:rPr>
              <a:t>→</a:t>
            </a:r>
            <a:endParaRPr lang="en-US" sz="1400" dirty="0"/>
          </a:p>
        </p:txBody>
      </p:sp>
      <p:sp>
        <p:nvSpPr>
          <p:cNvPr id="30" name="Shape 28"/>
          <p:cNvSpPr/>
          <p:nvPr/>
        </p:nvSpPr>
        <p:spPr>
          <a:xfrm>
            <a:off x="3246120" y="3063240"/>
            <a:ext cx="2651760" cy="1371600"/>
          </a:xfrm>
          <a:prstGeom prst="rect">
            <a:avLst/>
          </a:prstGeom>
          <a:solidFill>
            <a:srgbClr val="3D1A78"/>
          </a:solidFill>
          <a:ln w="12700">
            <a:solidFill>
              <a:srgbClr val="FFFFFF"/>
            </a:solidFill>
            <a:prstDash val="solid"/>
          </a:ln>
        </p:spPr>
      </p:sp>
      <p:sp>
        <p:nvSpPr>
          <p:cNvPr id="31" name="Shape 29"/>
          <p:cNvSpPr/>
          <p:nvPr/>
        </p:nvSpPr>
        <p:spPr>
          <a:xfrm>
            <a:off x="3337560" y="3136392"/>
            <a:ext cx="411480" cy="411480"/>
          </a:xfrm>
          <a:prstGeom prst="ellipse">
            <a:avLst/>
          </a:prstGeom>
          <a:solidFill>
            <a:srgbClr val="000000"/>
          </a:solidFill>
          <a:ln/>
        </p:spPr>
      </p:sp>
      <p:sp>
        <p:nvSpPr>
          <p:cNvPr id="32" name="Text 30"/>
          <p:cNvSpPr/>
          <p:nvPr/>
        </p:nvSpPr>
        <p:spPr>
          <a:xfrm>
            <a:off x="3337560" y="3136392"/>
            <a:ext cx="411480" cy="411480"/>
          </a:xfrm>
          <a:prstGeom prst="rect">
            <a:avLst/>
          </a:prstGeom>
          <a:noFill/>
          <a:ln/>
        </p:spPr>
        <p:txBody>
          <a:bodyPr wrap="square" rtlCol="0" anchor="ctr"/>
          <a:lstStyle/>
          <a:p>
            <a:pPr algn="ctr" indent="0" marL="0">
              <a:buNone/>
            </a:pPr>
            <a:r>
              <a:rPr lang="en-US" sz="1400" b="1" dirty="0">
                <a:solidFill>
                  <a:srgbClr val="FFFFFF"/>
                </a:solidFill>
              </a:rPr>
              <a:t>5</a:t>
            </a:r>
            <a:endParaRPr lang="en-US" sz="1400" dirty="0"/>
          </a:p>
        </p:txBody>
      </p:sp>
      <p:sp>
        <p:nvSpPr>
          <p:cNvPr id="33" name="Text 31"/>
          <p:cNvSpPr/>
          <p:nvPr/>
        </p:nvSpPr>
        <p:spPr>
          <a:xfrm>
            <a:off x="3794760" y="3154680"/>
            <a:ext cx="2011680" cy="365760"/>
          </a:xfrm>
          <a:prstGeom prst="rect">
            <a:avLst/>
          </a:prstGeom>
          <a:noFill/>
          <a:ln/>
        </p:spPr>
        <p:txBody>
          <a:bodyPr wrap="square" rtlCol="0" anchor="ctr"/>
          <a:lstStyle/>
          <a:p>
            <a:pPr indent="0" marL="0">
              <a:buNone/>
            </a:pPr>
            <a:r>
              <a:rPr lang="en-US" sz="1300" b="1" dirty="0">
                <a:solidFill>
                  <a:srgbClr val="FFFFFF"/>
                </a:solidFill>
              </a:rPr>
              <a:t>Map Rendering</a:t>
            </a:r>
            <a:endParaRPr lang="en-US" sz="1300" dirty="0"/>
          </a:p>
        </p:txBody>
      </p:sp>
      <p:sp>
        <p:nvSpPr>
          <p:cNvPr id="34" name="Text 32"/>
          <p:cNvSpPr/>
          <p:nvPr/>
        </p:nvSpPr>
        <p:spPr>
          <a:xfrm>
            <a:off x="3337560" y="3630168"/>
            <a:ext cx="2468880" cy="685800"/>
          </a:xfrm>
          <a:prstGeom prst="rect">
            <a:avLst/>
          </a:prstGeom>
          <a:noFill/>
          <a:ln/>
        </p:spPr>
        <p:txBody>
          <a:bodyPr wrap="square" rtlCol="0" anchor="ctr"/>
          <a:lstStyle/>
          <a:p>
            <a:pPr indent="0" marL="0">
              <a:buNone/>
            </a:pPr>
            <a:r>
              <a:rPr lang="en-US" sz="1100" dirty="0">
                <a:solidFill>
                  <a:srgbClr val="F0E6FF"/>
                </a:solidFill>
              </a:rPr>
              <a:t>Leaflet / Google Maps SDK</a:t>
            </a:r>
            <a:endParaRPr lang="en-US" sz="1100" dirty="0"/>
          </a:p>
        </p:txBody>
      </p:sp>
      <p:sp>
        <p:nvSpPr>
          <p:cNvPr id="35" name="Text 33"/>
          <p:cNvSpPr/>
          <p:nvPr/>
        </p:nvSpPr>
        <p:spPr>
          <a:xfrm>
            <a:off x="5925312" y="3566160"/>
            <a:ext cx="274320" cy="365760"/>
          </a:xfrm>
          <a:prstGeom prst="rect">
            <a:avLst/>
          </a:prstGeom>
          <a:noFill/>
          <a:ln/>
        </p:spPr>
        <p:txBody>
          <a:bodyPr wrap="square" rtlCol="0" anchor="ctr"/>
          <a:lstStyle/>
          <a:p>
            <a:pPr algn="ctr" indent="0" marL="0">
              <a:buNone/>
            </a:pPr>
            <a:r>
              <a:rPr lang="en-US" sz="1400" dirty="0">
                <a:solidFill>
                  <a:srgbClr val="F59E0B"/>
                </a:solidFill>
              </a:rPr>
              <a:t>→</a:t>
            </a:r>
            <a:endParaRPr lang="en-US" sz="1400" dirty="0"/>
          </a:p>
        </p:txBody>
      </p:sp>
      <p:sp>
        <p:nvSpPr>
          <p:cNvPr id="36" name="Shape 34"/>
          <p:cNvSpPr/>
          <p:nvPr/>
        </p:nvSpPr>
        <p:spPr>
          <a:xfrm>
            <a:off x="6126480" y="3063240"/>
            <a:ext cx="2651760" cy="1371600"/>
          </a:xfrm>
          <a:prstGeom prst="rect">
            <a:avLst/>
          </a:prstGeom>
          <a:solidFill>
            <a:srgbClr val="4A1942"/>
          </a:solidFill>
          <a:ln w="12700">
            <a:solidFill>
              <a:srgbClr val="FFFFFF"/>
            </a:solidFill>
            <a:prstDash val="solid"/>
          </a:ln>
        </p:spPr>
      </p:sp>
      <p:sp>
        <p:nvSpPr>
          <p:cNvPr id="37" name="Shape 35"/>
          <p:cNvSpPr/>
          <p:nvPr/>
        </p:nvSpPr>
        <p:spPr>
          <a:xfrm>
            <a:off x="6217920" y="3136392"/>
            <a:ext cx="411480" cy="411480"/>
          </a:xfrm>
          <a:prstGeom prst="ellipse">
            <a:avLst/>
          </a:prstGeom>
          <a:solidFill>
            <a:srgbClr val="000000"/>
          </a:solidFill>
          <a:ln/>
        </p:spPr>
      </p:sp>
      <p:sp>
        <p:nvSpPr>
          <p:cNvPr id="38" name="Text 36"/>
          <p:cNvSpPr/>
          <p:nvPr/>
        </p:nvSpPr>
        <p:spPr>
          <a:xfrm>
            <a:off x="6217920" y="3136392"/>
            <a:ext cx="411480" cy="411480"/>
          </a:xfrm>
          <a:prstGeom prst="rect">
            <a:avLst/>
          </a:prstGeom>
          <a:noFill/>
          <a:ln/>
        </p:spPr>
        <p:txBody>
          <a:bodyPr wrap="square" rtlCol="0" anchor="ctr"/>
          <a:lstStyle/>
          <a:p>
            <a:pPr algn="ctr" indent="0" marL="0">
              <a:buNone/>
            </a:pPr>
            <a:r>
              <a:rPr lang="en-US" sz="1400" b="1" dirty="0">
                <a:solidFill>
                  <a:srgbClr val="FFFFFF"/>
                </a:solidFill>
              </a:rPr>
              <a:t>6</a:t>
            </a:r>
            <a:endParaRPr lang="en-US" sz="1400" dirty="0"/>
          </a:p>
        </p:txBody>
      </p:sp>
      <p:sp>
        <p:nvSpPr>
          <p:cNvPr id="39" name="Text 37"/>
          <p:cNvSpPr/>
          <p:nvPr/>
        </p:nvSpPr>
        <p:spPr>
          <a:xfrm>
            <a:off x="6675120" y="3154680"/>
            <a:ext cx="2011680" cy="365760"/>
          </a:xfrm>
          <a:prstGeom prst="rect">
            <a:avLst/>
          </a:prstGeom>
          <a:noFill/>
          <a:ln/>
        </p:spPr>
        <p:txBody>
          <a:bodyPr wrap="square" rtlCol="0" anchor="ctr"/>
          <a:lstStyle/>
          <a:p>
            <a:pPr indent="0" marL="0">
              <a:buNone/>
            </a:pPr>
            <a:r>
              <a:rPr lang="en-US" sz="1300" b="1" dirty="0">
                <a:solidFill>
                  <a:srgbClr val="FFFFFF"/>
                </a:solidFill>
              </a:rPr>
              <a:t>User Interaction</a:t>
            </a:r>
            <a:endParaRPr lang="en-US" sz="1300" dirty="0"/>
          </a:p>
        </p:txBody>
      </p:sp>
      <p:sp>
        <p:nvSpPr>
          <p:cNvPr id="40" name="Text 38"/>
          <p:cNvSpPr/>
          <p:nvPr/>
        </p:nvSpPr>
        <p:spPr>
          <a:xfrm>
            <a:off x="6217920" y="3630168"/>
            <a:ext cx="2468880" cy="685800"/>
          </a:xfrm>
          <a:prstGeom prst="rect">
            <a:avLst/>
          </a:prstGeom>
          <a:noFill/>
          <a:ln/>
        </p:spPr>
        <p:txBody>
          <a:bodyPr wrap="square" rtlCol="0" anchor="ctr"/>
          <a:lstStyle/>
          <a:p>
            <a:pPr indent="0" marL="0">
              <a:buNone/>
            </a:pPr>
            <a:r>
              <a:rPr lang="en-US" sz="1100" dirty="0">
                <a:solidFill>
                  <a:srgbClr val="F0E6FF"/>
                </a:solidFill>
              </a:rPr>
              <a:t>Tap · Claim · Post · Chat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5: QA &amp; TESTING</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QA Testing Matrix</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What to test — and what to watch out for</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3383280"/>
        </p:xfrm>
        <a:graphic>
          <a:graphicData uri="http://schemas.openxmlformats.org/drawingml/2006/table">
            <a:tbl>
              <a:tblPr/>
              <a:tblGrid>
                <a:gridCol w="1463040"/>
                <a:gridCol w="2560320"/>
                <a:gridCol w="1280160"/>
                <a:gridCol w="3108960"/>
              </a:tblGrid>
              <a:tr h="422910">
                <a:tc>
                  <a:txBody>
                    <a:bodyPr/>
                    <a:lstStyle/>
                    <a:p>
                      <a:pPr algn="l" indent="0" marL="0">
                        <a:buNone/>
                      </a:pPr>
                      <a:r>
                        <a:rPr lang="en-US" sz="1000" b="1" dirty="0">
                          <a:solidFill>
                            <a:srgbClr val="FFFFFF"/>
                          </a:solidFill>
                        </a:rPr>
                        <a:t>Feature Area</a:t>
                      </a:r>
                      <a:endParaRPr lang="en-US" sz="10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7B2FBE"/>
                    </a:solidFill>
                  </a:tcPr>
                </a:tc>
                <a:tc>
                  <a:txBody>
                    <a:bodyPr/>
                    <a:lstStyle/>
                    <a:p>
                      <a:pPr algn="l" indent="0" marL="0">
                        <a:buNone/>
                      </a:pPr>
                      <a:r>
                        <a:rPr lang="en-US" sz="1000" b="1" dirty="0">
                          <a:solidFill>
                            <a:srgbClr val="FFFFFF"/>
                          </a:solidFill>
                        </a:rPr>
                        <a:t>Test Cases</a:t>
                      </a:r>
                      <a:endParaRPr lang="en-US" sz="10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7B2FBE"/>
                    </a:solidFill>
                  </a:tcPr>
                </a:tc>
                <a:tc>
                  <a:txBody>
                    <a:bodyPr/>
                    <a:lstStyle/>
                    <a:p>
                      <a:pPr algn="l" indent="0" marL="0">
                        <a:buNone/>
                      </a:pPr>
                      <a:r>
                        <a:rPr lang="en-US" sz="1000" b="1" dirty="0">
                          <a:solidFill>
                            <a:srgbClr val="FFFFFF"/>
                          </a:solidFill>
                        </a:rPr>
                        <a:t>Risk Level</a:t>
                      </a:r>
                      <a:endParaRPr lang="en-US" sz="10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7B2FBE"/>
                    </a:solidFill>
                  </a:tcPr>
                </a:tc>
                <a:tc>
                  <a:txBody>
                    <a:bodyPr/>
                    <a:lstStyle/>
                    <a:p>
                      <a:pPr algn="l" indent="0" marL="0">
                        <a:buNone/>
                      </a:pPr>
                      <a:r>
                        <a:rPr lang="en-US" sz="1000" b="1" dirty="0">
                          <a:solidFill>
                            <a:srgbClr val="FFFFFF"/>
                          </a:solidFill>
                        </a:rPr>
                        <a:t>Edge Cases</a:t>
                      </a:r>
                      <a:endParaRPr lang="en-US" sz="10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7B2FBE"/>
                    </a:solidFill>
                  </a:tcPr>
                </a:tc>
              </a:tr>
              <a:tr h="422910">
                <a:tc>
                  <a:txBody>
                    <a:bodyPr/>
                    <a:lstStyle/>
                    <a:p>
                      <a:pPr algn="l" indent="0" marL="0">
                        <a:buNone/>
                      </a:pPr>
                      <a:r>
                        <a:rPr lang="en-US" sz="900" dirty="0">
                          <a:solidFill>
                            <a:srgbClr val="F0E6FF"/>
                          </a:solidFill>
                        </a:rPr>
                        <a:t>Tribe Flow</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Join / Exit / Member list visibility</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 Medium</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Concurrent joins, max member limit</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r>
              <a:tr h="422910">
                <a:tc>
                  <a:txBody>
                    <a:bodyPr/>
                    <a:lstStyle/>
                    <a:p>
                      <a:pPr algn="l" indent="0" marL="0">
                        <a:buNone/>
                      </a:pPr>
                      <a:r>
                        <a:rPr lang="en-US" sz="900" dirty="0">
                          <a:solidFill>
                            <a:srgbClr val="F0E6FF"/>
                          </a:solidFill>
                        </a:rPr>
                        <a:t>Place Flow</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Create / Duplicate GPS / Edit details</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 High</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Same café listed 3× at same coords</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r>
              <a:tr h="422910">
                <a:tc>
                  <a:txBody>
                    <a:bodyPr/>
                    <a:lstStyle/>
                    <a:p>
                      <a:pPr algn="l" indent="0" marL="0">
                        <a:buNone/>
                      </a:pPr>
                      <a:r>
                        <a:rPr lang="en-US" sz="900" dirty="0">
                          <a:solidFill>
                            <a:srgbClr val="F0E6FF"/>
                          </a:solidFill>
                        </a:rPr>
                        <a:t>Claim Flow</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Claim / Release / Conflict resolution</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 High</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2 users claiming same place simultaneously</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r>
              <a:tr h="422910">
                <a:tc>
                  <a:txBody>
                    <a:bodyPr/>
                    <a:lstStyle/>
                    <a:p>
                      <a:pPr algn="l" indent="0" marL="0">
                        <a:buNone/>
                      </a:pPr>
                      <a:r>
                        <a:rPr lang="en-US" sz="900" dirty="0">
                          <a:solidFill>
                            <a:srgbClr val="F0E6FF"/>
                          </a:solidFill>
                        </a:rPr>
                        <a:t>Territory Logic</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Polygon boundary drawing, place outside radius</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 High</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Disconnected places — breaks convex hull</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r>
              <a:tr h="422910">
                <a:tc>
                  <a:txBody>
                    <a:bodyPr/>
                    <a:lstStyle/>
                    <a:p>
                      <a:pPr algn="l" indent="0" marL="0">
                        <a:buNone/>
                      </a:pPr>
                      <a:r>
                        <a:rPr lang="en-US" sz="900" dirty="0">
                          <a:solidFill>
                            <a:srgbClr val="F0E6FF"/>
                          </a:solidFill>
                        </a:rPr>
                        <a:t>Feed System</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Nearby vs Tribe vs Global filtering</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 Medium</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Posts in Global but not Nearby</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r>
              <a:tr h="422910">
                <a:tc>
                  <a:txBody>
                    <a:bodyPr/>
                    <a:lstStyle/>
                    <a:p>
                      <a:pPr algn="l" indent="0" marL="0">
                        <a:buNone/>
                      </a:pPr>
                      <a:r>
                        <a:rPr lang="en-US" sz="900" dirty="0">
                          <a:solidFill>
                            <a:srgbClr val="F0E6FF"/>
                          </a:solidFill>
                        </a:rPr>
                        <a:t>Media Upload</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Large video, compression, CDN latency</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 Low</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c>
                  <a:txBody>
                    <a:bodyPr/>
                    <a:lstStyle/>
                    <a:p>
                      <a:pPr algn="l" indent="0" marL="0">
                        <a:buNone/>
                      </a:pPr>
                      <a:r>
                        <a:rPr lang="en-US" sz="900" dirty="0">
                          <a:solidFill>
                            <a:srgbClr val="F0E6FF"/>
                          </a:solidFill>
                        </a:rPr>
                        <a:t>File &gt;100MB — timeout handling</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A1547"/>
                    </a:solidFill>
                  </a:tcPr>
                </a:tc>
              </a:tr>
              <a:tr h="422910">
                <a:tc>
                  <a:txBody>
                    <a:bodyPr/>
                    <a:lstStyle/>
                    <a:p>
                      <a:pPr algn="l" indent="0" marL="0">
                        <a:buNone/>
                      </a:pPr>
                      <a:r>
                        <a:rPr lang="en-US" sz="900" dirty="0">
                          <a:solidFill>
                            <a:srgbClr val="F0E6FF"/>
                          </a:solidFill>
                        </a:rPr>
                        <a:t>Sync / Realtime</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Web vs Mobile consistency</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 Medium</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c>
                  <a:txBody>
                    <a:bodyPr/>
                    <a:lstStyle/>
                    <a:p>
                      <a:pPr algn="l" indent="0" marL="0">
                        <a:buNone/>
                      </a:pPr>
                      <a:r>
                        <a:rPr lang="en-US" sz="900" dirty="0">
                          <a:solidFill>
                            <a:srgbClr val="F0E6FF"/>
                          </a:solidFill>
                        </a:rPr>
                        <a:t>Place on web, not visible on mobile 10min</a:t>
                      </a:r>
                      <a:endParaRPr lang="en-US" sz="900" dirty="0"/>
                    </a:p>
                  </a:txBody>
                  <a:tcPr marL="91440" marR="91440" marT="45720" marB="45720">
                    <a:lnL w="6350" cap="flat" cmpd="sng" algn="ctr">
                      <a:solidFill>
                        <a:srgbClr val="5B21B6"/>
                      </a:solidFill>
                      <a:prstDash val="solid"/>
                      <a:round/>
                      <a:headEnd type="none" w="med" len="med"/>
                      <a:tailEnd type="none" w="med" len="med"/>
                    </a:lnL>
                    <a:lnR w="6350" cap="flat" cmpd="sng" algn="ctr">
                      <a:solidFill>
                        <a:srgbClr val="5B21B6"/>
                      </a:solidFill>
                      <a:prstDash val="solid"/>
                      <a:round/>
                      <a:headEnd type="none" w="med" len="med"/>
                      <a:tailEnd type="none" w="med" len="med"/>
                    </a:lnR>
                    <a:lnT w="6350" cap="flat" cmpd="sng" algn="ctr">
                      <a:solidFill>
                        <a:srgbClr val="5B21B6"/>
                      </a:solidFill>
                      <a:prstDash val="solid"/>
                      <a:round/>
                      <a:headEnd type="none" w="med" len="med"/>
                      <a:tailEnd type="none" w="med" len="med"/>
                    </a:lnT>
                    <a:lnB w="6350" cap="flat" cmpd="sng" algn="ctr">
                      <a:solidFill>
                        <a:srgbClr val="5B21B6"/>
                      </a:solidFill>
                      <a:prstDash val="solid"/>
                      <a:round/>
                      <a:headEnd type="none" w="med" len="med"/>
                      <a:tailEnd type="none" w="med" len="med"/>
                    </a:lnB>
                    <a:solidFill>
                      <a:srgbClr val="201040"/>
                    </a:solidFill>
                  </a:tcPr>
                </a:tc>
              </a:tr>
            </a:tbl>
          </a:graphicData>
        </a:graphic>
      </p:graphicFrame>
      <p:sp>
        <p:nvSpPr>
          <p:cNvPr id="7" name="Shape 4"/>
          <p:cNvSpPr/>
          <p:nvPr/>
        </p:nvSpPr>
        <p:spPr>
          <a:xfrm>
            <a:off x="365760" y="4754880"/>
            <a:ext cx="8412480" cy="256032"/>
          </a:xfrm>
          <a:prstGeom prst="rect">
            <a:avLst/>
          </a:prstGeom>
          <a:solidFill>
            <a:srgbClr val="7B2FBE"/>
          </a:solidFill>
          <a:ln/>
        </p:spPr>
      </p:sp>
      <p:sp>
        <p:nvSpPr>
          <p:cNvPr id="8" name="Text 5"/>
          <p:cNvSpPr/>
          <p:nvPr/>
        </p:nvSpPr>
        <p:spPr>
          <a:xfrm>
            <a:off x="457200" y="4754880"/>
            <a:ext cx="8229600" cy="256032"/>
          </a:xfrm>
          <a:prstGeom prst="rect">
            <a:avLst/>
          </a:prstGeom>
          <a:noFill/>
          <a:ln/>
        </p:spPr>
        <p:txBody>
          <a:bodyPr wrap="square" lIns="0" tIns="0" rIns="0" bIns="0" rtlCol="0" anchor="ctr"/>
          <a:lstStyle/>
          <a:p>
            <a:pPr indent="0" marL="0">
              <a:buNone/>
            </a:pPr>
            <a:r>
              <a:rPr lang="en-US" sz="1000" dirty="0">
                <a:solidFill>
                  <a:srgbClr val="FFFFFF"/>
                </a:solidFill>
              </a:rPr>
              <a:t>🧪  Focus on concurrency: What happens when two users claim the same place at the exact same millisecond?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5: QA &amp; TESTING</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High-Risk Bug Areas</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4 places that will cause 80% of your bug reports</a:t>
            </a:r>
            <a:endParaRPr lang="en-US" sz="1400" dirty="0"/>
          </a:p>
        </p:txBody>
      </p:sp>
      <p:sp>
        <p:nvSpPr>
          <p:cNvPr id="6" name="Shape 4"/>
          <p:cNvSpPr/>
          <p:nvPr/>
        </p:nvSpPr>
        <p:spPr>
          <a:xfrm>
            <a:off x="365760" y="1463040"/>
            <a:ext cx="4160520" cy="1600200"/>
          </a:xfrm>
          <a:prstGeom prst="rect">
            <a:avLst/>
          </a:prstGeom>
          <a:solidFill>
            <a:srgbClr val="2A1547"/>
          </a:solidFill>
          <a:ln w="25400">
            <a:solidFill>
              <a:srgbClr val="EF4444"/>
            </a:solidFill>
            <a:prstDash val="solid"/>
          </a:ln>
        </p:spPr>
      </p:sp>
      <p:sp>
        <p:nvSpPr>
          <p:cNvPr id="7" name="Shape 5"/>
          <p:cNvSpPr/>
          <p:nvPr/>
        </p:nvSpPr>
        <p:spPr>
          <a:xfrm>
            <a:off x="365760" y="1463040"/>
            <a:ext cx="502920" cy="1600200"/>
          </a:xfrm>
          <a:prstGeom prst="rect">
            <a:avLst/>
          </a:prstGeom>
          <a:solidFill>
            <a:srgbClr val="EF4444"/>
          </a:solidFill>
          <a:ln/>
        </p:spPr>
      </p:sp>
      <p:sp>
        <p:nvSpPr>
          <p:cNvPr id="8" name="Text 6"/>
          <p:cNvSpPr/>
          <p:nvPr/>
        </p:nvSpPr>
        <p:spPr>
          <a:xfrm>
            <a:off x="365760" y="1463040"/>
            <a:ext cx="502920" cy="1600200"/>
          </a:xfrm>
          <a:prstGeom prst="rect">
            <a:avLst/>
          </a:prstGeom>
          <a:noFill/>
          <a:ln/>
        </p:spPr>
        <p:txBody>
          <a:bodyPr wrap="square" rtlCol="0" anchor="ctr"/>
          <a:lstStyle/>
          <a:p>
            <a:pPr algn="ctr" indent="0" marL="0">
              <a:buNone/>
            </a:pPr>
            <a:r>
              <a:rPr lang="en-US" sz="1600" b="1" dirty="0">
                <a:solidFill>
                  <a:srgbClr val="FFFFFF"/>
                </a:solidFill>
              </a:rPr>
              <a:t>01</a:t>
            </a:r>
            <a:endParaRPr lang="en-US" sz="1600" dirty="0"/>
          </a:p>
        </p:txBody>
      </p:sp>
      <p:sp>
        <p:nvSpPr>
          <p:cNvPr id="9" name="Text 7"/>
          <p:cNvSpPr/>
          <p:nvPr/>
        </p:nvSpPr>
        <p:spPr>
          <a:xfrm>
            <a:off x="960120" y="1536192"/>
            <a:ext cx="3474720" cy="320040"/>
          </a:xfrm>
          <a:prstGeom prst="rect">
            <a:avLst/>
          </a:prstGeom>
          <a:noFill/>
          <a:ln/>
        </p:spPr>
        <p:txBody>
          <a:bodyPr wrap="square" rtlCol="0" anchor="ctr"/>
          <a:lstStyle/>
          <a:p>
            <a:pPr indent="0" marL="0">
              <a:buNone/>
            </a:pPr>
            <a:r>
              <a:rPr lang="en-US" sz="1300" b="1" dirty="0">
                <a:solidFill>
                  <a:srgbClr val="EF4444"/>
                </a:solidFill>
              </a:rPr>
              <a:t>Duplicate Places</a:t>
            </a:r>
            <a:endParaRPr lang="en-US" sz="1300" dirty="0"/>
          </a:p>
        </p:txBody>
      </p:sp>
      <p:sp>
        <p:nvSpPr>
          <p:cNvPr id="10" name="Text 8"/>
          <p:cNvSpPr/>
          <p:nvPr/>
        </p:nvSpPr>
        <p:spPr>
          <a:xfrm>
            <a:off x="960120" y="1874520"/>
            <a:ext cx="3474720" cy="594360"/>
          </a:xfrm>
          <a:prstGeom prst="rect">
            <a:avLst/>
          </a:prstGeom>
          <a:noFill/>
          <a:ln/>
        </p:spPr>
        <p:txBody>
          <a:bodyPr wrap="square" rtlCol="0" anchor="ctr"/>
          <a:lstStyle/>
          <a:p>
            <a:pPr indent="0" marL="0">
              <a:buNone/>
            </a:pPr>
            <a:r>
              <a:rPr lang="en-US" sz="950" dirty="0">
                <a:solidFill>
                  <a:srgbClr val="F0E6FF"/>
                </a:solidFill>
              </a:rPr>
              <a:t>Same café listed 3 times at the same GPS coordinates. Need: Geo-dedup logic with radius threshold (≤10m = same place).</a:t>
            </a:r>
            <a:endParaRPr lang="en-US" sz="950" dirty="0"/>
          </a:p>
        </p:txBody>
      </p:sp>
      <p:sp>
        <p:nvSpPr>
          <p:cNvPr id="11" name="Text 9"/>
          <p:cNvSpPr/>
          <p:nvPr/>
        </p:nvSpPr>
        <p:spPr>
          <a:xfrm>
            <a:off x="960120" y="2468880"/>
            <a:ext cx="3474720" cy="411480"/>
          </a:xfrm>
          <a:prstGeom prst="rect">
            <a:avLst/>
          </a:prstGeom>
          <a:noFill/>
          <a:ln/>
        </p:spPr>
        <p:txBody>
          <a:bodyPr wrap="square" rtlCol="0" anchor="ctr"/>
          <a:lstStyle/>
          <a:p>
            <a:pPr indent="0" marL="0">
              <a:buNone/>
            </a:pPr>
            <a:r>
              <a:rPr lang="en-US" sz="900" dirty="0">
                <a:solidFill>
                  <a:srgbClr val="06B6D4"/>
                </a:solidFill>
              </a:rPr>
              <a:t>Fix: Merge-on-create check + manual merge UI for admins.</a:t>
            </a:r>
            <a:endParaRPr lang="en-US" sz="900" dirty="0"/>
          </a:p>
        </p:txBody>
      </p:sp>
      <p:sp>
        <p:nvSpPr>
          <p:cNvPr id="12" name="Shape 10"/>
          <p:cNvSpPr/>
          <p:nvPr/>
        </p:nvSpPr>
        <p:spPr>
          <a:xfrm>
            <a:off x="4800600" y="1463040"/>
            <a:ext cx="4160520" cy="1600200"/>
          </a:xfrm>
          <a:prstGeom prst="rect">
            <a:avLst/>
          </a:prstGeom>
          <a:solidFill>
            <a:srgbClr val="2A1547"/>
          </a:solidFill>
          <a:ln w="25400">
            <a:solidFill>
              <a:srgbClr val="F97316"/>
            </a:solidFill>
            <a:prstDash val="solid"/>
          </a:ln>
        </p:spPr>
      </p:sp>
      <p:sp>
        <p:nvSpPr>
          <p:cNvPr id="13" name="Shape 11"/>
          <p:cNvSpPr/>
          <p:nvPr/>
        </p:nvSpPr>
        <p:spPr>
          <a:xfrm>
            <a:off x="4800600" y="1463040"/>
            <a:ext cx="502920" cy="1600200"/>
          </a:xfrm>
          <a:prstGeom prst="rect">
            <a:avLst/>
          </a:prstGeom>
          <a:solidFill>
            <a:srgbClr val="F97316"/>
          </a:solidFill>
          <a:ln/>
        </p:spPr>
      </p:sp>
      <p:sp>
        <p:nvSpPr>
          <p:cNvPr id="14" name="Text 12"/>
          <p:cNvSpPr/>
          <p:nvPr/>
        </p:nvSpPr>
        <p:spPr>
          <a:xfrm>
            <a:off x="4800600" y="1463040"/>
            <a:ext cx="502920" cy="1600200"/>
          </a:xfrm>
          <a:prstGeom prst="rect">
            <a:avLst/>
          </a:prstGeom>
          <a:noFill/>
          <a:ln/>
        </p:spPr>
        <p:txBody>
          <a:bodyPr wrap="square" rtlCol="0" anchor="ctr"/>
          <a:lstStyle/>
          <a:p>
            <a:pPr algn="ctr" indent="0" marL="0">
              <a:buNone/>
            </a:pPr>
            <a:r>
              <a:rPr lang="en-US" sz="1600" b="1" dirty="0">
                <a:solidFill>
                  <a:srgbClr val="FFFFFF"/>
                </a:solidFill>
              </a:rPr>
              <a:t>02</a:t>
            </a:r>
            <a:endParaRPr lang="en-US" sz="1600" dirty="0"/>
          </a:p>
        </p:txBody>
      </p:sp>
      <p:sp>
        <p:nvSpPr>
          <p:cNvPr id="15" name="Text 13"/>
          <p:cNvSpPr/>
          <p:nvPr/>
        </p:nvSpPr>
        <p:spPr>
          <a:xfrm>
            <a:off x="5394960" y="1536192"/>
            <a:ext cx="3474720" cy="320040"/>
          </a:xfrm>
          <a:prstGeom prst="rect">
            <a:avLst/>
          </a:prstGeom>
          <a:noFill/>
          <a:ln/>
        </p:spPr>
        <p:txBody>
          <a:bodyPr wrap="square" rtlCol="0" anchor="ctr"/>
          <a:lstStyle/>
          <a:p>
            <a:pPr indent="0" marL="0">
              <a:buNone/>
            </a:pPr>
            <a:r>
              <a:rPr lang="en-US" sz="1300" b="1" dirty="0">
                <a:solidFill>
                  <a:srgbClr val="F97316"/>
                </a:solidFill>
              </a:rPr>
              <a:t>Claim Conflicts</a:t>
            </a:r>
            <a:endParaRPr lang="en-US" sz="1300" dirty="0"/>
          </a:p>
        </p:txBody>
      </p:sp>
      <p:sp>
        <p:nvSpPr>
          <p:cNvPr id="16" name="Text 14"/>
          <p:cNvSpPr/>
          <p:nvPr/>
        </p:nvSpPr>
        <p:spPr>
          <a:xfrm>
            <a:off x="5394960" y="1874520"/>
            <a:ext cx="3474720" cy="594360"/>
          </a:xfrm>
          <a:prstGeom prst="rect">
            <a:avLst/>
          </a:prstGeom>
          <a:noFill/>
          <a:ln/>
        </p:spPr>
        <p:txBody>
          <a:bodyPr wrap="square" rtlCol="0" anchor="ctr"/>
          <a:lstStyle/>
          <a:p>
            <a:pPr indent="0" marL="0">
              <a:buNone/>
            </a:pPr>
            <a:r>
              <a:rPr lang="en-US" sz="950" dirty="0">
                <a:solidFill>
                  <a:srgbClr val="F0E6FF"/>
                </a:solidFill>
              </a:rPr>
              <a:t>Tribe A claims a place. Tribe B's map still shows it as unclaimed for 2 minutes due to cache lag.</a:t>
            </a:r>
            <a:endParaRPr lang="en-US" sz="950" dirty="0"/>
          </a:p>
        </p:txBody>
      </p:sp>
      <p:sp>
        <p:nvSpPr>
          <p:cNvPr id="17" name="Text 15"/>
          <p:cNvSpPr/>
          <p:nvPr/>
        </p:nvSpPr>
        <p:spPr>
          <a:xfrm>
            <a:off x="5394960" y="2468880"/>
            <a:ext cx="3474720" cy="411480"/>
          </a:xfrm>
          <a:prstGeom prst="rect">
            <a:avLst/>
          </a:prstGeom>
          <a:noFill/>
          <a:ln/>
        </p:spPr>
        <p:txBody>
          <a:bodyPr wrap="square" rtlCol="0" anchor="ctr"/>
          <a:lstStyle/>
          <a:p>
            <a:pPr indent="0" marL="0">
              <a:buNone/>
            </a:pPr>
            <a:r>
              <a:rPr lang="en-US" sz="900" dirty="0">
                <a:solidFill>
                  <a:srgbClr val="06B6D4"/>
                </a:solidFill>
              </a:rPr>
              <a:t>Fix: Invalidate cache on claim event + WebSocket push to all active clients.</a:t>
            </a:r>
            <a:endParaRPr lang="en-US" sz="900" dirty="0"/>
          </a:p>
        </p:txBody>
      </p:sp>
      <p:sp>
        <p:nvSpPr>
          <p:cNvPr id="18" name="Shape 16"/>
          <p:cNvSpPr/>
          <p:nvPr/>
        </p:nvSpPr>
        <p:spPr>
          <a:xfrm>
            <a:off x="365760" y="3246120"/>
            <a:ext cx="4160520" cy="1600200"/>
          </a:xfrm>
          <a:prstGeom prst="rect">
            <a:avLst/>
          </a:prstGeom>
          <a:solidFill>
            <a:srgbClr val="2A1547"/>
          </a:solidFill>
          <a:ln w="25400">
            <a:solidFill>
              <a:srgbClr val="F97316"/>
            </a:solidFill>
            <a:prstDash val="solid"/>
          </a:ln>
        </p:spPr>
      </p:sp>
      <p:sp>
        <p:nvSpPr>
          <p:cNvPr id="19" name="Shape 17"/>
          <p:cNvSpPr/>
          <p:nvPr/>
        </p:nvSpPr>
        <p:spPr>
          <a:xfrm>
            <a:off x="365760" y="3246120"/>
            <a:ext cx="502920" cy="1600200"/>
          </a:xfrm>
          <a:prstGeom prst="rect">
            <a:avLst/>
          </a:prstGeom>
          <a:solidFill>
            <a:srgbClr val="F97316"/>
          </a:solidFill>
          <a:ln/>
        </p:spPr>
      </p:sp>
      <p:sp>
        <p:nvSpPr>
          <p:cNvPr id="20" name="Text 18"/>
          <p:cNvSpPr/>
          <p:nvPr/>
        </p:nvSpPr>
        <p:spPr>
          <a:xfrm>
            <a:off x="365760" y="3246120"/>
            <a:ext cx="502920" cy="1600200"/>
          </a:xfrm>
          <a:prstGeom prst="rect">
            <a:avLst/>
          </a:prstGeom>
          <a:noFill/>
          <a:ln/>
        </p:spPr>
        <p:txBody>
          <a:bodyPr wrap="square" rtlCol="0" anchor="ctr"/>
          <a:lstStyle/>
          <a:p>
            <a:pPr algn="ctr" indent="0" marL="0">
              <a:buNone/>
            </a:pPr>
            <a:r>
              <a:rPr lang="en-US" sz="1600" b="1" dirty="0">
                <a:solidFill>
                  <a:srgbClr val="FFFFFF"/>
                </a:solidFill>
              </a:rPr>
              <a:t>03</a:t>
            </a:r>
            <a:endParaRPr lang="en-US" sz="1600" dirty="0"/>
          </a:p>
        </p:txBody>
      </p:sp>
      <p:sp>
        <p:nvSpPr>
          <p:cNvPr id="21" name="Text 19"/>
          <p:cNvSpPr/>
          <p:nvPr/>
        </p:nvSpPr>
        <p:spPr>
          <a:xfrm>
            <a:off x="960120" y="3319272"/>
            <a:ext cx="3474720" cy="320040"/>
          </a:xfrm>
          <a:prstGeom prst="rect">
            <a:avLst/>
          </a:prstGeom>
          <a:noFill/>
          <a:ln/>
        </p:spPr>
        <p:txBody>
          <a:bodyPr wrap="square" rtlCol="0" anchor="ctr"/>
          <a:lstStyle/>
          <a:p>
            <a:pPr indent="0" marL="0">
              <a:buNone/>
            </a:pPr>
            <a:r>
              <a:rPr lang="en-US" sz="1300" b="1" dirty="0">
                <a:solidFill>
                  <a:srgbClr val="F97316"/>
                </a:solidFill>
              </a:rPr>
              <a:t>Feed Filtering Errors</a:t>
            </a:r>
            <a:endParaRPr lang="en-US" sz="1300" dirty="0"/>
          </a:p>
        </p:txBody>
      </p:sp>
      <p:sp>
        <p:nvSpPr>
          <p:cNvPr id="22" name="Text 20"/>
          <p:cNvSpPr/>
          <p:nvPr/>
        </p:nvSpPr>
        <p:spPr>
          <a:xfrm>
            <a:off x="960120" y="3657600"/>
            <a:ext cx="3474720" cy="594360"/>
          </a:xfrm>
          <a:prstGeom prst="rect">
            <a:avLst/>
          </a:prstGeom>
          <a:noFill/>
          <a:ln/>
        </p:spPr>
        <p:txBody>
          <a:bodyPr wrap="square" rtlCol="0" anchor="ctr"/>
          <a:lstStyle/>
          <a:p>
            <a:pPr indent="0" marL="0">
              <a:buNone/>
            </a:pPr>
            <a:r>
              <a:rPr lang="en-US" sz="950" dirty="0">
                <a:solidFill>
                  <a:srgbClr val="F0E6FF"/>
                </a:solidFill>
              </a:rPr>
              <a:t>Posts appear in Global feed but are missing from Nearby feed despite being posted 500m away.</a:t>
            </a:r>
            <a:endParaRPr lang="en-US" sz="950" dirty="0"/>
          </a:p>
        </p:txBody>
      </p:sp>
      <p:sp>
        <p:nvSpPr>
          <p:cNvPr id="23" name="Text 21"/>
          <p:cNvSpPr/>
          <p:nvPr/>
        </p:nvSpPr>
        <p:spPr>
          <a:xfrm>
            <a:off x="960120" y="4251960"/>
            <a:ext cx="3474720" cy="411480"/>
          </a:xfrm>
          <a:prstGeom prst="rect">
            <a:avLst/>
          </a:prstGeom>
          <a:noFill/>
          <a:ln/>
        </p:spPr>
        <p:txBody>
          <a:bodyPr wrap="square" rtlCol="0" anchor="ctr"/>
          <a:lstStyle/>
          <a:p>
            <a:pPr indent="0" marL="0">
              <a:buNone/>
            </a:pPr>
            <a:r>
              <a:rPr lang="en-US" sz="900" dirty="0">
                <a:solidFill>
                  <a:srgbClr val="06B6D4"/>
                </a:solidFill>
              </a:rPr>
              <a:t>Fix: Validate GPS bounding box query logic. Test at exact 2km boundary.</a:t>
            </a:r>
            <a:endParaRPr lang="en-US" sz="900" dirty="0"/>
          </a:p>
        </p:txBody>
      </p:sp>
      <p:sp>
        <p:nvSpPr>
          <p:cNvPr id="24" name="Shape 22"/>
          <p:cNvSpPr/>
          <p:nvPr/>
        </p:nvSpPr>
        <p:spPr>
          <a:xfrm>
            <a:off x="4800600" y="3246120"/>
            <a:ext cx="4160520" cy="1600200"/>
          </a:xfrm>
          <a:prstGeom prst="rect">
            <a:avLst/>
          </a:prstGeom>
          <a:solidFill>
            <a:srgbClr val="2A1547"/>
          </a:solidFill>
          <a:ln w="25400">
            <a:solidFill>
              <a:srgbClr val="F59E0B"/>
            </a:solidFill>
            <a:prstDash val="solid"/>
          </a:ln>
        </p:spPr>
      </p:sp>
      <p:sp>
        <p:nvSpPr>
          <p:cNvPr id="25" name="Shape 23"/>
          <p:cNvSpPr/>
          <p:nvPr/>
        </p:nvSpPr>
        <p:spPr>
          <a:xfrm>
            <a:off x="4800600" y="3246120"/>
            <a:ext cx="502920" cy="1600200"/>
          </a:xfrm>
          <a:prstGeom prst="rect">
            <a:avLst/>
          </a:prstGeom>
          <a:solidFill>
            <a:srgbClr val="F59E0B"/>
          </a:solidFill>
          <a:ln/>
        </p:spPr>
      </p:sp>
      <p:sp>
        <p:nvSpPr>
          <p:cNvPr id="26" name="Text 24"/>
          <p:cNvSpPr/>
          <p:nvPr/>
        </p:nvSpPr>
        <p:spPr>
          <a:xfrm>
            <a:off x="4800600" y="3246120"/>
            <a:ext cx="502920" cy="1600200"/>
          </a:xfrm>
          <a:prstGeom prst="rect">
            <a:avLst/>
          </a:prstGeom>
          <a:noFill/>
          <a:ln/>
        </p:spPr>
        <p:txBody>
          <a:bodyPr wrap="square" rtlCol="0" anchor="ctr"/>
          <a:lstStyle/>
          <a:p>
            <a:pPr algn="ctr" indent="0" marL="0">
              <a:buNone/>
            </a:pPr>
            <a:r>
              <a:rPr lang="en-US" sz="1600" b="1" dirty="0">
                <a:solidFill>
                  <a:srgbClr val="FFFFFF"/>
                </a:solidFill>
              </a:rPr>
              <a:t>04</a:t>
            </a:r>
            <a:endParaRPr lang="en-US" sz="1600" dirty="0"/>
          </a:p>
        </p:txBody>
      </p:sp>
      <p:sp>
        <p:nvSpPr>
          <p:cNvPr id="27" name="Text 25"/>
          <p:cNvSpPr/>
          <p:nvPr/>
        </p:nvSpPr>
        <p:spPr>
          <a:xfrm>
            <a:off x="5394960" y="3319272"/>
            <a:ext cx="3474720" cy="320040"/>
          </a:xfrm>
          <a:prstGeom prst="rect">
            <a:avLst/>
          </a:prstGeom>
          <a:noFill/>
          <a:ln/>
        </p:spPr>
        <p:txBody>
          <a:bodyPr wrap="square" rtlCol="0" anchor="ctr"/>
          <a:lstStyle/>
          <a:p>
            <a:pPr indent="0" marL="0">
              <a:buNone/>
            </a:pPr>
            <a:r>
              <a:rPr lang="en-US" sz="1300" b="1" dirty="0">
                <a:solidFill>
                  <a:srgbClr val="F59E0B"/>
                </a:solidFill>
              </a:rPr>
              <a:t>Sync Delay (Web vs Mobile)</a:t>
            </a:r>
            <a:endParaRPr lang="en-US" sz="1300" dirty="0"/>
          </a:p>
        </p:txBody>
      </p:sp>
      <p:sp>
        <p:nvSpPr>
          <p:cNvPr id="28" name="Text 26"/>
          <p:cNvSpPr/>
          <p:nvPr/>
        </p:nvSpPr>
        <p:spPr>
          <a:xfrm>
            <a:off x="5394960" y="3657600"/>
            <a:ext cx="3474720" cy="594360"/>
          </a:xfrm>
          <a:prstGeom prst="rect">
            <a:avLst/>
          </a:prstGeom>
          <a:noFill/>
          <a:ln/>
        </p:spPr>
        <p:txBody>
          <a:bodyPr wrap="square" rtlCol="0" anchor="ctr"/>
          <a:lstStyle/>
          <a:p>
            <a:pPr indent="0" marL="0">
              <a:buNone/>
            </a:pPr>
            <a:r>
              <a:rPr lang="en-US" sz="950" dirty="0">
                <a:solidFill>
                  <a:srgbClr val="F0E6FF"/>
                </a:solidFill>
              </a:rPr>
              <a:t>Place created on web app is not visible on mobile client for up to 10 minutes.</a:t>
            </a:r>
            <a:endParaRPr lang="en-US" sz="950" dirty="0"/>
          </a:p>
        </p:txBody>
      </p:sp>
      <p:sp>
        <p:nvSpPr>
          <p:cNvPr id="29" name="Text 27"/>
          <p:cNvSpPr/>
          <p:nvPr/>
        </p:nvSpPr>
        <p:spPr>
          <a:xfrm>
            <a:off x="5394960" y="4251960"/>
            <a:ext cx="3474720" cy="411480"/>
          </a:xfrm>
          <a:prstGeom prst="rect">
            <a:avLst/>
          </a:prstGeom>
          <a:noFill/>
          <a:ln/>
        </p:spPr>
        <p:txBody>
          <a:bodyPr wrap="square" rtlCol="0" anchor="ctr"/>
          <a:lstStyle/>
          <a:p>
            <a:pPr indent="0" marL="0">
              <a:buNone/>
            </a:pPr>
            <a:r>
              <a:rPr lang="en-US" sz="900" dirty="0">
                <a:solidFill>
                  <a:srgbClr val="06B6D4"/>
                </a:solidFill>
              </a:rPr>
              <a:t>Fix: Unified event bus (Kafka/Redis pub-sub) for real-time sync across clients.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6: USE CASES &amp; VALUE</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Real-Life Use Case: New in City</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The killer use case that drives word-of-mouth growth</a:t>
            </a:r>
            <a:endParaRPr lang="en-US" sz="1400" dirty="0"/>
          </a:p>
        </p:txBody>
      </p:sp>
      <p:sp>
        <p:nvSpPr>
          <p:cNvPr id="6" name="Shape 4"/>
          <p:cNvSpPr/>
          <p:nvPr/>
        </p:nvSpPr>
        <p:spPr>
          <a:xfrm>
            <a:off x="320040" y="1463040"/>
            <a:ext cx="1965960" cy="3108960"/>
          </a:xfrm>
          <a:prstGeom prst="rect">
            <a:avLst/>
          </a:prstGeom>
          <a:solidFill>
            <a:srgbClr val="2A1547"/>
          </a:solidFill>
          <a:ln w="12700">
            <a:solidFill>
              <a:srgbClr val="C77DFF"/>
            </a:solidFill>
            <a:prstDash val="solid"/>
          </a:ln>
        </p:spPr>
      </p:sp>
      <p:sp>
        <p:nvSpPr>
          <p:cNvPr id="7" name="Shape 5"/>
          <p:cNvSpPr/>
          <p:nvPr/>
        </p:nvSpPr>
        <p:spPr>
          <a:xfrm>
            <a:off x="1051560" y="1600200"/>
            <a:ext cx="502920" cy="502920"/>
          </a:xfrm>
          <a:prstGeom prst="ellipse">
            <a:avLst/>
          </a:prstGeom>
          <a:solidFill>
            <a:srgbClr val="7B2FBE"/>
          </a:solidFill>
          <a:ln/>
        </p:spPr>
      </p:sp>
      <p:sp>
        <p:nvSpPr>
          <p:cNvPr id="8" name="Text 6"/>
          <p:cNvSpPr/>
          <p:nvPr/>
        </p:nvSpPr>
        <p:spPr>
          <a:xfrm>
            <a:off x="1051560" y="1600200"/>
            <a:ext cx="502920" cy="502920"/>
          </a:xfrm>
          <a:prstGeom prst="rect">
            <a:avLst/>
          </a:prstGeom>
          <a:noFill/>
          <a:ln/>
        </p:spPr>
        <p:txBody>
          <a:bodyPr wrap="square" rtlCol="0" anchor="ctr"/>
          <a:lstStyle/>
          <a:p>
            <a:pPr algn="ctr" indent="0" marL="0">
              <a:buNone/>
            </a:pPr>
            <a:r>
              <a:rPr lang="en-US" sz="1400" b="1" dirty="0">
                <a:solidFill>
                  <a:srgbClr val="FFFFFF"/>
                </a:solidFill>
              </a:rPr>
              <a:t>1</a:t>
            </a:r>
            <a:endParaRPr lang="en-US" sz="1400" dirty="0"/>
          </a:p>
        </p:txBody>
      </p:sp>
      <p:pic>
        <p:nvPicPr>
          <p:cNvPr id="9" name="Image 0" descr="preencoded.png">    </p:cNvPr>
          <p:cNvPicPr>
            <a:picLocks noChangeAspect="1"/>
          </p:cNvPicPr>
          <p:nvPr/>
        </p:nvPicPr>
        <p:blipFill>
          <a:blip r:embed="rId1"/>
          <a:stretch>
            <a:fillRect/>
          </a:stretch>
        </p:blipFill>
        <p:spPr>
          <a:xfrm>
            <a:off x="1069848" y="2212848"/>
            <a:ext cx="457200" cy="457200"/>
          </a:xfrm>
          <a:prstGeom prst="rect">
            <a:avLst/>
          </a:prstGeom>
        </p:spPr>
      </p:pic>
      <p:sp>
        <p:nvSpPr>
          <p:cNvPr id="10" name="Text 7"/>
          <p:cNvSpPr/>
          <p:nvPr/>
        </p:nvSpPr>
        <p:spPr>
          <a:xfrm>
            <a:off x="365760" y="2743200"/>
            <a:ext cx="1874520" cy="365760"/>
          </a:xfrm>
          <a:prstGeom prst="rect">
            <a:avLst/>
          </a:prstGeom>
          <a:noFill/>
          <a:ln/>
        </p:spPr>
        <p:txBody>
          <a:bodyPr wrap="square" rtlCol="0" anchor="ctr"/>
          <a:lstStyle/>
          <a:p>
            <a:pPr algn="ctr" indent="0" marL="0">
              <a:buNone/>
            </a:pPr>
            <a:r>
              <a:rPr lang="en-US" sz="1200" b="1" dirty="0">
                <a:solidFill>
                  <a:srgbClr val="C77DFF"/>
                </a:solidFill>
              </a:rPr>
              <a:t>Student Arrives</a:t>
            </a:r>
            <a:endParaRPr lang="en-US" sz="1200" dirty="0"/>
          </a:p>
        </p:txBody>
      </p:sp>
      <p:sp>
        <p:nvSpPr>
          <p:cNvPr id="11" name="Text 8"/>
          <p:cNvSpPr/>
          <p:nvPr/>
        </p:nvSpPr>
        <p:spPr>
          <a:xfrm>
            <a:off x="411480" y="3154680"/>
            <a:ext cx="1783080" cy="1188720"/>
          </a:xfrm>
          <a:prstGeom prst="rect">
            <a:avLst/>
          </a:prstGeom>
          <a:noFill/>
          <a:ln/>
        </p:spPr>
        <p:txBody>
          <a:bodyPr wrap="square" rtlCol="0" anchor="ctr"/>
          <a:lstStyle/>
          <a:p>
            <a:pPr algn="ctr" indent="0" marL="0">
              <a:buNone/>
            </a:pPr>
            <a:r>
              <a:rPr lang="en-US" sz="1000" dirty="0">
                <a:solidFill>
                  <a:srgbClr val="F0E6FF"/>
                </a:solidFill>
              </a:rPr>
              <a:t>Moves to Indore for college. Knows nobody. Doesn't know the city.</a:t>
            </a:r>
            <a:endParaRPr lang="en-US" sz="1000" dirty="0"/>
          </a:p>
        </p:txBody>
      </p:sp>
      <p:sp>
        <p:nvSpPr>
          <p:cNvPr id="12" name="Text 9"/>
          <p:cNvSpPr/>
          <p:nvPr/>
        </p:nvSpPr>
        <p:spPr>
          <a:xfrm>
            <a:off x="2313432" y="2834640"/>
            <a:ext cx="228600" cy="36576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13" name="Shape 10"/>
          <p:cNvSpPr/>
          <p:nvPr/>
        </p:nvSpPr>
        <p:spPr>
          <a:xfrm>
            <a:off x="2496312" y="1463040"/>
            <a:ext cx="1965960" cy="3108960"/>
          </a:xfrm>
          <a:prstGeom prst="rect">
            <a:avLst/>
          </a:prstGeom>
          <a:solidFill>
            <a:srgbClr val="2A1547"/>
          </a:solidFill>
          <a:ln w="12700">
            <a:solidFill>
              <a:srgbClr val="C77DFF"/>
            </a:solidFill>
            <a:prstDash val="solid"/>
          </a:ln>
        </p:spPr>
      </p:sp>
      <p:sp>
        <p:nvSpPr>
          <p:cNvPr id="14" name="Shape 11"/>
          <p:cNvSpPr/>
          <p:nvPr/>
        </p:nvSpPr>
        <p:spPr>
          <a:xfrm>
            <a:off x="3227832" y="1600200"/>
            <a:ext cx="502920" cy="502920"/>
          </a:xfrm>
          <a:prstGeom prst="ellipse">
            <a:avLst/>
          </a:prstGeom>
          <a:solidFill>
            <a:srgbClr val="7B2FBE"/>
          </a:solidFill>
          <a:ln/>
        </p:spPr>
      </p:sp>
      <p:sp>
        <p:nvSpPr>
          <p:cNvPr id="15" name="Text 12"/>
          <p:cNvSpPr/>
          <p:nvPr/>
        </p:nvSpPr>
        <p:spPr>
          <a:xfrm>
            <a:off x="3227832" y="1600200"/>
            <a:ext cx="502920" cy="502920"/>
          </a:xfrm>
          <a:prstGeom prst="rect">
            <a:avLst/>
          </a:prstGeom>
          <a:noFill/>
          <a:ln/>
        </p:spPr>
        <p:txBody>
          <a:bodyPr wrap="square" rtlCol="0" anchor="ctr"/>
          <a:lstStyle/>
          <a:p>
            <a:pPr algn="ctr" indent="0" marL="0">
              <a:buNone/>
            </a:pPr>
            <a:r>
              <a:rPr lang="en-US" sz="1400" b="1" dirty="0">
                <a:solidFill>
                  <a:srgbClr val="FFFFFF"/>
                </a:solidFill>
              </a:rPr>
              <a:t>2</a:t>
            </a:r>
            <a:endParaRPr lang="en-US" sz="1400" dirty="0"/>
          </a:p>
        </p:txBody>
      </p:sp>
      <p:pic>
        <p:nvPicPr>
          <p:cNvPr id="16" name="Image 1" descr="preencoded.png">    </p:cNvPr>
          <p:cNvPicPr>
            <a:picLocks noChangeAspect="1"/>
          </p:cNvPicPr>
          <p:nvPr/>
        </p:nvPicPr>
        <p:blipFill>
          <a:blip r:embed="rId2"/>
          <a:stretch>
            <a:fillRect/>
          </a:stretch>
        </p:blipFill>
        <p:spPr>
          <a:xfrm>
            <a:off x="3246120" y="2212848"/>
            <a:ext cx="457200" cy="457200"/>
          </a:xfrm>
          <a:prstGeom prst="rect">
            <a:avLst/>
          </a:prstGeom>
        </p:spPr>
      </p:pic>
      <p:sp>
        <p:nvSpPr>
          <p:cNvPr id="17" name="Text 13"/>
          <p:cNvSpPr/>
          <p:nvPr/>
        </p:nvSpPr>
        <p:spPr>
          <a:xfrm>
            <a:off x="2542032" y="2743200"/>
            <a:ext cx="1874520" cy="365760"/>
          </a:xfrm>
          <a:prstGeom prst="rect">
            <a:avLst/>
          </a:prstGeom>
          <a:noFill/>
          <a:ln/>
        </p:spPr>
        <p:txBody>
          <a:bodyPr wrap="square" rtlCol="0" anchor="ctr"/>
          <a:lstStyle/>
          <a:p>
            <a:pPr algn="ctr" indent="0" marL="0">
              <a:buNone/>
            </a:pPr>
            <a:r>
              <a:rPr lang="en-US" sz="1200" b="1" dirty="0">
                <a:solidFill>
                  <a:srgbClr val="C77DFF"/>
                </a:solidFill>
              </a:rPr>
              <a:t>Discovers Tribe</a:t>
            </a:r>
            <a:endParaRPr lang="en-US" sz="1200" dirty="0"/>
          </a:p>
        </p:txBody>
      </p:sp>
      <p:sp>
        <p:nvSpPr>
          <p:cNvPr id="18" name="Text 14"/>
          <p:cNvSpPr/>
          <p:nvPr/>
        </p:nvSpPr>
        <p:spPr>
          <a:xfrm>
            <a:off x="2587752" y="3154680"/>
            <a:ext cx="1783080" cy="1188720"/>
          </a:xfrm>
          <a:prstGeom prst="rect">
            <a:avLst/>
          </a:prstGeom>
          <a:noFill/>
          <a:ln/>
        </p:spPr>
        <p:txBody>
          <a:bodyPr wrap="square" rtlCol="0" anchor="ctr"/>
          <a:lstStyle/>
          <a:p>
            <a:pPr algn="ctr" indent="0" marL="0">
              <a:buNone/>
            </a:pPr>
            <a:r>
              <a:rPr lang="en-US" sz="1000" dirty="0">
                <a:solidFill>
                  <a:srgbClr val="F0E6FF"/>
                </a:solidFill>
              </a:rPr>
              <a:t>Opens Orbis. Sees 'Indore Gamers' tribe 400m away with 234 members.</a:t>
            </a:r>
            <a:endParaRPr lang="en-US" sz="1000" dirty="0"/>
          </a:p>
        </p:txBody>
      </p:sp>
      <p:sp>
        <p:nvSpPr>
          <p:cNvPr id="19" name="Text 15"/>
          <p:cNvSpPr/>
          <p:nvPr/>
        </p:nvSpPr>
        <p:spPr>
          <a:xfrm>
            <a:off x="4489704" y="2834640"/>
            <a:ext cx="228600" cy="36576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20" name="Shape 16"/>
          <p:cNvSpPr/>
          <p:nvPr/>
        </p:nvSpPr>
        <p:spPr>
          <a:xfrm>
            <a:off x="4672584" y="1463040"/>
            <a:ext cx="1965960" cy="3108960"/>
          </a:xfrm>
          <a:prstGeom prst="rect">
            <a:avLst/>
          </a:prstGeom>
          <a:solidFill>
            <a:srgbClr val="2A1547"/>
          </a:solidFill>
          <a:ln w="12700">
            <a:solidFill>
              <a:srgbClr val="C77DFF"/>
            </a:solidFill>
            <a:prstDash val="solid"/>
          </a:ln>
        </p:spPr>
      </p:sp>
      <p:sp>
        <p:nvSpPr>
          <p:cNvPr id="21" name="Shape 17"/>
          <p:cNvSpPr/>
          <p:nvPr/>
        </p:nvSpPr>
        <p:spPr>
          <a:xfrm>
            <a:off x="5404104" y="1600200"/>
            <a:ext cx="502920" cy="502920"/>
          </a:xfrm>
          <a:prstGeom prst="ellipse">
            <a:avLst/>
          </a:prstGeom>
          <a:solidFill>
            <a:srgbClr val="7B2FBE"/>
          </a:solidFill>
          <a:ln/>
        </p:spPr>
      </p:sp>
      <p:sp>
        <p:nvSpPr>
          <p:cNvPr id="22" name="Text 18"/>
          <p:cNvSpPr/>
          <p:nvPr/>
        </p:nvSpPr>
        <p:spPr>
          <a:xfrm>
            <a:off x="5404104" y="1600200"/>
            <a:ext cx="502920" cy="502920"/>
          </a:xfrm>
          <a:prstGeom prst="rect">
            <a:avLst/>
          </a:prstGeom>
          <a:noFill/>
          <a:ln/>
        </p:spPr>
        <p:txBody>
          <a:bodyPr wrap="square" rtlCol="0" anchor="ctr"/>
          <a:lstStyle/>
          <a:p>
            <a:pPr algn="ctr" indent="0" marL="0">
              <a:buNone/>
            </a:pPr>
            <a:r>
              <a:rPr lang="en-US" sz="1400" b="1" dirty="0">
                <a:solidFill>
                  <a:srgbClr val="FFFFFF"/>
                </a:solidFill>
              </a:rPr>
              <a:t>3</a:t>
            </a:r>
            <a:endParaRPr lang="en-US" sz="1400" dirty="0"/>
          </a:p>
        </p:txBody>
      </p:sp>
      <p:pic>
        <p:nvPicPr>
          <p:cNvPr id="23" name="Image 2" descr="preencoded.png">    </p:cNvPr>
          <p:cNvPicPr>
            <a:picLocks noChangeAspect="1"/>
          </p:cNvPicPr>
          <p:nvPr/>
        </p:nvPicPr>
        <p:blipFill>
          <a:blip r:embed="rId3"/>
          <a:stretch>
            <a:fillRect/>
          </a:stretch>
        </p:blipFill>
        <p:spPr>
          <a:xfrm>
            <a:off x="5422392" y="2212848"/>
            <a:ext cx="457200" cy="457200"/>
          </a:xfrm>
          <a:prstGeom prst="rect">
            <a:avLst/>
          </a:prstGeom>
        </p:spPr>
      </p:pic>
      <p:sp>
        <p:nvSpPr>
          <p:cNvPr id="24" name="Text 19"/>
          <p:cNvSpPr/>
          <p:nvPr/>
        </p:nvSpPr>
        <p:spPr>
          <a:xfrm>
            <a:off x="4718304" y="2743200"/>
            <a:ext cx="1874520" cy="365760"/>
          </a:xfrm>
          <a:prstGeom prst="rect">
            <a:avLst/>
          </a:prstGeom>
          <a:noFill/>
          <a:ln/>
        </p:spPr>
        <p:txBody>
          <a:bodyPr wrap="square" rtlCol="0" anchor="ctr"/>
          <a:lstStyle/>
          <a:p>
            <a:pPr algn="ctr" indent="0" marL="0">
              <a:buNone/>
            </a:pPr>
            <a:r>
              <a:rPr lang="en-US" sz="1200" b="1" dirty="0">
                <a:solidFill>
                  <a:srgbClr val="C77DFF"/>
                </a:solidFill>
              </a:rPr>
              <a:t>Joins &amp; Explores</a:t>
            </a:r>
            <a:endParaRPr lang="en-US" sz="1200" dirty="0"/>
          </a:p>
        </p:txBody>
      </p:sp>
      <p:sp>
        <p:nvSpPr>
          <p:cNvPr id="25" name="Text 20"/>
          <p:cNvSpPr/>
          <p:nvPr/>
        </p:nvSpPr>
        <p:spPr>
          <a:xfrm>
            <a:off x="4764024" y="3154680"/>
            <a:ext cx="1783080" cy="1188720"/>
          </a:xfrm>
          <a:prstGeom prst="rect">
            <a:avLst/>
          </a:prstGeom>
          <a:noFill/>
          <a:ln/>
        </p:spPr>
        <p:txBody>
          <a:bodyPr wrap="square" rtlCol="0" anchor="ctr"/>
          <a:lstStyle/>
          <a:p>
            <a:pPr algn="ctr" indent="0" marL="0">
              <a:buNone/>
            </a:pPr>
            <a:r>
              <a:rPr lang="en-US" sz="1000" dirty="0">
                <a:solidFill>
                  <a:srgbClr val="F0E6FF"/>
                </a:solidFill>
              </a:rPr>
              <a:t>Joins instantly. Map lights up with 12 claimed places — cafés, LAN arenas, hangouts.</a:t>
            </a:r>
            <a:endParaRPr lang="en-US" sz="1000" dirty="0"/>
          </a:p>
        </p:txBody>
      </p:sp>
      <p:sp>
        <p:nvSpPr>
          <p:cNvPr id="26" name="Text 21"/>
          <p:cNvSpPr/>
          <p:nvPr/>
        </p:nvSpPr>
        <p:spPr>
          <a:xfrm>
            <a:off x="6665976" y="2834640"/>
            <a:ext cx="228600" cy="365760"/>
          </a:xfrm>
          <a:prstGeom prst="rect">
            <a:avLst/>
          </a:prstGeom>
          <a:noFill/>
          <a:ln/>
        </p:spPr>
        <p:txBody>
          <a:bodyPr wrap="square" rtlCol="0" anchor="ctr"/>
          <a:lstStyle/>
          <a:p>
            <a:pPr algn="ctr" indent="0" marL="0">
              <a:buNone/>
            </a:pPr>
            <a:r>
              <a:rPr lang="en-US" sz="1600" dirty="0">
                <a:solidFill>
                  <a:srgbClr val="F59E0B"/>
                </a:solidFill>
              </a:rPr>
              <a:t>→</a:t>
            </a:r>
            <a:endParaRPr lang="en-US" sz="1600" dirty="0"/>
          </a:p>
        </p:txBody>
      </p:sp>
      <p:sp>
        <p:nvSpPr>
          <p:cNvPr id="27" name="Shape 22"/>
          <p:cNvSpPr/>
          <p:nvPr/>
        </p:nvSpPr>
        <p:spPr>
          <a:xfrm>
            <a:off x="6848856" y="1463040"/>
            <a:ext cx="1965960" cy="3108960"/>
          </a:xfrm>
          <a:prstGeom prst="rect">
            <a:avLst/>
          </a:prstGeom>
          <a:solidFill>
            <a:srgbClr val="2A1547"/>
          </a:solidFill>
          <a:ln w="12700">
            <a:solidFill>
              <a:srgbClr val="C77DFF"/>
            </a:solidFill>
            <a:prstDash val="solid"/>
          </a:ln>
        </p:spPr>
      </p:sp>
      <p:sp>
        <p:nvSpPr>
          <p:cNvPr id="28" name="Shape 23"/>
          <p:cNvSpPr/>
          <p:nvPr/>
        </p:nvSpPr>
        <p:spPr>
          <a:xfrm>
            <a:off x="7580376" y="1600200"/>
            <a:ext cx="502920" cy="502920"/>
          </a:xfrm>
          <a:prstGeom prst="ellipse">
            <a:avLst/>
          </a:prstGeom>
          <a:solidFill>
            <a:srgbClr val="7B2FBE"/>
          </a:solidFill>
          <a:ln/>
        </p:spPr>
      </p:sp>
      <p:sp>
        <p:nvSpPr>
          <p:cNvPr id="29" name="Text 24"/>
          <p:cNvSpPr/>
          <p:nvPr/>
        </p:nvSpPr>
        <p:spPr>
          <a:xfrm>
            <a:off x="7580376" y="1600200"/>
            <a:ext cx="502920" cy="502920"/>
          </a:xfrm>
          <a:prstGeom prst="rect">
            <a:avLst/>
          </a:prstGeom>
          <a:noFill/>
          <a:ln/>
        </p:spPr>
        <p:txBody>
          <a:bodyPr wrap="square" rtlCol="0" anchor="ctr"/>
          <a:lstStyle/>
          <a:p>
            <a:pPr algn="ctr" indent="0" marL="0">
              <a:buNone/>
            </a:pPr>
            <a:r>
              <a:rPr lang="en-US" sz="1400" b="1" dirty="0">
                <a:solidFill>
                  <a:srgbClr val="FFFFFF"/>
                </a:solidFill>
              </a:rPr>
              <a:t>4</a:t>
            </a:r>
            <a:endParaRPr lang="en-US" sz="1400" dirty="0"/>
          </a:p>
        </p:txBody>
      </p:sp>
      <p:pic>
        <p:nvPicPr>
          <p:cNvPr id="30" name="Image 3" descr="preencoded.png">    </p:cNvPr>
          <p:cNvPicPr>
            <a:picLocks noChangeAspect="1"/>
          </p:cNvPicPr>
          <p:nvPr/>
        </p:nvPicPr>
        <p:blipFill>
          <a:blip r:embed="rId4"/>
          <a:stretch>
            <a:fillRect/>
          </a:stretch>
        </p:blipFill>
        <p:spPr>
          <a:xfrm>
            <a:off x="7598664" y="2212848"/>
            <a:ext cx="457200" cy="457200"/>
          </a:xfrm>
          <a:prstGeom prst="rect">
            <a:avLst/>
          </a:prstGeom>
        </p:spPr>
      </p:pic>
      <p:sp>
        <p:nvSpPr>
          <p:cNvPr id="31" name="Text 25"/>
          <p:cNvSpPr/>
          <p:nvPr/>
        </p:nvSpPr>
        <p:spPr>
          <a:xfrm>
            <a:off x="6894576" y="2743200"/>
            <a:ext cx="1874520" cy="365760"/>
          </a:xfrm>
          <a:prstGeom prst="rect">
            <a:avLst/>
          </a:prstGeom>
          <a:noFill/>
          <a:ln/>
        </p:spPr>
        <p:txBody>
          <a:bodyPr wrap="square" rtlCol="0" anchor="ctr"/>
          <a:lstStyle/>
          <a:p>
            <a:pPr algn="ctr" indent="0" marL="0">
              <a:buNone/>
            </a:pPr>
            <a:r>
              <a:rPr lang="en-US" sz="1200" b="1" dirty="0">
                <a:solidFill>
                  <a:srgbClr val="C77DFF"/>
                </a:solidFill>
              </a:rPr>
              <a:t>Posts &amp; Connects</a:t>
            </a:r>
            <a:endParaRPr lang="en-US" sz="1200" dirty="0"/>
          </a:p>
        </p:txBody>
      </p:sp>
      <p:sp>
        <p:nvSpPr>
          <p:cNvPr id="32" name="Text 26"/>
          <p:cNvSpPr/>
          <p:nvPr/>
        </p:nvSpPr>
        <p:spPr>
          <a:xfrm>
            <a:off x="6940296" y="3154680"/>
            <a:ext cx="1783080" cy="1188720"/>
          </a:xfrm>
          <a:prstGeom prst="rect">
            <a:avLst/>
          </a:prstGeom>
          <a:noFill/>
          <a:ln/>
        </p:spPr>
        <p:txBody>
          <a:bodyPr wrap="square" rtlCol="0" anchor="ctr"/>
          <a:lstStyle/>
          <a:p>
            <a:pPr algn="ctr" indent="0" marL="0">
              <a:buNone/>
            </a:pPr>
            <a:r>
              <a:rPr lang="en-US" sz="1000" dirty="0">
                <a:solidFill>
                  <a:srgbClr val="F0E6FF"/>
                </a:solidFill>
              </a:rPr>
              <a:t>Posts from a café, gets 50 likes, makes 3 real-world friends in week 1.</a:t>
            </a:r>
            <a:endParaRPr lang="en-US" sz="1000" dirty="0"/>
          </a:p>
        </p:txBody>
      </p:sp>
      <p:sp>
        <p:nvSpPr>
          <p:cNvPr id="33" name="Shape 27"/>
          <p:cNvSpPr/>
          <p:nvPr/>
        </p:nvSpPr>
        <p:spPr>
          <a:xfrm>
            <a:off x="365760" y="4645152"/>
            <a:ext cx="8412480" cy="347472"/>
          </a:xfrm>
          <a:prstGeom prst="rect">
            <a:avLst/>
          </a:prstGeom>
          <a:solidFill>
            <a:srgbClr val="0E7490"/>
          </a:solidFill>
          <a:ln/>
        </p:spPr>
      </p:sp>
      <p:sp>
        <p:nvSpPr>
          <p:cNvPr id="34" name="Text 28"/>
          <p:cNvSpPr/>
          <p:nvPr/>
        </p:nvSpPr>
        <p:spPr>
          <a:xfrm>
            <a:off x="502920" y="4645152"/>
            <a:ext cx="8229600" cy="347472"/>
          </a:xfrm>
          <a:prstGeom prst="rect">
            <a:avLst/>
          </a:prstGeom>
          <a:noFill/>
          <a:ln/>
        </p:spPr>
        <p:txBody>
          <a:bodyPr wrap="square" rtlCol="0" anchor="ctr"/>
          <a:lstStyle/>
          <a:p>
            <a:pPr indent="0" marL="0">
              <a:buNone/>
            </a:pPr>
            <a:r>
              <a:rPr lang="en-US" sz="1100" dirty="0">
                <a:solidFill>
                  <a:srgbClr val="FFFFFF"/>
                </a:solidFill>
              </a:rPr>
              <a:t>🎯  Target Users: College students · Digital nomads · Relocated families · Expats — anyone new to a place.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6: USE CASES &amp; VALUE</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Unique Value Proposition (UVP)</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No other app combines all three</a:t>
            </a:r>
            <a:endParaRPr lang="en-US" sz="1400" dirty="0"/>
          </a:p>
        </p:txBody>
      </p:sp>
      <p:sp>
        <p:nvSpPr>
          <p:cNvPr id="6" name="Shape 4"/>
          <p:cNvSpPr/>
          <p:nvPr/>
        </p:nvSpPr>
        <p:spPr>
          <a:xfrm>
            <a:off x="457200" y="1417320"/>
            <a:ext cx="3200400" cy="3200400"/>
          </a:xfrm>
          <a:prstGeom prst="ellipse">
            <a:avLst/>
          </a:prstGeom>
          <a:solidFill>
            <a:srgbClr val="7B2FBE">
              <a:alpha val="40000"/>
            </a:srgbClr>
          </a:solidFill>
          <a:ln w="25400">
            <a:solidFill>
              <a:srgbClr val="7B2FBE"/>
            </a:solidFill>
            <a:prstDash val="solid"/>
          </a:ln>
        </p:spPr>
      </p:sp>
      <p:sp>
        <p:nvSpPr>
          <p:cNvPr id="7" name="Text 5"/>
          <p:cNvSpPr/>
          <p:nvPr/>
        </p:nvSpPr>
        <p:spPr>
          <a:xfrm>
            <a:off x="548640" y="1828800"/>
            <a:ext cx="3017520" cy="1828800"/>
          </a:xfrm>
          <a:prstGeom prst="rect">
            <a:avLst/>
          </a:prstGeom>
          <a:noFill/>
          <a:ln/>
        </p:spPr>
        <p:txBody>
          <a:bodyPr wrap="square" rtlCol="0" anchor="ctr"/>
          <a:lstStyle/>
          <a:p>
            <a:pPr algn="ctr" indent="0" marL="0">
              <a:buNone/>
            </a:pPr>
            <a:r>
              <a:rPr lang="en-US" sz="1200" dirty="0">
                <a:solidFill>
                  <a:srgbClr val="F0E6FF"/>
                </a:solidFill>
              </a:rPr>
              <a:t>Instagram</a:t>
            </a:r>
            <a:endParaRPr lang="en-US" sz="1200" dirty="0"/>
          </a:p>
          <a:p>
            <a:pPr algn="ctr" indent="0" marL="0">
              <a:buNone/>
            </a:pPr>
            <a:r>
              <a:rPr lang="en-US" sz="1200" dirty="0">
                <a:solidFill>
                  <a:srgbClr val="F0E6FF"/>
                </a:solidFill>
              </a:rPr>
              <a:t>📸 Social Media</a:t>
            </a:r>
            <a:endParaRPr lang="en-US" sz="1200" dirty="0"/>
          </a:p>
          <a:p>
            <a:pPr algn="ctr" indent="0" marL="0">
              <a:buNone/>
            </a:pPr>
            <a:endParaRPr lang="en-US" sz="1200" dirty="0"/>
          </a:p>
          <a:p>
            <a:pPr algn="ctr" indent="0" marL="0">
              <a:buNone/>
            </a:pPr>
            <a:r>
              <a:rPr lang="en-US" sz="1200" dirty="0">
                <a:solidFill>
                  <a:srgbClr val="F0E6FF"/>
                </a:solidFill>
              </a:rPr>
              <a:t>Likes · Stories</a:t>
            </a:r>
            <a:endParaRPr lang="en-US" sz="1200" dirty="0"/>
          </a:p>
          <a:p>
            <a:pPr algn="ctr" indent="0" marL="0">
              <a:buNone/>
            </a:pPr>
            <a:r>
              <a:rPr lang="en-US" sz="1200" dirty="0">
                <a:solidFill>
                  <a:srgbClr val="F0E6FF"/>
                </a:solidFill>
              </a:rPr>
              <a:t>Followers</a:t>
            </a:r>
            <a:endParaRPr lang="en-US" sz="1200" dirty="0"/>
          </a:p>
        </p:txBody>
      </p:sp>
      <p:sp>
        <p:nvSpPr>
          <p:cNvPr id="8" name="Shape 6"/>
          <p:cNvSpPr/>
          <p:nvPr/>
        </p:nvSpPr>
        <p:spPr>
          <a:xfrm>
            <a:off x="2926080" y="1417320"/>
            <a:ext cx="3200400" cy="3200400"/>
          </a:xfrm>
          <a:prstGeom prst="ellipse">
            <a:avLst/>
          </a:prstGeom>
          <a:solidFill>
            <a:srgbClr val="0E7490">
              <a:alpha val="40000"/>
            </a:srgbClr>
          </a:solidFill>
          <a:ln w="25400">
            <a:solidFill>
              <a:srgbClr val="06B6D4"/>
            </a:solidFill>
            <a:prstDash val="solid"/>
          </a:ln>
        </p:spPr>
      </p:sp>
      <p:sp>
        <p:nvSpPr>
          <p:cNvPr id="9" name="Text 7"/>
          <p:cNvSpPr/>
          <p:nvPr/>
        </p:nvSpPr>
        <p:spPr>
          <a:xfrm>
            <a:off x="3017520" y="1828800"/>
            <a:ext cx="3017520" cy="1828800"/>
          </a:xfrm>
          <a:prstGeom prst="rect">
            <a:avLst/>
          </a:prstGeom>
          <a:noFill/>
          <a:ln/>
        </p:spPr>
        <p:txBody>
          <a:bodyPr wrap="square" rtlCol="0" anchor="ctr"/>
          <a:lstStyle/>
          <a:p>
            <a:pPr algn="ctr" indent="0" marL="0">
              <a:buNone/>
            </a:pPr>
            <a:r>
              <a:rPr lang="en-US" sz="1200" dirty="0">
                <a:solidFill>
                  <a:srgbClr val="F0E6FF"/>
                </a:solidFill>
              </a:rPr>
              <a:t>Google Maps</a:t>
            </a:r>
            <a:endParaRPr lang="en-US" sz="1200" dirty="0"/>
          </a:p>
          <a:p>
            <a:pPr algn="ctr" indent="0" marL="0">
              <a:buNone/>
            </a:pPr>
            <a:r>
              <a:rPr lang="en-US" sz="1200" dirty="0">
                <a:solidFill>
                  <a:srgbClr val="F0E6FF"/>
                </a:solidFill>
              </a:rPr>
              <a:t>🗺 Mapping</a:t>
            </a:r>
            <a:endParaRPr lang="en-US" sz="1200" dirty="0"/>
          </a:p>
          <a:p>
            <a:pPr algn="ctr" indent="0" marL="0">
              <a:buNone/>
            </a:pPr>
            <a:endParaRPr lang="en-US" sz="1200" dirty="0"/>
          </a:p>
          <a:p>
            <a:pPr algn="ctr" indent="0" marL="0">
              <a:buNone/>
            </a:pPr>
            <a:r>
              <a:rPr lang="en-US" sz="1200" dirty="0">
                <a:solidFill>
                  <a:srgbClr val="F0E6FF"/>
                </a:solidFill>
              </a:rPr>
              <a:t>Places · Reviews</a:t>
            </a:r>
            <a:endParaRPr lang="en-US" sz="1200" dirty="0"/>
          </a:p>
          <a:p>
            <a:pPr algn="ctr" indent="0" marL="0">
              <a:buNone/>
            </a:pPr>
            <a:r>
              <a:rPr lang="en-US" sz="1200" dirty="0">
                <a:solidFill>
                  <a:srgbClr val="F0E6FF"/>
                </a:solidFill>
              </a:rPr>
              <a:t>Directions</a:t>
            </a:r>
            <a:endParaRPr lang="en-US" sz="1200" dirty="0"/>
          </a:p>
        </p:txBody>
      </p:sp>
      <p:sp>
        <p:nvSpPr>
          <p:cNvPr id="10" name="Shape 8"/>
          <p:cNvSpPr/>
          <p:nvPr/>
        </p:nvSpPr>
        <p:spPr>
          <a:xfrm>
            <a:off x="5486400" y="1417320"/>
            <a:ext cx="3200400" cy="3200400"/>
          </a:xfrm>
          <a:prstGeom prst="ellipse">
            <a:avLst/>
          </a:prstGeom>
          <a:solidFill>
            <a:srgbClr val="5C4A00">
              <a:alpha val="40000"/>
            </a:srgbClr>
          </a:solidFill>
          <a:ln w="25400">
            <a:solidFill>
              <a:srgbClr val="F59E0B"/>
            </a:solidFill>
            <a:prstDash val="solid"/>
          </a:ln>
        </p:spPr>
      </p:sp>
      <p:sp>
        <p:nvSpPr>
          <p:cNvPr id="11" name="Text 9"/>
          <p:cNvSpPr/>
          <p:nvPr/>
        </p:nvSpPr>
        <p:spPr>
          <a:xfrm>
            <a:off x="5577840" y="1828800"/>
            <a:ext cx="3017520" cy="1828800"/>
          </a:xfrm>
          <a:prstGeom prst="rect">
            <a:avLst/>
          </a:prstGeom>
          <a:noFill/>
          <a:ln/>
        </p:spPr>
        <p:txBody>
          <a:bodyPr wrap="square" rtlCol="0" anchor="ctr"/>
          <a:lstStyle/>
          <a:p>
            <a:pPr algn="ctr" indent="0" marL="0">
              <a:buNone/>
            </a:pPr>
            <a:r>
              <a:rPr lang="en-US" sz="1200" dirty="0">
                <a:solidFill>
                  <a:srgbClr val="F0E6FF"/>
                </a:solidFill>
              </a:rPr>
              <a:t>Reddit</a:t>
            </a:r>
            <a:endParaRPr lang="en-US" sz="1200" dirty="0"/>
          </a:p>
          <a:p>
            <a:pPr algn="ctr" indent="0" marL="0">
              <a:buNone/>
            </a:pPr>
            <a:r>
              <a:rPr lang="en-US" sz="1200" dirty="0">
                <a:solidFill>
                  <a:srgbClr val="F0E6FF"/>
                </a:solidFill>
              </a:rPr>
              <a:t>👥 Community</a:t>
            </a:r>
            <a:endParaRPr lang="en-US" sz="1200" dirty="0"/>
          </a:p>
          <a:p>
            <a:pPr algn="ctr" indent="0" marL="0">
              <a:buNone/>
            </a:pPr>
            <a:endParaRPr lang="en-US" sz="1200" dirty="0"/>
          </a:p>
          <a:p>
            <a:pPr algn="ctr" indent="0" marL="0">
              <a:buNone/>
            </a:pPr>
            <a:r>
              <a:rPr lang="en-US" sz="1200" dirty="0">
                <a:solidFill>
                  <a:srgbClr val="F0E6FF"/>
                </a:solidFill>
              </a:rPr>
              <a:t>Groups · Voting</a:t>
            </a:r>
            <a:endParaRPr lang="en-US" sz="1200" dirty="0"/>
          </a:p>
          <a:p>
            <a:pPr algn="ctr" indent="0" marL="0">
              <a:buNone/>
            </a:pPr>
            <a:r>
              <a:rPr lang="en-US" sz="1200" dirty="0">
                <a:solidFill>
                  <a:srgbClr val="F0E6FF"/>
                </a:solidFill>
              </a:rPr>
              <a:t>Threads</a:t>
            </a:r>
            <a:endParaRPr lang="en-US" sz="1200" dirty="0"/>
          </a:p>
        </p:txBody>
      </p:sp>
      <p:sp>
        <p:nvSpPr>
          <p:cNvPr id="12" name="Shape 10"/>
          <p:cNvSpPr/>
          <p:nvPr/>
        </p:nvSpPr>
        <p:spPr>
          <a:xfrm>
            <a:off x="3429000" y="2606040"/>
            <a:ext cx="2286000" cy="1280160"/>
          </a:xfrm>
          <a:prstGeom prst="ellipse">
            <a:avLst/>
          </a:prstGeom>
          <a:solidFill>
            <a:srgbClr val="1A0B2E"/>
          </a:solidFill>
          <a:ln w="12700">
            <a:solidFill>
              <a:srgbClr val="FFFFFF"/>
            </a:solidFill>
            <a:prstDash val="solid"/>
          </a:ln>
        </p:spPr>
      </p:sp>
      <p:sp>
        <p:nvSpPr>
          <p:cNvPr id="13" name="Text 11"/>
          <p:cNvSpPr/>
          <p:nvPr/>
        </p:nvSpPr>
        <p:spPr>
          <a:xfrm>
            <a:off x="3429000" y="2670048"/>
            <a:ext cx="2286000" cy="502920"/>
          </a:xfrm>
          <a:prstGeom prst="rect">
            <a:avLst/>
          </a:prstGeom>
          <a:noFill/>
          <a:ln/>
        </p:spPr>
        <p:txBody>
          <a:bodyPr wrap="square" rtlCol="0" anchor="ctr"/>
          <a:lstStyle/>
          <a:p>
            <a:pPr algn="ctr" indent="0" marL="0">
              <a:buNone/>
            </a:pPr>
            <a:r>
              <a:rPr lang="en-US" sz="1400" b="1" dirty="0">
                <a:solidFill>
                  <a:srgbClr val="C77DFF"/>
                </a:solidFill>
              </a:rPr>
              <a:t>🌐 ORBIS</a:t>
            </a:r>
            <a:endParaRPr lang="en-US" sz="1400" dirty="0"/>
          </a:p>
        </p:txBody>
      </p:sp>
      <p:sp>
        <p:nvSpPr>
          <p:cNvPr id="14" name="Text 12"/>
          <p:cNvSpPr/>
          <p:nvPr/>
        </p:nvSpPr>
        <p:spPr>
          <a:xfrm>
            <a:off x="3429000" y="3127248"/>
            <a:ext cx="2286000" cy="320040"/>
          </a:xfrm>
          <a:prstGeom prst="rect">
            <a:avLst/>
          </a:prstGeom>
          <a:noFill/>
          <a:ln/>
        </p:spPr>
        <p:txBody>
          <a:bodyPr wrap="square" rtlCol="0" anchor="ctr"/>
          <a:lstStyle/>
          <a:p>
            <a:pPr algn="ctr" indent="0" marL="0">
              <a:buNone/>
            </a:pPr>
            <a:r>
              <a:rPr lang="en-US" sz="900" dirty="0">
                <a:solidFill>
                  <a:srgbClr val="F59E0B"/>
                </a:solidFill>
              </a:rPr>
              <a:t>All three, unified</a:t>
            </a:r>
            <a:endParaRPr lang="en-US" sz="900" dirty="0"/>
          </a:p>
        </p:txBody>
      </p:sp>
      <p:sp>
        <p:nvSpPr>
          <p:cNvPr id="15" name="Shape 13"/>
          <p:cNvSpPr/>
          <p:nvPr/>
        </p:nvSpPr>
        <p:spPr>
          <a:xfrm>
            <a:off x="365760" y="4663440"/>
            <a:ext cx="8412480" cy="347472"/>
          </a:xfrm>
          <a:prstGeom prst="rect">
            <a:avLst/>
          </a:prstGeom>
          <a:solidFill>
            <a:srgbClr val="7B2FBE"/>
          </a:solidFill>
          <a:ln/>
        </p:spPr>
      </p:sp>
      <p:sp>
        <p:nvSpPr>
          <p:cNvPr id="16" name="Text 14"/>
          <p:cNvSpPr/>
          <p:nvPr/>
        </p:nvSpPr>
        <p:spPr>
          <a:xfrm>
            <a:off x="502920" y="4663440"/>
            <a:ext cx="8229600" cy="347472"/>
          </a:xfrm>
          <a:prstGeom prst="rect">
            <a:avLst/>
          </a:prstGeom>
          <a:noFill/>
          <a:ln/>
        </p:spPr>
        <p:txBody>
          <a:bodyPr wrap="square" rtlCol="0" anchor="ctr"/>
          <a:lstStyle/>
          <a:p>
            <a:pPr indent="0" marL="0">
              <a:buNone/>
            </a:pPr>
            <a:r>
              <a:rPr lang="en-US" sz="1200" b="1" dirty="0">
                <a:solidFill>
                  <a:srgbClr val="FFFFFF"/>
                </a:solidFill>
              </a:rPr>
              <a:t>🔥  A Location-driven social ecosystem where communities GROW by claiming real-world places.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7: KT SCRIPT &amp; CLOSING</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KT Explanation Script</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What to say when someone asks 'What is Orbis?'</a:t>
            </a:r>
            <a:endParaRPr lang="en-US" sz="1400" dirty="0"/>
          </a:p>
        </p:txBody>
      </p:sp>
      <p:sp>
        <p:nvSpPr>
          <p:cNvPr id="6" name="Shape 4"/>
          <p:cNvSpPr/>
          <p:nvPr/>
        </p:nvSpPr>
        <p:spPr>
          <a:xfrm>
            <a:off x="365760" y="1463040"/>
            <a:ext cx="8412480" cy="2468880"/>
          </a:xfrm>
          <a:prstGeom prst="rect">
            <a:avLst/>
          </a:prstGeom>
          <a:solidFill>
            <a:srgbClr val="2A1547"/>
          </a:solidFill>
          <a:ln w="25400">
            <a:solidFill>
              <a:srgbClr val="C77DFF"/>
            </a:solidFill>
            <a:prstDash val="solid"/>
          </a:ln>
        </p:spPr>
      </p:sp>
      <p:sp>
        <p:nvSpPr>
          <p:cNvPr id="7" name="Text 5"/>
          <p:cNvSpPr/>
          <p:nvPr/>
        </p:nvSpPr>
        <p:spPr>
          <a:xfrm>
            <a:off x="457200" y="1417320"/>
            <a:ext cx="640080" cy="731520"/>
          </a:xfrm>
          <a:prstGeom prst="rect">
            <a:avLst/>
          </a:prstGeom>
          <a:noFill/>
          <a:ln/>
        </p:spPr>
        <p:txBody>
          <a:bodyPr wrap="square" rtlCol="0" anchor="ctr"/>
          <a:lstStyle/>
          <a:p>
            <a:pPr indent="0" marL="0">
              <a:buNone/>
            </a:pPr>
            <a:r>
              <a:rPr lang="en-US" sz="6000" b="1" dirty="0">
                <a:solidFill>
                  <a:srgbClr val="7B2FBE"/>
                </a:solidFill>
              </a:rPr>
              <a:t>"</a:t>
            </a:r>
            <a:endParaRPr lang="en-US" sz="6000" dirty="0"/>
          </a:p>
        </p:txBody>
      </p:sp>
      <p:sp>
        <p:nvSpPr>
          <p:cNvPr id="8" name="Text 6"/>
          <p:cNvSpPr/>
          <p:nvPr/>
        </p:nvSpPr>
        <p:spPr>
          <a:xfrm>
            <a:off x="548640" y="1737360"/>
            <a:ext cx="8046720" cy="1920240"/>
          </a:xfrm>
          <a:prstGeom prst="rect">
            <a:avLst/>
          </a:prstGeom>
          <a:noFill/>
          <a:ln/>
        </p:spPr>
        <p:txBody>
          <a:bodyPr wrap="square" rtlCol="0" anchor="t"/>
          <a:lstStyle/>
          <a:p>
            <a:pPr indent="0" marL="0">
              <a:buNone/>
            </a:pPr>
            <a:r>
              <a:rPr lang="en-US" sz="1400" i="1" dirty="0">
                <a:solidFill>
                  <a:srgbClr val="FFFFFF"/>
                </a:solidFill>
              </a:rPr>
              <a:t>Orbis Social App is a location-based community platform where users join geographically defined groups called 'Tribes'. Each Tribe controls a visible territory on the map. Users create or claim real-world places to expand that territory. Like Instagram, users post media from these places and interact with each other. It's the ultimate tool for discovering local culture and building real-world community.</a:t>
            </a:r>
            <a:endParaRPr lang="en-US" sz="1400" dirty="0"/>
          </a:p>
        </p:txBody>
      </p:sp>
      <p:sp>
        <p:nvSpPr>
          <p:cNvPr id="9" name="Shape 7"/>
          <p:cNvSpPr/>
          <p:nvPr/>
        </p:nvSpPr>
        <p:spPr>
          <a:xfrm>
            <a:off x="365760" y="4160520"/>
            <a:ext cx="2651760" cy="685800"/>
          </a:xfrm>
          <a:prstGeom prst="rect">
            <a:avLst/>
          </a:prstGeom>
          <a:solidFill>
            <a:srgbClr val="7B2FBE"/>
          </a:solidFill>
          <a:ln/>
        </p:spPr>
      </p:sp>
      <p:sp>
        <p:nvSpPr>
          <p:cNvPr id="10" name="Text 8"/>
          <p:cNvSpPr/>
          <p:nvPr/>
        </p:nvSpPr>
        <p:spPr>
          <a:xfrm>
            <a:off x="365760" y="4160520"/>
            <a:ext cx="2651760" cy="685800"/>
          </a:xfrm>
          <a:prstGeom prst="rect">
            <a:avLst/>
          </a:prstGeom>
          <a:noFill/>
          <a:ln/>
        </p:spPr>
        <p:txBody>
          <a:bodyPr wrap="square" rtlCol="0" anchor="ctr"/>
          <a:lstStyle/>
          <a:p>
            <a:pPr algn="ctr" indent="0" marL="0">
              <a:buNone/>
            </a:pPr>
            <a:r>
              <a:rPr lang="en-US" sz="1800" b="1" spc="400" kern="0" dirty="0">
                <a:solidFill>
                  <a:srgbClr val="FFFFFF"/>
                </a:solidFill>
              </a:rPr>
              <a:t>LOCATION</a:t>
            </a:r>
            <a:endParaRPr lang="en-US" sz="1800" dirty="0"/>
          </a:p>
        </p:txBody>
      </p:sp>
      <p:sp>
        <p:nvSpPr>
          <p:cNvPr id="11" name="Shape 9"/>
          <p:cNvSpPr/>
          <p:nvPr/>
        </p:nvSpPr>
        <p:spPr>
          <a:xfrm>
            <a:off x="3264408" y="4160520"/>
            <a:ext cx="2651760" cy="685800"/>
          </a:xfrm>
          <a:prstGeom prst="rect">
            <a:avLst/>
          </a:prstGeom>
          <a:solidFill>
            <a:srgbClr val="0E7490"/>
          </a:solidFill>
          <a:ln/>
        </p:spPr>
      </p:sp>
      <p:sp>
        <p:nvSpPr>
          <p:cNvPr id="12" name="Text 10"/>
          <p:cNvSpPr/>
          <p:nvPr/>
        </p:nvSpPr>
        <p:spPr>
          <a:xfrm>
            <a:off x="3264408" y="4160520"/>
            <a:ext cx="2651760" cy="685800"/>
          </a:xfrm>
          <a:prstGeom prst="rect">
            <a:avLst/>
          </a:prstGeom>
          <a:noFill/>
          <a:ln/>
        </p:spPr>
        <p:txBody>
          <a:bodyPr wrap="square" rtlCol="0" anchor="ctr"/>
          <a:lstStyle/>
          <a:p>
            <a:pPr algn="ctr" indent="0" marL="0">
              <a:buNone/>
            </a:pPr>
            <a:r>
              <a:rPr lang="en-US" sz="1800" b="1" spc="400" kern="0" dirty="0">
                <a:solidFill>
                  <a:srgbClr val="FFFFFF"/>
                </a:solidFill>
              </a:rPr>
              <a:t>COMMUNITY</a:t>
            </a:r>
            <a:endParaRPr lang="en-US" sz="1800" dirty="0"/>
          </a:p>
        </p:txBody>
      </p:sp>
      <p:sp>
        <p:nvSpPr>
          <p:cNvPr id="13" name="Shape 11"/>
          <p:cNvSpPr/>
          <p:nvPr/>
        </p:nvSpPr>
        <p:spPr>
          <a:xfrm>
            <a:off x="6163056" y="4160520"/>
            <a:ext cx="2651760" cy="685800"/>
          </a:xfrm>
          <a:prstGeom prst="rect">
            <a:avLst/>
          </a:prstGeom>
          <a:solidFill>
            <a:srgbClr val="F59E0B"/>
          </a:solidFill>
          <a:ln/>
        </p:spPr>
      </p:sp>
      <p:sp>
        <p:nvSpPr>
          <p:cNvPr id="14" name="Text 12"/>
          <p:cNvSpPr/>
          <p:nvPr/>
        </p:nvSpPr>
        <p:spPr>
          <a:xfrm>
            <a:off x="6163056" y="4160520"/>
            <a:ext cx="2651760" cy="685800"/>
          </a:xfrm>
          <a:prstGeom prst="rect">
            <a:avLst/>
          </a:prstGeom>
          <a:noFill/>
          <a:ln/>
        </p:spPr>
        <p:txBody>
          <a:bodyPr wrap="square" rtlCol="0" anchor="ctr"/>
          <a:lstStyle/>
          <a:p>
            <a:pPr algn="ctr" indent="0" marL="0">
              <a:buNone/>
            </a:pPr>
            <a:r>
              <a:rPr lang="en-US" sz="1800" b="1" spc="400" kern="0" dirty="0">
                <a:solidFill>
                  <a:srgbClr val="FFFFFF"/>
                </a:solidFill>
              </a:rPr>
              <a:t>TERRITORY</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0" y="0"/>
            <a:ext cx="9144000" cy="347472"/>
          </a:xfrm>
          <a:prstGeom prst="rect">
            <a:avLst/>
          </a:prstGeom>
          <a:solidFill>
            <a:srgbClr val="7B2FBE"/>
          </a:solidFill>
          <a:ln/>
        </p:spPr>
      </p:sp>
      <p:sp>
        <p:nvSpPr>
          <p:cNvPr id="3" name="Text 1"/>
          <p:cNvSpPr/>
          <p:nvPr/>
        </p:nvSpPr>
        <p:spPr>
          <a:xfrm>
            <a:off x="274320" y="18288"/>
            <a:ext cx="8595360" cy="310896"/>
          </a:xfrm>
          <a:prstGeom prst="rect">
            <a:avLst/>
          </a:prstGeom>
          <a:noFill/>
          <a:ln/>
        </p:spPr>
        <p:txBody>
          <a:bodyPr wrap="square" lIns="0" tIns="0" rIns="0" bIns="0" rtlCol="0" anchor="ctr"/>
          <a:lstStyle/>
          <a:p>
            <a:pPr indent="0" marL="0">
              <a:buNone/>
            </a:pPr>
            <a:r>
              <a:rPr lang="en-US" sz="900" b="1" spc="300" kern="0" dirty="0">
                <a:solidFill>
                  <a:srgbClr val="FFFFFF"/>
                </a:solidFill>
              </a:rPr>
              <a:t>SECTION 7: KT SCRIPT &amp; CLOSING</a:t>
            </a:r>
            <a:endParaRPr lang="en-US" sz="900" dirty="0"/>
          </a:p>
        </p:txBody>
      </p:sp>
      <p:sp>
        <p:nvSpPr>
          <p:cNvPr id="4" name="Text 2"/>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Final Summary: The 4 Things to Remember</a:t>
            </a:r>
            <a:endParaRPr lang="en-US" sz="2800" dirty="0"/>
          </a:p>
        </p:txBody>
      </p:sp>
      <p:sp>
        <p:nvSpPr>
          <p:cNvPr id="5" name="Text 3"/>
          <p:cNvSpPr/>
          <p:nvPr/>
        </p:nvSpPr>
        <p:spPr>
          <a:xfrm>
            <a:off x="457200" y="1051560"/>
            <a:ext cx="8229600" cy="365760"/>
          </a:xfrm>
          <a:prstGeom prst="rect">
            <a:avLst/>
          </a:prstGeom>
          <a:noFill/>
          <a:ln/>
        </p:spPr>
        <p:txBody>
          <a:bodyPr wrap="square" rtlCol="0" anchor="ctr"/>
          <a:lstStyle/>
          <a:p>
            <a:pPr indent="0" marL="0">
              <a:buNone/>
            </a:pPr>
            <a:r>
              <a:rPr lang="en-US" sz="1400" dirty="0">
                <a:solidFill>
                  <a:srgbClr val="C77DFF"/>
                </a:solidFill>
                <a:latin typeface="Calibri" pitchFamily="34" charset="0"/>
                <a:ea typeface="Calibri" pitchFamily="34" charset="-122"/>
                <a:cs typeface="Calibri" pitchFamily="34" charset="-120"/>
              </a:rPr>
              <a:t>Walk away with these — everything else is detail</a:t>
            </a:r>
            <a:endParaRPr lang="en-US" sz="1400" dirty="0"/>
          </a:p>
        </p:txBody>
      </p:sp>
      <p:sp>
        <p:nvSpPr>
          <p:cNvPr id="6" name="Shape 4"/>
          <p:cNvSpPr/>
          <p:nvPr/>
        </p:nvSpPr>
        <p:spPr>
          <a:xfrm>
            <a:off x="365760" y="1463040"/>
            <a:ext cx="4160520" cy="1600200"/>
          </a:xfrm>
          <a:prstGeom prst="rect">
            <a:avLst/>
          </a:prstGeom>
          <a:solidFill>
            <a:srgbClr val="2A1547"/>
          </a:solidFill>
          <a:ln w="25400">
            <a:solidFill>
              <a:srgbClr val="7B2FBE"/>
            </a:solidFill>
            <a:prstDash val="solid"/>
          </a:ln>
        </p:spPr>
      </p:sp>
      <p:sp>
        <p:nvSpPr>
          <p:cNvPr id="7" name="Shape 5"/>
          <p:cNvSpPr/>
          <p:nvPr/>
        </p:nvSpPr>
        <p:spPr>
          <a:xfrm>
            <a:off x="365760" y="1463040"/>
            <a:ext cx="594360" cy="1600200"/>
          </a:xfrm>
          <a:prstGeom prst="rect">
            <a:avLst/>
          </a:prstGeom>
          <a:solidFill>
            <a:srgbClr val="7B2FBE"/>
          </a:solidFill>
          <a:ln/>
        </p:spPr>
      </p:sp>
      <p:sp>
        <p:nvSpPr>
          <p:cNvPr id="8" name="Text 6"/>
          <p:cNvSpPr/>
          <p:nvPr/>
        </p:nvSpPr>
        <p:spPr>
          <a:xfrm>
            <a:off x="365760" y="1463040"/>
            <a:ext cx="594360" cy="1600200"/>
          </a:xfrm>
          <a:prstGeom prst="rect">
            <a:avLst/>
          </a:prstGeom>
          <a:noFill/>
          <a:ln/>
        </p:spPr>
        <p:txBody>
          <a:bodyPr wrap="square" rtlCol="0" anchor="ctr"/>
          <a:lstStyle/>
          <a:p>
            <a:pPr algn="ctr" indent="0" marL="0">
              <a:buNone/>
            </a:pPr>
            <a:r>
              <a:rPr lang="en-US" sz="2400" b="1" dirty="0">
                <a:solidFill>
                  <a:srgbClr val="FFFFFF"/>
                </a:solidFill>
              </a:rPr>
              <a:t>1</a:t>
            </a:r>
            <a:endParaRPr lang="en-US" sz="2400" dirty="0"/>
          </a:p>
        </p:txBody>
      </p:sp>
      <p:pic>
        <p:nvPicPr>
          <p:cNvPr id="9" name="Image 0" descr="preencoded.png">    </p:cNvPr>
          <p:cNvPicPr>
            <a:picLocks noChangeAspect="1"/>
          </p:cNvPicPr>
          <p:nvPr/>
        </p:nvPicPr>
        <p:blipFill>
          <a:blip r:embed="rId1"/>
          <a:stretch>
            <a:fillRect/>
          </a:stretch>
        </p:blipFill>
        <p:spPr>
          <a:xfrm>
            <a:off x="1051560" y="1600200"/>
            <a:ext cx="457200" cy="457200"/>
          </a:xfrm>
          <a:prstGeom prst="rect">
            <a:avLst/>
          </a:prstGeom>
        </p:spPr>
      </p:pic>
      <p:sp>
        <p:nvSpPr>
          <p:cNvPr id="10" name="Text 7"/>
          <p:cNvSpPr/>
          <p:nvPr/>
        </p:nvSpPr>
        <p:spPr>
          <a:xfrm>
            <a:off x="1554480" y="1572768"/>
            <a:ext cx="2880360" cy="411480"/>
          </a:xfrm>
          <a:prstGeom prst="rect">
            <a:avLst/>
          </a:prstGeom>
          <a:noFill/>
          <a:ln/>
        </p:spPr>
        <p:txBody>
          <a:bodyPr wrap="square" rtlCol="0" anchor="ctr"/>
          <a:lstStyle/>
          <a:p>
            <a:pPr indent="0" marL="0">
              <a:buNone/>
            </a:pPr>
            <a:r>
              <a:rPr lang="en-US" sz="1400" b="1" dirty="0">
                <a:solidFill>
                  <a:srgbClr val="7B2FBE"/>
                </a:solidFill>
              </a:rPr>
              <a:t>Tribe = Territory</a:t>
            </a:r>
            <a:endParaRPr lang="en-US" sz="1400" dirty="0"/>
          </a:p>
        </p:txBody>
      </p:sp>
      <p:sp>
        <p:nvSpPr>
          <p:cNvPr id="11" name="Text 8"/>
          <p:cNvSpPr/>
          <p:nvPr/>
        </p:nvSpPr>
        <p:spPr>
          <a:xfrm>
            <a:off x="1051560" y="2121408"/>
            <a:ext cx="3383280" cy="822960"/>
          </a:xfrm>
          <a:prstGeom prst="rect">
            <a:avLst/>
          </a:prstGeom>
          <a:noFill/>
          <a:ln/>
        </p:spPr>
        <p:txBody>
          <a:bodyPr wrap="square" rtlCol="0" anchor="ctr"/>
          <a:lstStyle/>
          <a:p>
            <a:pPr indent="0" marL="0">
              <a:buNone/>
            </a:pPr>
            <a:r>
              <a:rPr lang="en-US" sz="1000" dirty="0">
                <a:solidFill>
                  <a:srgbClr val="F0E6FF"/>
                </a:solidFill>
              </a:rPr>
              <a:t>A Tribe is a community + a GPS-defined region on the live map. This is the core concept that powers everything.</a:t>
            </a:r>
            <a:endParaRPr lang="en-US" sz="1000" dirty="0"/>
          </a:p>
        </p:txBody>
      </p:sp>
      <p:sp>
        <p:nvSpPr>
          <p:cNvPr id="12" name="Shape 9"/>
          <p:cNvSpPr/>
          <p:nvPr/>
        </p:nvSpPr>
        <p:spPr>
          <a:xfrm>
            <a:off x="4800600" y="1463040"/>
            <a:ext cx="4160520" cy="1600200"/>
          </a:xfrm>
          <a:prstGeom prst="rect">
            <a:avLst/>
          </a:prstGeom>
          <a:solidFill>
            <a:srgbClr val="2A1547"/>
          </a:solidFill>
          <a:ln w="25400">
            <a:solidFill>
              <a:srgbClr val="0E7490"/>
            </a:solidFill>
            <a:prstDash val="solid"/>
          </a:ln>
        </p:spPr>
      </p:sp>
      <p:sp>
        <p:nvSpPr>
          <p:cNvPr id="13" name="Shape 10"/>
          <p:cNvSpPr/>
          <p:nvPr/>
        </p:nvSpPr>
        <p:spPr>
          <a:xfrm>
            <a:off x="4800600" y="1463040"/>
            <a:ext cx="594360" cy="1600200"/>
          </a:xfrm>
          <a:prstGeom prst="rect">
            <a:avLst/>
          </a:prstGeom>
          <a:solidFill>
            <a:srgbClr val="0E7490"/>
          </a:solidFill>
          <a:ln/>
        </p:spPr>
      </p:sp>
      <p:sp>
        <p:nvSpPr>
          <p:cNvPr id="14" name="Text 11"/>
          <p:cNvSpPr/>
          <p:nvPr/>
        </p:nvSpPr>
        <p:spPr>
          <a:xfrm>
            <a:off x="4800600" y="1463040"/>
            <a:ext cx="594360" cy="1600200"/>
          </a:xfrm>
          <a:prstGeom prst="rect">
            <a:avLst/>
          </a:prstGeom>
          <a:noFill/>
          <a:ln/>
        </p:spPr>
        <p:txBody>
          <a:bodyPr wrap="square" rtlCol="0" anchor="ctr"/>
          <a:lstStyle/>
          <a:p>
            <a:pPr algn="ctr" indent="0" marL="0">
              <a:buNone/>
            </a:pPr>
            <a:r>
              <a:rPr lang="en-US" sz="2400" b="1" dirty="0">
                <a:solidFill>
                  <a:srgbClr val="FFFFFF"/>
                </a:solidFill>
              </a:rPr>
              <a:t>2</a:t>
            </a:r>
            <a:endParaRPr lang="en-US" sz="2400" dirty="0"/>
          </a:p>
        </p:txBody>
      </p:sp>
      <p:pic>
        <p:nvPicPr>
          <p:cNvPr id="15" name="Image 1" descr="preencoded.png">    </p:cNvPr>
          <p:cNvPicPr>
            <a:picLocks noChangeAspect="1"/>
          </p:cNvPicPr>
          <p:nvPr/>
        </p:nvPicPr>
        <p:blipFill>
          <a:blip r:embed="rId2"/>
          <a:stretch>
            <a:fillRect/>
          </a:stretch>
        </p:blipFill>
        <p:spPr>
          <a:xfrm>
            <a:off x="5486400" y="1600200"/>
            <a:ext cx="457200" cy="457200"/>
          </a:xfrm>
          <a:prstGeom prst="rect">
            <a:avLst/>
          </a:prstGeom>
        </p:spPr>
      </p:pic>
      <p:sp>
        <p:nvSpPr>
          <p:cNvPr id="16" name="Text 12"/>
          <p:cNvSpPr/>
          <p:nvPr/>
        </p:nvSpPr>
        <p:spPr>
          <a:xfrm>
            <a:off x="5989320" y="1572768"/>
            <a:ext cx="2880360" cy="411480"/>
          </a:xfrm>
          <a:prstGeom prst="rect">
            <a:avLst/>
          </a:prstGeom>
          <a:noFill/>
          <a:ln/>
        </p:spPr>
        <p:txBody>
          <a:bodyPr wrap="square" rtlCol="0" anchor="ctr"/>
          <a:lstStyle/>
          <a:p>
            <a:pPr indent="0" marL="0">
              <a:buNone/>
            </a:pPr>
            <a:r>
              <a:rPr lang="en-US" sz="1400" b="1" dirty="0">
                <a:solidFill>
                  <a:srgbClr val="0E7490"/>
                </a:solidFill>
              </a:rPr>
              <a:t>Places = Power</a:t>
            </a:r>
            <a:endParaRPr lang="en-US" sz="1400" dirty="0"/>
          </a:p>
        </p:txBody>
      </p:sp>
      <p:sp>
        <p:nvSpPr>
          <p:cNvPr id="17" name="Text 13"/>
          <p:cNvSpPr/>
          <p:nvPr/>
        </p:nvSpPr>
        <p:spPr>
          <a:xfrm>
            <a:off x="5486400" y="2121408"/>
            <a:ext cx="3383280" cy="822960"/>
          </a:xfrm>
          <a:prstGeom prst="rect">
            <a:avLst/>
          </a:prstGeom>
          <a:noFill/>
          <a:ln/>
        </p:spPr>
        <p:txBody>
          <a:bodyPr wrap="square" rtlCol="0" anchor="ctr"/>
          <a:lstStyle/>
          <a:p>
            <a:pPr indent="0" marL="0">
              <a:buNone/>
            </a:pPr>
            <a:r>
              <a:rPr lang="en-US" sz="1000" dirty="0">
                <a:solidFill>
                  <a:srgbClr val="F0E6FF"/>
                </a:solidFill>
              </a:rPr>
              <a:t>Claiming real-world places expands a Tribe's territory and visibility. It's the primary engagement mechanic.</a:t>
            </a:r>
            <a:endParaRPr lang="en-US" sz="1000" dirty="0"/>
          </a:p>
        </p:txBody>
      </p:sp>
      <p:sp>
        <p:nvSpPr>
          <p:cNvPr id="18" name="Shape 14"/>
          <p:cNvSpPr/>
          <p:nvPr/>
        </p:nvSpPr>
        <p:spPr>
          <a:xfrm>
            <a:off x="365760" y="3246120"/>
            <a:ext cx="4160520" cy="1600200"/>
          </a:xfrm>
          <a:prstGeom prst="rect">
            <a:avLst/>
          </a:prstGeom>
          <a:solidFill>
            <a:srgbClr val="2A1547"/>
          </a:solidFill>
          <a:ln w="25400">
            <a:solidFill>
              <a:srgbClr val="1E4D2B"/>
            </a:solidFill>
            <a:prstDash val="solid"/>
          </a:ln>
        </p:spPr>
      </p:sp>
      <p:sp>
        <p:nvSpPr>
          <p:cNvPr id="19" name="Shape 15"/>
          <p:cNvSpPr/>
          <p:nvPr/>
        </p:nvSpPr>
        <p:spPr>
          <a:xfrm>
            <a:off x="365760" y="3246120"/>
            <a:ext cx="594360" cy="1600200"/>
          </a:xfrm>
          <a:prstGeom prst="rect">
            <a:avLst/>
          </a:prstGeom>
          <a:solidFill>
            <a:srgbClr val="1E4D2B"/>
          </a:solidFill>
          <a:ln/>
        </p:spPr>
      </p:sp>
      <p:sp>
        <p:nvSpPr>
          <p:cNvPr id="20" name="Text 16"/>
          <p:cNvSpPr/>
          <p:nvPr/>
        </p:nvSpPr>
        <p:spPr>
          <a:xfrm>
            <a:off x="365760" y="3246120"/>
            <a:ext cx="594360" cy="1600200"/>
          </a:xfrm>
          <a:prstGeom prst="rect">
            <a:avLst/>
          </a:prstGeom>
          <a:noFill/>
          <a:ln/>
        </p:spPr>
        <p:txBody>
          <a:bodyPr wrap="square" rtlCol="0" anchor="ctr"/>
          <a:lstStyle/>
          <a:p>
            <a:pPr algn="ctr" indent="0" marL="0">
              <a:buNone/>
            </a:pPr>
            <a:r>
              <a:rPr lang="en-US" sz="2400" b="1" dirty="0">
                <a:solidFill>
                  <a:srgbClr val="FFFFFF"/>
                </a:solidFill>
              </a:rPr>
              <a:t>3</a:t>
            </a:r>
            <a:endParaRPr lang="en-US" sz="2400" dirty="0"/>
          </a:p>
        </p:txBody>
      </p:sp>
      <p:pic>
        <p:nvPicPr>
          <p:cNvPr id="21" name="Image 2" descr="preencoded.png">    </p:cNvPr>
          <p:cNvPicPr>
            <a:picLocks noChangeAspect="1"/>
          </p:cNvPicPr>
          <p:nvPr/>
        </p:nvPicPr>
        <p:blipFill>
          <a:blip r:embed="rId3"/>
          <a:stretch>
            <a:fillRect/>
          </a:stretch>
        </p:blipFill>
        <p:spPr>
          <a:xfrm>
            <a:off x="1051560" y="3383280"/>
            <a:ext cx="457200" cy="457200"/>
          </a:xfrm>
          <a:prstGeom prst="rect">
            <a:avLst/>
          </a:prstGeom>
        </p:spPr>
      </p:pic>
      <p:sp>
        <p:nvSpPr>
          <p:cNvPr id="22" name="Text 17"/>
          <p:cNvSpPr/>
          <p:nvPr/>
        </p:nvSpPr>
        <p:spPr>
          <a:xfrm>
            <a:off x="1554480" y="3355848"/>
            <a:ext cx="2880360" cy="411480"/>
          </a:xfrm>
          <a:prstGeom prst="rect">
            <a:avLst/>
          </a:prstGeom>
          <a:noFill/>
          <a:ln/>
        </p:spPr>
        <p:txBody>
          <a:bodyPr wrap="square" rtlCol="0" anchor="ctr"/>
          <a:lstStyle/>
          <a:p>
            <a:pPr indent="0" marL="0">
              <a:buNone/>
            </a:pPr>
            <a:r>
              <a:rPr lang="en-US" sz="1400" b="1" dirty="0">
                <a:solidFill>
                  <a:srgbClr val="1E4D2B"/>
                </a:solidFill>
              </a:rPr>
              <a:t>Content = Engagement</a:t>
            </a:r>
            <a:endParaRPr lang="en-US" sz="1400" dirty="0"/>
          </a:p>
        </p:txBody>
      </p:sp>
      <p:sp>
        <p:nvSpPr>
          <p:cNvPr id="23" name="Text 18"/>
          <p:cNvSpPr/>
          <p:nvPr/>
        </p:nvSpPr>
        <p:spPr>
          <a:xfrm>
            <a:off x="1051560" y="3904488"/>
            <a:ext cx="3383280" cy="822960"/>
          </a:xfrm>
          <a:prstGeom prst="rect">
            <a:avLst/>
          </a:prstGeom>
          <a:noFill/>
          <a:ln/>
        </p:spPr>
        <p:txBody>
          <a:bodyPr wrap="square" rtlCol="0" anchor="ctr"/>
          <a:lstStyle/>
          <a:p>
            <a:pPr indent="0" marL="0">
              <a:buNone/>
            </a:pPr>
            <a:r>
              <a:rPr lang="en-US" sz="1000" dirty="0">
                <a:solidFill>
                  <a:srgbClr val="F0E6FF"/>
                </a:solidFill>
              </a:rPr>
              <a:t>Posts fuel three feed types: Nearby, Tribe, and Global. Location-anchored media is what keeps users returning daily.</a:t>
            </a:r>
            <a:endParaRPr lang="en-US" sz="1000" dirty="0"/>
          </a:p>
        </p:txBody>
      </p:sp>
      <p:sp>
        <p:nvSpPr>
          <p:cNvPr id="24" name="Shape 19"/>
          <p:cNvSpPr/>
          <p:nvPr/>
        </p:nvSpPr>
        <p:spPr>
          <a:xfrm>
            <a:off x="4800600" y="3246120"/>
            <a:ext cx="4160520" cy="1600200"/>
          </a:xfrm>
          <a:prstGeom prst="rect">
            <a:avLst/>
          </a:prstGeom>
          <a:solidFill>
            <a:srgbClr val="2A1547"/>
          </a:solidFill>
          <a:ln w="25400">
            <a:solidFill>
              <a:srgbClr val="5C4A00"/>
            </a:solidFill>
            <a:prstDash val="solid"/>
          </a:ln>
        </p:spPr>
      </p:sp>
      <p:sp>
        <p:nvSpPr>
          <p:cNvPr id="25" name="Shape 20"/>
          <p:cNvSpPr/>
          <p:nvPr/>
        </p:nvSpPr>
        <p:spPr>
          <a:xfrm>
            <a:off x="4800600" y="3246120"/>
            <a:ext cx="594360" cy="1600200"/>
          </a:xfrm>
          <a:prstGeom prst="rect">
            <a:avLst/>
          </a:prstGeom>
          <a:solidFill>
            <a:srgbClr val="5C4A00"/>
          </a:solidFill>
          <a:ln/>
        </p:spPr>
      </p:sp>
      <p:sp>
        <p:nvSpPr>
          <p:cNvPr id="26" name="Text 21"/>
          <p:cNvSpPr/>
          <p:nvPr/>
        </p:nvSpPr>
        <p:spPr>
          <a:xfrm>
            <a:off x="4800600" y="3246120"/>
            <a:ext cx="594360" cy="1600200"/>
          </a:xfrm>
          <a:prstGeom prst="rect">
            <a:avLst/>
          </a:prstGeom>
          <a:noFill/>
          <a:ln/>
        </p:spPr>
        <p:txBody>
          <a:bodyPr wrap="square" rtlCol="0" anchor="ctr"/>
          <a:lstStyle/>
          <a:p>
            <a:pPr algn="ctr" indent="0" marL="0">
              <a:buNone/>
            </a:pPr>
            <a:r>
              <a:rPr lang="en-US" sz="2400" b="1" dirty="0">
                <a:solidFill>
                  <a:srgbClr val="FFFFFF"/>
                </a:solidFill>
              </a:rPr>
              <a:t>4</a:t>
            </a:r>
            <a:endParaRPr lang="en-US" sz="2400" dirty="0"/>
          </a:p>
        </p:txBody>
      </p:sp>
      <p:pic>
        <p:nvPicPr>
          <p:cNvPr id="27" name="Image 3" descr="preencoded.png">    </p:cNvPr>
          <p:cNvPicPr>
            <a:picLocks noChangeAspect="1"/>
          </p:cNvPicPr>
          <p:nvPr/>
        </p:nvPicPr>
        <p:blipFill>
          <a:blip r:embed="rId4"/>
          <a:stretch>
            <a:fillRect/>
          </a:stretch>
        </p:blipFill>
        <p:spPr>
          <a:xfrm>
            <a:off x="5486400" y="3383280"/>
            <a:ext cx="457200" cy="457200"/>
          </a:xfrm>
          <a:prstGeom prst="rect">
            <a:avLst/>
          </a:prstGeom>
        </p:spPr>
      </p:pic>
      <p:sp>
        <p:nvSpPr>
          <p:cNvPr id="28" name="Text 22"/>
          <p:cNvSpPr/>
          <p:nvPr/>
        </p:nvSpPr>
        <p:spPr>
          <a:xfrm>
            <a:off x="5989320" y="3355848"/>
            <a:ext cx="2880360" cy="411480"/>
          </a:xfrm>
          <a:prstGeom prst="rect">
            <a:avLst/>
          </a:prstGeom>
          <a:noFill/>
          <a:ln/>
        </p:spPr>
        <p:txBody>
          <a:bodyPr wrap="square" rtlCol="0" anchor="ctr"/>
          <a:lstStyle/>
          <a:p>
            <a:pPr indent="0" marL="0">
              <a:buNone/>
            </a:pPr>
            <a:r>
              <a:rPr lang="en-US" sz="1400" b="1" dirty="0">
                <a:solidFill>
                  <a:srgbClr val="5C4A00"/>
                </a:solidFill>
              </a:rPr>
              <a:t>Test = Map + Claims + Feeds</a:t>
            </a:r>
            <a:endParaRPr lang="en-US" sz="1400" dirty="0"/>
          </a:p>
        </p:txBody>
      </p:sp>
      <p:sp>
        <p:nvSpPr>
          <p:cNvPr id="29" name="Text 23"/>
          <p:cNvSpPr/>
          <p:nvPr/>
        </p:nvSpPr>
        <p:spPr>
          <a:xfrm>
            <a:off x="5486400" y="3904488"/>
            <a:ext cx="3383280" cy="822960"/>
          </a:xfrm>
          <a:prstGeom prst="rect">
            <a:avLst/>
          </a:prstGeom>
          <a:noFill/>
          <a:ln/>
        </p:spPr>
        <p:txBody>
          <a:bodyPr wrap="square" rtlCol="0" anchor="ctr"/>
          <a:lstStyle/>
          <a:p>
            <a:pPr indent="0" marL="0">
              <a:buNone/>
            </a:pPr>
            <a:r>
              <a:rPr lang="en-US" sz="1000" dirty="0">
                <a:solidFill>
                  <a:srgbClr val="F0E6FF"/>
                </a:solidFill>
              </a:rPr>
              <a:t>Your holy trinity of bug reports. Automate geo-dedup, concurrency in claims, and feed boundary edge cases first.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A0B2E"/>
        </a:solidFill>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7B2FBE">
              <a:alpha val="15000"/>
            </a:srgbClr>
          </a:solidFill>
          <a:ln/>
        </p:spPr>
      </p:sp>
      <p:sp>
        <p:nvSpPr>
          <p:cNvPr id="3" name="Shape 1"/>
          <p:cNvSpPr/>
          <p:nvPr/>
        </p:nvSpPr>
        <p:spPr>
          <a:xfrm>
            <a:off x="6400800" y="2743200"/>
            <a:ext cx="4114800" cy="4114800"/>
          </a:xfrm>
          <a:prstGeom prst="ellipse">
            <a:avLst/>
          </a:prstGeom>
          <a:solidFill>
            <a:srgbClr val="06B6D4">
              <a:alpha val="12000"/>
            </a:srgbClr>
          </a:solidFill>
          <a:ln/>
        </p:spPr>
      </p:sp>
      <p:sp>
        <p:nvSpPr>
          <p:cNvPr id="4" name="Shape 2"/>
          <p:cNvSpPr/>
          <p:nvPr/>
        </p:nvSpPr>
        <p:spPr>
          <a:xfrm>
            <a:off x="3749040" y="365760"/>
            <a:ext cx="1645920" cy="1645920"/>
          </a:xfrm>
          <a:prstGeom prst="ellipse">
            <a:avLst/>
          </a:prstGeom>
          <a:solidFill>
            <a:srgbClr val="7B2FBE"/>
          </a:solidFill>
          <a:ln/>
        </p:spPr>
      </p:sp>
      <p:pic>
        <p:nvPicPr>
          <p:cNvPr id="5" name="Image 0" descr="preencoded.png">    </p:cNvPr>
          <p:cNvPicPr>
            <a:picLocks noChangeAspect="1"/>
          </p:cNvPicPr>
          <p:nvPr/>
        </p:nvPicPr>
        <p:blipFill>
          <a:blip r:embed="rId1"/>
          <a:stretch>
            <a:fillRect/>
          </a:stretch>
        </p:blipFill>
        <p:spPr>
          <a:xfrm>
            <a:off x="4160520" y="548640"/>
            <a:ext cx="457200" cy="594360"/>
          </a:xfrm>
          <a:prstGeom prst="rect">
            <a:avLst/>
          </a:prstGeom>
        </p:spPr>
      </p:pic>
      <p:pic>
        <p:nvPicPr>
          <p:cNvPr id="6" name="Image 1" descr="preencoded.png">    </p:cNvPr>
          <p:cNvPicPr>
            <a:picLocks noChangeAspect="1"/>
          </p:cNvPicPr>
          <p:nvPr/>
        </p:nvPicPr>
        <p:blipFill>
          <a:blip r:embed="rId2"/>
          <a:stretch>
            <a:fillRect/>
          </a:stretch>
        </p:blipFill>
        <p:spPr>
          <a:xfrm>
            <a:off x="4480560" y="777240"/>
            <a:ext cx="457200" cy="457200"/>
          </a:xfrm>
          <a:prstGeom prst="rect">
            <a:avLst/>
          </a:prstGeom>
        </p:spPr>
      </p:pic>
      <p:sp>
        <p:nvSpPr>
          <p:cNvPr id="7" name="Text 3"/>
          <p:cNvSpPr/>
          <p:nvPr/>
        </p:nvSpPr>
        <p:spPr>
          <a:xfrm>
            <a:off x="457200" y="2103120"/>
            <a:ext cx="8229600" cy="822960"/>
          </a:xfrm>
          <a:prstGeom prst="rect">
            <a:avLst/>
          </a:prstGeom>
          <a:noFill/>
          <a:ln/>
        </p:spPr>
        <p:txBody>
          <a:bodyPr wrap="square" rtlCol="0" anchor="ctr"/>
          <a:lstStyle/>
          <a:p>
            <a:pPr algn="ctr" indent="0" marL="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8" name="Text 4"/>
          <p:cNvSpPr/>
          <p:nvPr/>
        </p:nvSpPr>
        <p:spPr>
          <a:xfrm>
            <a:off x="457200" y="2926080"/>
            <a:ext cx="8229600" cy="457200"/>
          </a:xfrm>
          <a:prstGeom prst="rect">
            <a:avLst/>
          </a:prstGeom>
          <a:noFill/>
          <a:ln/>
        </p:spPr>
        <p:txBody>
          <a:bodyPr wrap="square" rtlCol="0" anchor="ctr"/>
          <a:lstStyle/>
          <a:p>
            <a:pPr algn="ctr" indent="0" marL="0">
              <a:buNone/>
            </a:pPr>
            <a:r>
              <a:rPr lang="en-US" sz="2000" dirty="0">
                <a:solidFill>
                  <a:srgbClr val="C77DFF"/>
                </a:solidFill>
                <a:latin typeface="Calibri" pitchFamily="34" charset="0"/>
                <a:ea typeface="Calibri" pitchFamily="34" charset="-122"/>
                <a:cs typeface="Calibri" pitchFamily="34" charset="-120"/>
              </a:rPr>
              <a:t>Questions &amp; Discussion</a:t>
            </a:r>
            <a:endParaRPr lang="en-US" sz="2000" dirty="0"/>
          </a:p>
        </p:txBody>
      </p:sp>
      <p:sp>
        <p:nvSpPr>
          <p:cNvPr id="9" name="Text 5"/>
          <p:cNvSpPr/>
          <p:nvPr/>
        </p:nvSpPr>
        <p:spPr>
          <a:xfrm>
            <a:off x="1371600" y="3566160"/>
            <a:ext cx="6400800" cy="320040"/>
          </a:xfrm>
          <a:prstGeom prst="rect">
            <a:avLst/>
          </a:prstGeom>
          <a:noFill/>
          <a:ln/>
        </p:spPr>
        <p:txBody>
          <a:bodyPr wrap="square" rtlCol="0" anchor="ctr"/>
          <a:lstStyle/>
          <a:p>
            <a:pPr algn="ctr" indent="0" marL="0">
              <a:buNone/>
            </a:pPr>
            <a:r>
              <a:rPr lang="en-US" sz="1200" b="1" dirty="0">
                <a:solidFill>
                  <a:srgbClr val="F59E0B"/>
                </a:solidFill>
              </a:rPr>
              <a:t>Suggested Discussion Topics:</a:t>
            </a:r>
            <a:endParaRPr lang="en-US" sz="1200" dirty="0"/>
          </a:p>
        </p:txBody>
      </p:sp>
      <p:sp>
        <p:nvSpPr>
          <p:cNvPr id="10" name="Text 6"/>
          <p:cNvSpPr/>
          <p:nvPr/>
        </p:nvSpPr>
        <p:spPr>
          <a:xfrm>
            <a:off x="1371600" y="3931920"/>
            <a:ext cx="6400800" cy="914400"/>
          </a:xfrm>
          <a:prstGeom prst="rect">
            <a:avLst/>
          </a:prstGeom>
          <a:noFill/>
          <a:ln/>
        </p:spPr>
        <p:txBody>
          <a:bodyPr wrap="square" rtlCol="0" anchor="ctr"/>
          <a:lstStyle/>
          <a:p>
            <a:pPr algn="ctr" marL="342900" indent="-342900">
              <a:spcAft>
                <a:spcPts val="400"/>
              </a:spcAft>
              <a:buSzPct val="100000"/>
              <a:buChar char="•"/>
            </a:pPr>
            <a:r>
              <a:rPr lang="en-US" sz="1100" dirty="0">
                <a:solidFill>
                  <a:srgbClr val="F0E6FF"/>
                </a:solidFill>
              </a:rPr>
              <a:t>Territory Expansion Algorithm — how do we draw the polygon boundary?</a:t>
            </a:r>
            <a:endParaRPr lang="en-US" sz="1100" dirty="0"/>
          </a:p>
          <a:p>
            <a:pPr algn="ctr" marL="342900" indent="-342900">
              <a:spcAft>
                <a:spcPts val="400"/>
              </a:spcAft>
              <a:buSzPct val="100000"/>
              <a:buChar char="•"/>
            </a:pPr>
            <a:r>
              <a:rPr lang="en-US" sz="1100" dirty="0">
                <a:solidFill>
                  <a:srgbClr val="F0E6FF"/>
                </a:solidFill>
              </a:rPr>
              <a:t>Database indexing strategy for geo-queries at scale</a:t>
            </a:r>
            <a:endParaRPr lang="en-US" sz="1100" dirty="0"/>
          </a:p>
          <a:p>
            <a:pPr algn="ctr" marL="342900" indent="-342900">
              <a:spcAft>
                <a:spcPts val="400"/>
              </a:spcAft>
              <a:buSzPct val="100000"/>
              <a:buChar char="•"/>
            </a:pPr>
            <a:r>
              <a:rPr lang="en-US" sz="1100" dirty="0">
                <a:solidFill>
                  <a:srgbClr val="F0E6FF"/>
                </a:solidFill>
              </a:rPr>
              <a:t>Concurrency handling for simultaneous Claim requests</a:t>
            </a:r>
            <a:endParaRPr lang="en-US" sz="1100" dirty="0"/>
          </a:p>
        </p:txBody>
      </p:sp>
      <p:sp>
        <p:nvSpPr>
          <p:cNvPr id="11" name="Shape 7"/>
          <p:cNvSpPr/>
          <p:nvPr/>
        </p:nvSpPr>
        <p:spPr>
          <a:xfrm>
            <a:off x="3200400" y="4800600"/>
            <a:ext cx="2743200" cy="54864"/>
          </a:xfrm>
          <a:prstGeom prst="rect">
            <a:avLst/>
          </a:prstGeom>
          <a:solidFill>
            <a:srgbClr val="C77DFF"/>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Orbis Social App — Product KT Presentation</dc:title>
  <dc:subject>PptxGenJS Presentation</dc:subject>
  <dc:creator>Senior Product Manager</dc:creator>
  <cp:lastModifiedBy>Senior Product Manager</cp:lastModifiedBy>
  <cp:revision>1</cp:revision>
  <dcterms:created xsi:type="dcterms:W3CDTF">2026-05-04T13:02:32Z</dcterms:created>
  <dcterms:modified xsi:type="dcterms:W3CDTF">2026-05-04T13:02:32Z</dcterms:modified>
</cp:coreProperties>
</file>